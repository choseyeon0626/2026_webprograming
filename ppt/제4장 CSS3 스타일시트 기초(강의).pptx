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77"/>
  </p:notesMasterIdLst>
  <p:handoutMasterIdLst>
    <p:handoutMasterId r:id="rId78"/>
  </p:handoutMasterIdLst>
  <p:sldIdLst>
    <p:sldId id="429" r:id="rId2"/>
    <p:sldId id="430" r:id="rId3"/>
    <p:sldId id="375" r:id="rId4"/>
    <p:sldId id="376" r:id="rId5"/>
    <p:sldId id="377" r:id="rId6"/>
    <p:sldId id="431" r:id="rId7"/>
    <p:sldId id="378" r:id="rId8"/>
    <p:sldId id="379" r:id="rId9"/>
    <p:sldId id="380" r:id="rId10"/>
    <p:sldId id="381" r:id="rId11"/>
    <p:sldId id="382" r:id="rId12"/>
    <p:sldId id="433" r:id="rId13"/>
    <p:sldId id="434" r:id="rId14"/>
    <p:sldId id="383" r:id="rId15"/>
    <p:sldId id="384" r:id="rId16"/>
    <p:sldId id="435" r:id="rId17"/>
    <p:sldId id="385" r:id="rId18"/>
    <p:sldId id="386" r:id="rId19"/>
    <p:sldId id="387" r:id="rId20"/>
    <p:sldId id="388" r:id="rId21"/>
    <p:sldId id="389" r:id="rId22"/>
    <p:sldId id="390" r:id="rId23"/>
    <p:sldId id="392" r:id="rId24"/>
    <p:sldId id="391" r:id="rId25"/>
    <p:sldId id="393" r:id="rId26"/>
    <p:sldId id="394" r:id="rId27"/>
    <p:sldId id="395" r:id="rId28"/>
    <p:sldId id="397" r:id="rId29"/>
    <p:sldId id="436" r:id="rId30"/>
    <p:sldId id="437" r:id="rId31"/>
    <p:sldId id="438" r:id="rId32"/>
    <p:sldId id="440" r:id="rId33"/>
    <p:sldId id="439" r:id="rId34"/>
    <p:sldId id="398" r:id="rId35"/>
    <p:sldId id="401" r:id="rId36"/>
    <p:sldId id="399" r:id="rId37"/>
    <p:sldId id="400" r:id="rId38"/>
    <p:sldId id="402" r:id="rId39"/>
    <p:sldId id="403" r:id="rId40"/>
    <p:sldId id="441" r:id="rId41"/>
    <p:sldId id="442" r:id="rId42"/>
    <p:sldId id="406" r:id="rId43"/>
    <p:sldId id="443" r:id="rId44"/>
    <p:sldId id="444" r:id="rId45"/>
    <p:sldId id="445" r:id="rId46"/>
    <p:sldId id="407" r:id="rId47"/>
    <p:sldId id="408" r:id="rId48"/>
    <p:sldId id="409" r:id="rId49"/>
    <p:sldId id="410" r:id="rId50"/>
    <p:sldId id="446" r:id="rId51"/>
    <p:sldId id="411" r:id="rId52"/>
    <p:sldId id="447" r:id="rId53"/>
    <p:sldId id="413" r:id="rId54"/>
    <p:sldId id="414" r:id="rId55"/>
    <p:sldId id="448" r:id="rId56"/>
    <p:sldId id="415" r:id="rId57"/>
    <p:sldId id="449" r:id="rId58"/>
    <p:sldId id="450" r:id="rId59"/>
    <p:sldId id="451" r:id="rId60"/>
    <p:sldId id="418" r:id="rId61"/>
    <p:sldId id="419" r:id="rId62"/>
    <p:sldId id="420" r:id="rId63"/>
    <p:sldId id="452" r:id="rId64"/>
    <p:sldId id="421" r:id="rId65"/>
    <p:sldId id="422" r:id="rId66"/>
    <p:sldId id="423" r:id="rId67"/>
    <p:sldId id="424" r:id="rId68"/>
    <p:sldId id="425" r:id="rId69"/>
    <p:sldId id="426" r:id="rId70"/>
    <p:sldId id="427" r:id="rId71"/>
    <p:sldId id="453" r:id="rId72"/>
    <p:sldId id="454" r:id="rId73"/>
    <p:sldId id="455" r:id="rId74"/>
    <p:sldId id="456" r:id="rId75"/>
    <p:sldId id="325" r:id="rId76"/>
  </p:sldIdLst>
  <p:sldSz cx="9144000" cy="6858000" type="screen4x3"/>
  <p:notesSz cx="6934200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CCFFCC"/>
    <a:srgbClr val="6699FF"/>
    <a:srgbClr val="FF9999"/>
    <a:srgbClr val="FFFFFF"/>
    <a:srgbClr val="CCCCFF"/>
    <a:srgbClr val="009E00"/>
    <a:srgbClr val="FF9933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05" autoAdjust="0"/>
    <p:restoredTop sz="93514" autoAdjust="0"/>
  </p:normalViewPr>
  <p:slideViewPr>
    <p:cSldViewPr snapToGrid="0">
      <p:cViewPr varScale="1">
        <p:scale>
          <a:sx n="96" d="100"/>
          <a:sy n="96" d="100"/>
        </p:scale>
        <p:origin x="155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064"/>
    </p:cViewPr>
  </p:sorterViewPr>
  <p:notesViewPr>
    <p:cSldViewPr snapToGrid="0">
      <p:cViewPr varScale="1">
        <p:scale>
          <a:sx n="91" d="100"/>
          <a:sy n="91" d="100"/>
        </p:scale>
        <p:origin x="-3780" y="-108"/>
      </p:cViewPr>
      <p:guideLst>
        <p:guide orient="horz" pos="2904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fld id="{176FFADF-79CB-4D72-852F-AAC670A3D03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1819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fld id="{949F3908-8432-46C2-9A97-2AAB410800A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33862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b="1" cap="all" baseline="0">
                <a:solidFill>
                  <a:schemeClr val="tx2">
                    <a:lumMod val="25000"/>
                  </a:schemeClr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42C4BC2-EF32-AE65-EDA0-0FA121A7CE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544" y="452984"/>
            <a:ext cx="4175418" cy="297601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FF0CF47-BE81-9450-92AE-BCC7A5BDED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365" y="30156"/>
            <a:ext cx="2325757" cy="197409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E516112-FA34-C76E-15A3-E7B7756D78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401" y="2322720"/>
            <a:ext cx="991299" cy="99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11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1/16/2023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0CEC61B-8E5B-428C-BF4B-91CC7F06BD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 marL="320040" indent="-320040">
              <a:buSzPct val="80000"/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03953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97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9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20188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EB8132-3E69-42D4-86FC-16113E9DD667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8421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71E074-CA2B-4440-94E7-E49724C4F161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193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82023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54751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7123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1846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B783F5-1337-907B-CE53-D5FF068F2559}"/>
              </a:ext>
            </a:extLst>
          </p:cNvPr>
          <p:cNvSpPr/>
          <p:nvPr userDrawn="1"/>
        </p:nvSpPr>
        <p:spPr>
          <a:xfrm>
            <a:off x="2" y="1282709"/>
            <a:ext cx="8248648" cy="229197"/>
          </a:xfrm>
          <a:prstGeom prst="rect">
            <a:avLst/>
          </a:prstGeom>
          <a:solidFill>
            <a:srgbClr val="F68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346575-342A-FD30-F505-359612935967}"/>
              </a:ext>
            </a:extLst>
          </p:cNvPr>
          <p:cNvSpPr/>
          <p:nvPr userDrawn="1"/>
        </p:nvSpPr>
        <p:spPr>
          <a:xfrm>
            <a:off x="7372350" y="1281596"/>
            <a:ext cx="1776412" cy="230310"/>
          </a:xfrm>
          <a:prstGeom prst="rect">
            <a:avLst/>
          </a:prstGeom>
          <a:solidFill>
            <a:srgbClr val="C5A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6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90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1093C6-4258-0BF3-B571-36B1D2E792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</a:t>
            </a:r>
            <a:r>
              <a:rPr lang="ko-KR" altLang="en-US" dirty="0"/>
              <a:t>장 </a:t>
            </a:r>
            <a:r>
              <a:rPr lang="en-US" altLang="ko-KR" dirty="0"/>
              <a:t>CSS3 </a:t>
            </a:r>
            <a:r>
              <a:rPr lang="ko-KR" altLang="en-US" dirty="0"/>
              <a:t>스타일 시트 기초</a:t>
            </a:r>
          </a:p>
        </p:txBody>
      </p:sp>
    </p:spTree>
    <p:extLst>
      <p:ext uri="{BB962C8B-B14F-4D97-AF65-F5344CB8AC3E}">
        <p14:creationId xmlns:p14="http://schemas.microsoft.com/office/powerpoint/2010/main" val="788987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9ACF6-97B4-C244-0E02-B7335FE9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장의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6A3C7D-C992-3989-0BD2-A0167E380EC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en-US" altLang="ko-KR" dirty="0"/>
              <a:t>CSS</a:t>
            </a:r>
            <a:r>
              <a:rPr lang="ko-KR" altLang="en-US" dirty="0"/>
              <a:t>의 관계를 설명할 수 있나요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CSS</a:t>
            </a:r>
            <a:r>
              <a:rPr lang="ko-KR" altLang="en-US" dirty="0"/>
              <a:t>의 선택자를 사용하여 원하는 요소를 지정할 수 있나요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CSS</a:t>
            </a:r>
            <a:r>
              <a:rPr lang="ko-KR" altLang="en-US" dirty="0"/>
              <a:t>를 이용하여 색상</a:t>
            </a:r>
            <a:r>
              <a:rPr lang="en-US" altLang="ko-KR" dirty="0"/>
              <a:t>, </a:t>
            </a:r>
            <a:r>
              <a:rPr lang="ko-KR" altLang="en-US" dirty="0"/>
              <a:t>폰트들을 변경할 수 있나요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CSS</a:t>
            </a:r>
            <a:r>
              <a:rPr lang="ko-KR" altLang="en-US" dirty="0"/>
              <a:t>를 외부 파일에 저장하여 여러 웹 페이지에서 공유할 수 있나요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중요한 </a:t>
            </a:r>
            <a:r>
              <a:rPr lang="en-US" altLang="ko-KR" dirty="0"/>
              <a:t>CSS </a:t>
            </a:r>
            <a:r>
              <a:rPr lang="ko-KR" altLang="en-US" dirty="0"/>
              <a:t>속성 이름을 몇 가지 말할 수 있나요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03C297-74FD-BEE1-EE68-A38419D77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734" y="4046899"/>
            <a:ext cx="2192891" cy="176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CSS</a:t>
            </a:r>
            <a:r>
              <a:rPr lang="ko-KR" altLang="en-US" dirty="0"/>
              <a:t>의 개념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문서의 구조</a:t>
            </a:r>
            <a:r>
              <a:rPr lang="en-US" altLang="ko-KR" dirty="0"/>
              <a:t>-&gt; HTML</a:t>
            </a:r>
          </a:p>
          <a:p>
            <a:r>
              <a:rPr lang="ko-KR" altLang="en-US" dirty="0"/>
              <a:t>문서의</a:t>
            </a:r>
            <a:r>
              <a:rPr lang="en-US" altLang="ko-KR" dirty="0"/>
              <a:t> </a:t>
            </a:r>
            <a:r>
              <a:rPr lang="ko-KR" altLang="en-US" dirty="0"/>
              <a:t>스타일 </a:t>
            </a:r>
            <a:r>
              <a:rPr lang="en-US" altLang="ko-KR" dirty="0"/>
              <a:t>-&gt; ?</a:t>
            </a:r>
          </a:p>
          <a:p>
            <a:r>
              <a:rPr lang="ko-KR" altLang="en-US" dirty="0"/>
              <a:t>문서의 내용</a:t>
            </a:r>
            <a:r>
              <a:rPr lang="en-US" altLang="ko-KR" dirty="0"/>
              <a:t>(</a:t>
            </a:r>
            <a:r>
              <a:rPr lang="ko-KR" altLang="en-US" dirty="0"/>
              <a:t>콘텐츠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HTML</a:t>
            </a:r>
            <a:r>
              <a:rPr lang="ko-KR" altLang="en-US" dirty="0"/>
              <a:t>로 정의할 수 있었지만</a:t>
            </a:r>
            <a:r>
              <a:rPr lang="en-US" altLang="ko-KR" dirty="0"/>
              <a:t>, </a:t>
            </a:r>
            <a:r>
              <a:rPr lang="ko-KR" altLang="en-US" dirty="0"/>
              <a:t>문서가 화면에 표시되는 스타일은 지정할 수 없었다</a:t>
            </a:r>
            <a:endParaRPr lang="en-US" altLang="ko-KR" dirty="0"/>
          </a:p>
          <a:p>
            <a:r>
              <a:rPr lang="en-US" altLang="ko-KR" dirty="0"/>
              <a:t>CSS</a:t>
            </a:r>
            <a:r>
              <a:rPr lang="ko-KR" altLang="en-US" dirty="0"/>
              <a:t>를 이용하여 문서의 스타일을 지정한다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제목이나 본문의 글자 크기</a:t>
            </a:r>
            <a:r>
              <a:rPr lang="en-US" altLang="ko-KR" dirty="0"/>
              <a:t>, </a:t>
            </a:r>
            <a:r>
              <a:rPr lang="ko-KR" altLang="en-US" dirty="0"/>
              <a:t>폰트의 종류</a:t>
            </a:r>
            <a:r>
              <a:rPr lang="en-US" altLang="ko-KR" dirty="0"/>
              <a:t>, </a:t>
            </a:r>
            <a:r>
              <a:rPr lang="ko-KR" altLang="en-US" dirty="0"/>
              <a:t>배경색 등을 결정한다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807F61-67A2-303C-074F-36386DC8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131" y="3862367"/>
            <a:ext cx="4681301" cy="252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3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CSS</a:t>
            </a:r>
            <a:r>
              <a:rPr lang="ko-KR" altLang="en-US" dirty="0"/>
              <a:t>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만약 </a:t>
            </a:r>
            <a:r>
              <a:rPr lang="en-US" altLang="ko-KR" dirty="0" err="1"/>
              <a:t>CSS</a:t>
            </a:r>
            <a:r>
              <a:rPr lang="ko-KR" altLang="en-US" dirty="0"/>
              <a:t>가 없다면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F6F128-BB3A-5E24-BDDB-59D1B045F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76" y="2118302"/>
            <a:ext cx="7948943" cy="262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9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스타일 시트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요소들을 어떻게 화면에 표시할 것인지를 정의하는 시트가 바로 </a:t>
            </a:r>
            <a:r>
              <a:rPr lang="en-US" altLang="ko-KR" dirty="0"/>
              <a:t>CSS(Cascading Style Sheets)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5" y="2466787"/>
            <a:ext cx="7454890" cy="379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590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3B967-FDB0-3899-99AE-1B69F9D9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897D32-D8CA-3B1B-E504-A95C0B725D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같은 요소들을 가진 웹 페이지라고 할지라도 </a:t>
            </a:r>
            <a:r>
              <a:rPr lang="en-US" altLang="ko-KR" dirty="0"/>
              <a:t>CSS</a:t>
            </a:r>
            <a:r>
              <a:rPr lang="ko-KR" altLang="en-US" dirty="0"/>
              <a:t>가 달라지면 아주 달라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BCC2D5-1A79-AE43-CA04-7DBF11BB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027" y="2784906"/>
            <a:ext cx="6255945" cy="28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9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CSS3</a:t>
            </a:r>
            <a:r>
              <a:rPr lang="ko-KR" altLang="en-US" dirty="0"/>
              <a:t>의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ko-KR" altLang="en-US" dirty="0" err="1"/>
              <a:t>선택자</a:t>
            </a:r>
            <a:r>
              <a:rPr lang="en-US" altLang="ko-KR" dirty="0"/>
              <a:t>(selectors)	</a:t>
            </a:r>
          </a:p>
          <a:p>
            <a:pPr lvl="0"/>
            <a:r>
              <a:rPr lang="ko-KR" altLang="en-US" dirty="0"/>
              <a:t>박스 모델</a:t>
            </a:r>
            <a:r>
              <a:rPr lang="en-US" altLang="ko-KR" dirty="0"/>
              <a:t>(Box Model)</a:t>
            </a:r>
          </a:p>
          <a:p>
            <a:pPr lvl="0"/>
            <a:r>
              <a:rPr lang="ko-KR" altLang="en-US" dirty="0"/>
              <a:t>배경 및 경계선</a:t>
            </a:r>
            <a:r>
              <a:rPr lang="en-US" altLang="ko-KR" dirty="0"/>
              <a:t>(Backgrounds and Borders)</a:t>
            </a:r>
          </a:p>
          <a:p>
            <a:pPr lvl="0"/>
            <a:r>
              <a:rPr lang="ko-KR" altLang="en-US" dirty="0"/>
              <a:t>텍스트 효과</a:t>
            </a:r>
            <a:r>
              <a:rPr lang="en-US" altLang="ko-KR" dirty="0"/>
              <a:t>(Text Effects)</a:t>
            </a:r>
          </a:p>
          <a:p>
            <a:pPr lvl="0"/>
            <a:r>
              <a:rPr lang="en-US" altLang="ko-KR" dirty="0"/>
              <a:t>2</a:t>
            </a:r>
            <a:r>
              <a:rPr lang="ko-KR" altLang="en-US" dirty="0"/>
              <a:t>차원 및 </a:t>
            </a:r>
            <a:r>
              <a:rPr lang="en-US" altLang="ko-KR" dirty="0"/>
              <a:t>3</a:t>
            </a:r>
            <a:r>
              <a:rPr lang="ko-KR" altLang="en-US" dirty="0"/>
              <a:t>차원 변환</a:t>
            </a:r>
            <a:r>
              <a:rPr lang="en-US" altLang="ko-KR" dirty="0"/>
              <a:t>(</a:t>
            </a:r>
            <a:r>
              <a:rPr lang="en-US" altLang="ko-KR" dirty="0" err="1"/>
              <a:t>2D</a:t>
            </a:r>
            <a:r>
              <a:rPr lang="en-US" altLang="ko-KR" dirty="0"/>
              <a:t>/3D Transformations)</a:t>
            </a:r>
          </a:p>
          <a:p>
            <a:pPr lvl="0"/>
            <a:r>
              <a:rPr lang="ko-KR" altLang="en-US" dirty="0"/>
              <a:t>애니메이션</a:t>
            </a:r>
            <a:r>
              <a:rPr lang="en-US" altLang="ko-KR" dirty="0"/>
              <a:t>(Animations)</a:t>
            </a:r>
          </a:p>
          <a:p>
            <a:pPr lvl="0"/>
            <a:r>
              <a:rPr lang="ko-KR" altLang="en-US" dirty="0"/>
              <a:t>다중 </a:t>
            </a:r>
            <a:r>
              <a:rPr lang="ko-KR" altLang="en-US" dirty="0" err="1"/>
              <a:t>컬럼</a:t>
            </a:r>
            <a:r>
              <a:rPr lang="ko-KR" altLang="en-US" dirty="0"/>
              <a:t> 레이아웃</a:t>
            </a:r>
            <a:r>
              <a:rPr lang="en-US" altLang="ko-KR" dirty="0"/>
              <a:t>(Multiple Column Layout)</a:t>
            </a:r>
          </a:p>
          <a:p>
            <a:pPr lvl="0"/>
            <a:r>
              <a:rPr lang="ko-KR" altLang="en-US" dirty="0"/>
              <a:t>사용자 인터페이스</a:t>
            </a:r>
            <a:r>
              <a:rPr lang="en-US" altLang="ko-KR" dirty="0"/>
              <a:t>(User Interface)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9303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CSS</a:t>
            </a:r>
            <a:r>
              <a:rPr lang="ko-KR" altLang="en-US" dirty="0"/>
              <a:t>의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거대하고 복잡한 사이트를 관리할 때에 필요</a:t>
            </a:r>
            <a:endParaRPr lang="en-US" altLang="ko-KR" dirty="0"/>
          </a:p>
          <a:p>
            <a:r>
              <a:rPr lang="ko-KR" altLang="en-US" dirty="0"/>
              <a:t>모든 페이지들이 동일한 </a:t>
            </a:r>
            <a:r>
              <a:rPr lang="en-US" altLang="ko-KR" dirty="0" err="1"/>
              <a:t>CSS</a:t>
            </a:r>
            <a:r>
              <a:rPr lang="ko-KR" altLang="en-US" dirty="0"/>
              <a:t>를 공유</a:t>
            </a:r>
            <a:endParaRPr lang="en-US" altLang="ko-KR" dirty="0"/>
          </a:p>
          <a:p>
            <a:r>
              <a:rPr lang="en-US" altLang="ko-KR" dirty="0" err="1"/>
              <a:t>CSS</a:t>
            </a:r>
            <a:r>
              <a:rPr lang="ko-KR" altLang="en-US" dirty="0"/>
              <a:t>에서 어떤 요소의 스타일을 변경하면 관련되는 전체 페이지의 내용이 한꺼번에 변경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17" y="2933700"/>
            <a:ext cx="7540058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903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CSS3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문법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선택자</a:t>
            </a:r>
            <a:r>
              <a:rPr lang="en-US" altLang="ko-KR" dirty="0"/>
              <a:t>(selector) { </a:t>
            </a:r>
            <a:r>
              <a:rPr lang="ko-KR" altLang="en-US" dirty="0"/>
              <a:t>속성</a:t>
            </a:r>
            <a:r>
              <a:rPr lang="en-US" altLang="ko-KR" dirty="0"/>
              <a:t>: </a:t>
            </a:r>
            <a:r>
              <a:rPr lang="ko-KR" altLang="en-US" dirty="0"/>
              <a:t>값</a:t>
            </a:r>
            <a:r>
              <a:rPr lang="en-US" altLang="ko-KR" dirty="0"/>
              <a:t>; }</a:t>
            </a:r>
          </a:p>
          <a:p>
            <a:r>
              <a:rPr lang="ko-KR" altLang="en-US" dirty="0"/>
              <a:t>끝에 반드시 </a:t>
            </a:r>
            <a:r>
              <a:rPr lang="en-US" altLang="ko-KR" dirty="0"/>
              <a:t>;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적어 준다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주석</a:t>
            </a:r>
            <a:r>
              <a:rPr lang="en-US" altLang="ko-KR" dirty="0"/>
              <a:t>: /* … */</a:t>
            </a:r>
          </a:p>
          <a:p>
            <a:endParaRPr lang="ko-KR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2738438"/>
            <a:ext cx="580072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941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4DE9B6-A6B0-7500-A5B9-AA337A13D92E}"/>
              </a:ext>
            </a:extLst>
          </p:cNvPr>
          <p:cNvSpPr txBox="1">
            <a:spLocks/>
          </p:cNvSpPr>
          <p:nvPr/>
        </p:nvSpPr>
        <p:spPr bwMode="auto">
          <a:xfrm>
            <a:off x="423551" y="1757362"/>
            <a:ext cx="8143875" cy="359232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&lt;title&gt;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My Web Page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yellow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This is a paragraph.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46B8F-100B-38E7-B982-D32D018E4317}"/>
              </a:ext>
            </a:extLst>
          </p:cNvPr>
          <p:cNvSpPr txBox="1"/>
          <p:nvPr/>
        </p:nvSpPr>
        <p:spPr>
          <a:xfrm>
            <a:off x="431579" y="1508314"/>
            <a:ext cx="1079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css1.html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CSS</a:t>
            </a:r>
            <a:r>
              <a:rPr lang="ko-KR" altLang="en-US" dirty="0"/>
              <a:t>의 위치</a:t>
            </a: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742950" y="2962275"/>
            <a:ext cx="4019550" cy="876300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D8DE75-2171-D910-E794-549E1875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10415416">
            <a:extLst>
              <a:ext uri="{FF2B5EF4-FFF2-40B4-BE49-F238E27FC236}">
                <a16:creationId xmlns:a16="http://schemas.microsoft.com/office/drawing/2014/main" id="{F08ADBDD-5FF8-2568-EDB2-011C16388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294" y="4685015"/>
            <a:ext cx="5048740" cy="153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57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FB81E-98E2-252A-09EB-A0224F2563BB}"/>
              </a:ext>
            </a:extLst>
          </p:cNvPr>
          <p:cNvSpPr txBox="1">
            <a:spLocks/>
          </p:cNvSpPr>
          <p:nvPr/>
        </p:nvSpPr>
        <p:spPr bwMode="auto">
          <a:xfrm>
            <a:off x="369230" y="1870562"/>
            <a:ext cx="8143875" cy="401419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&lt;title&gt;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My Web Page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yellow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border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2px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solid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This is a heading.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F6665-647C-E80C-F6F0-392656EF284B}"/>
              </a:ext>
            </a:extLst>
          </p:cNvPr>
          <p:cNvSpPr txBox="1"/>
          <p:nvPr/>
        </p:nvSpPr>
        <p:spPr>
          <a:xfrm>
            <a:off x="377258" y="1621513"/>
            <a:ext cx="1079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css2.html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1B17D32-E2B2-0E8F-AD17-2BE26B9B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402220272">
            <a:extLst>
              <a:ext uri="{FF2B5EF4-FFF2-40B4-BE49-F238E27FC236}">
                <a16:creationId xmlns:a16="http://schemas.microsoft.com/office/drawing/2014/main" id="{6ABEB5A4-5D13-85E1-0AAA-0AF5F619D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057" y="2967021"/>
            <a:ext cx="4956670" cy="164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16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247B1-D3BC-95CD-9249-857490AF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7B9B8-549D-AB37-AD8F-D22D9D4378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57175" indent="-257175">
              <a:buFont typeface="+mj-lt"/>
              <a:buAutoNum type="arabicPeriod"/>
            </a:pPr>
            <a:r>
              <a:rPr lang="en-US" altLang="ko-KR" dirty="0"/>
              <a:t>CSS</a:t>
            </a:r>
            <a:r>
              <a:rPr lang="ko-KR" altLang="en-US" dirty="0"/>
              <a:t>가 하는 역할은 무엇인가</a:t>
            </a:r>
            <a:r>
              <a:rPr lang="en-US" altLang="ko-KR" dirty="0"/>
              <a:t>?</a:t>
            </a:r>
          </a:p>
          <a:p>
            <a:pPr marL="257175" indent="-257175">
              <a:buFont typeface="+mj-lt"/>
              <a:buAutoNum type="arabicPeriod"/>
            </a:pPr>
            <a:r>
              <a:rPr lang="en-US" altLang="ko-KR" dirty="0"/>
              <a:t>HTML </a:t>
            </a:r>
            <a:r>
              <a:rPr lang="ko-KR" altLang="en-US" dirty="0"/>
              <a:t>파일에서 </a:t>
            </a:r>
            <a:r>
              <a:rPr lang="en-US" altLang="ko-KR" dirty="0"/>
              <a:t>CSS</a:t>
            </a:r>
            <a:r>
              <a:rPr lang="ko-KR" altLang="en-US" dirty="0"/>
              <a:t>는 어떤 태그 내부에 기술하여야 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32F7CE-7BA5-E377-6D70-5AAAF3D29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993" y="3507856"/>
            <a:ext cx="1168004" cy="123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510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BEB19-F9C6-B749-A189-DEACB35B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47877-51E7-FA69-E26D-CEC471C3463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선택자란 용어 그대로 </a:t>
            </a:r>
            <a:r>
              <a:rPr lang="en-US" altLang="ko-KR" dirty="0"/>
              <a:t>HTML </a:t>
            </a:r>
            <a:r>
              <a:rPr lang="ko-KR" altLang="en-US" dirty="0"/>
              <a:t>요소를 선택하는 부분이다</a:t>
            </a:r>
            <a:r>
              <a:rPr lang="en-US" altLang="ko-KR" dirty="0"/>
              <a:t>. </a:t>
            </a:r>
            <a:r>
              <a:rPr lang="ko-KR" altLang="en-US" dirty="0"/>
              <a:t>왜 선택자가 필요할까</a:t>
            </a:r>
            <a:r>
              <a:rPr lang="en-US" altLang="ko-KR" dirty="0"/>
              <a:t>? </a:t>
            </a:r>
            <a:r>
              <a:rPr lang="ko-KR" altLang="en-US" dirty="0"/>
              <a:t>스타일을 지정하려면 먼저 우리가 원하는 요소를 선택할 수 있어야 하기 때문이다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B6C10E-D673-2B84-1AFF-C701942C2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637" y="2939123"/>
            <a:ext cx="5554726" cy="295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72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선택자</a:t>
            </a:r>
            <a:r>
              <a:rPr lang="en-US" altLang="ko-KR" dirty="0"/>
              <a:t>(selector): HTML </a:t>
            </a:r>
            <a:r>
              <a:rPr lang="ko-KR" altLang="en-US" dirty="0"/>
              <a:t>요소를 선택하는 부분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선택자는</a:t>
            </a:r>
            <a:r>
              <a:rPr lang="ko-KR" altLang="en-US" dirty="0"/>
              <a:t> </a:t>
            </a:r>
            <a:r>
              <a:rPr lang="en-US" altLang="ko-KR" dirty="0"/>
              <a:t>jQuery</a:t>
            </a:r>
            <a:r>
              <a:rPr lang="ko-KR" altLang="en-US" dirty="0"/>
              <a:t>에서도 사용</a:t>
            </a:r>
            <a:endParaRPr lang="en-US" altLang="ko-KR" dirty="0"/>
          </a:p>
          <a:p>
            <a:r>
              <a:rPr lang="ko-KR" altLang="en-US" dirty="0"/>
              <a:t>가장 많이 사용되는 것은 </a:t>
            </a:r>
            <a:r>
              <a:rPr lang="en-US" altLang="ko-KR" dirty="0"/>
              <a:t>6</a:t>
            </a:r>
            <a:r>
              <a:rPr lang="ko-KR" altLang="en-US" dirty="0"/>
              <a:t>가지 정도</a:t>
            </a:r>
            <a:endParaRPr lang="en-US" altLang="ko-KR" dirty="0"/>
          </a:p>
          <a:p>
            <a:r>
              <a:rPr lang="ko-KR" altLang="en-US" dirty="0" err="1"/>
              <a:t>선택자에</a:t>
            </a:r>
            <a:r>
              <a:rPr lang="ko-KR" altLang="en-US" dirty="0"/>
              <a:t> 대한 </a:t>
            </a:r>
            <a:r>
              <a:rPr lang="en-US" altLang="ko-KR" dirty="0" err="1"/>
              <a:t>W3C</a:t>
            </a:r>
            <a:r>
              <a:rPr lang="ko-KR" altLang="en-US" dirty="0"/>
              <a:t>의 문서는 </a:t>
            </a:r>
            <a:r>
              <a:rPr lang="en-US" altLang="ko-KR" dirty="0"/>
              <a:t>http://</a:t>
            </a:r>
            <a:r>
              <a:rPr lang="en-US" altLang="ko-KR" dirty="0" err="1"/>
              <a:t>www.w3.org</a:t>
            </a:r>
            <a:r>
              <a:rPr lang="en-US" altLang="ko-KR" dirty="0"/>
              <a:t>/</a:t>
            </a:r>
            <a:r>
              <a:rPr lang="en-US" altLang="ko-KR" dirty="0" err="1"/>
              <a:t>TR</a:t>
            </a:r>
            <a:r>
              <a:rPr lang="en-US" altLang="ko-KR" dirty="0"/>
              <a:t>/</a:t>
            </a:r>
            <a:r>
              <a:rPr lang="en-US" altLang="ko-KR" dirty="0" err="1"/>
              <a:t>css3</a:t>
            </a:r>
            <a:r>
              <a:rPr lang="en-US" altLang="ko-KR" dirty="0"/>
              <a:t>-selectors/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88" y="1876425"/>
            <a:ext cx="458152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3571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선택자의</a:t>
            </a:r>
            <a:r>
              <a:rPr lang="en-US" altLang="ko-KR" dirty="0"/>
              <a:t> </a:t>
            </a:r>
            <a:r>
              <a:rPr lang="ko-KR" altLang="en-US" dirty="0"/>
              <a:t>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ko-KR" altLang="en-US" dirty="0"/>
              <a:t>타입 </a:t>
            </a:r>
            <a:r>
              <a:rPr lang="ko-KR" altLang="en-US" dirty="0" err="1"/>
              <a:t>선택자</a:t>
            </a:r>
            <a:r>
              <a:rPr lang="en-US" altLang="ko-KR" dirty="0"/>
              <a:t>(type selector)</a:t>
            </a:r>
          </a:p>
          <a:p>
            <a:pPr lvl="0"/>
            <a:r>
              <a:rPr lang="ko-KR" altLang="en-US" dirty="0"/>
              <a:t>전체 </a:t>
            </a:r>
            <a:r>
              <a:rPr lang="ko-KR" altLang="en-US" dirty="0" err="1"/>
              <a:t>선택자</a:t>
            </a:r>
            <a:r>
              <a:rPr lang="en-US" altLang="ko-KR" dirty="0"/>
              <a:t>(universal selector)</a:t>
            </a:r>
          </a:p>
          <a:p>
            <a:pPr lvl="0"/>
            <a:r>
              <a:rPr lang="ko-KR" altLang="en-US" dirty="0"/>
              <a:t>클래스 </a:t>
            </a:r>
            <a:r>
              <a:rPr lang="ko-KR" altLang="en-US" dirty="0" err="1"/>
              <a:t>선택자</a:t>
            </a:r>
            <a:r>
              <a:rPr lang="en-US" altLang="ko-KR" dirty="0"/>
              <a:t>(class selector)</a:t>
            </a:r>
          </a:p>
          <a:p>
            <a:pPr lvl="0"/>
            <a:r>
              <a:rPr lang="ko-KR" altLang="en-US" dirty="0"/>
              <a:t>아이디 </a:t>
            </a:r>
            <a:r>
              <a:rPr lang="ko-KR" altLang="en-US" dirty="0" err="1"/>
              <a:t>선택자</a:t>
            </a:r>
            <a:r>
              <a:rPr lang="en-US" altLang="ko-KR" dirty="0"/>
              <a:t>(ID selector)</a:t>
            </a:r>
          </a:p>
          <a:p>
            <a:pPr lvl="0"/>
            <a:r>
              <a:rPr lang="ko-KR" altLang="en-US" dirty="0"/>
              <a:t>속성 </a:t>
            </a:r>
            <a:r>
              <a:rPr lang="ko-KR" altLang="en-US" dirty="0" err="1"/>
              <a:t>선택자</a:t>
            </a:r>
            <a:r>
              <a:rPr lang="en-US" altLang="ko-KR" dirty="0"/>
              <a:t>(attribute selector)</a:t>
            </a:r>
          </a:p>
          <a:p>
            <a:pPr lvl="0"/>
            <a:r>
              <a:rPr lang="ko-KR" altLang="en-US" dirty="0"/>
              <a:t>의사 </a:t>
            </a:r>
            <a:r>
              <a:rPr lang="ko-KR" altLang="en-US" dirty="0" err="1"/>
              <a:t>선택자</a:t>
            </a:r>
            <a:r>
              <a:rPr lang="en-US" altLang="ko-KR" dirty="0"/>
              <a:t>(pseudo-class)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7449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7999D-28EB-4EBF-B791-D52CB493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선택자</a:t>
            </a:r>
            <a:r>
              <a:rPr lang="ko-KR" altLang="en-US" dirty="0"/>
              <a:t> 설명을 위한 웹페이지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865C8BB-F0E0-BA22-AB5C-DE1D0BC1789E}"/>
              </a:ext>
            </a:extLst>
          </p:cNvPr>
          <p:cNvSpPr txBox="1">
            <a:spLocks/>
          </p:cNvSpPr>
          <p:nvPr/>
        </p:nvSpPr>
        <p:spPr bwMode="auto">
          <a:xfrm>
            <a:off x="612648" y="1600199"/>
            <a:ext cx="8143875" cy="4248339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웹프로그래밍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HTML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"special"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CSS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JAVASCRIPT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"https://www.w3c.org"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참고 사이트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W3C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EEB43-C394-88D2-E6BF-4ED9861FF33E}"/>
              </a:ext>
            </a:extLst>
          </p:cNvPr>
          <p:cNvSpPr txBox="1"/>
          <p:nvPr/>
        </p:nvSpPr>
        <p:spPr>
          <a:xfrm>
            <a:off x="620676" y="1351151"/>
            <a:ext cx="1483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selectors.html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D1F77E5-D3EE-645B-65F4-24F04D00A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402219624">
            <a:extLst>
              <a:ext uri="{FF2B5EF4-FFF2-40B4-BE49-F238E27FC236}">
                <a16:creationId xmlns:a16="http://schemas.microsoft.com/office/drawing/2014/main" id="{B8D15A0B-419C-890F-C5E0-8B0DE4E1E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118" y="1791187"/>
            <a:ext cx="3838627" cy="232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273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타입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 dirty="0"/>
              <a:t>타입 </a:t>
            </a:r>
            <a:r>
              <a:rPr lang="ko-KR" altLang="en-US" b="1" dirty="0" err="1"/>
              <a:t>선택자</a:t>
            </a:r>
            <a:r>
              <a:rPr lang="en-US" altLang="ko-KR" b="1" dirty="0"/>
              <a:t>(type selector) : </a:t>
            </a:r>
            <a:r>
              <a:rPr lang="en-US" altLang="ko-KR" dirty="0"/>
              <a:t>HTML </a:t>
            </a:r>
            <a:r>
              <a:rPr lang="ko-KR" altLang="en-US" dirty="0"/>
              <a:t>요소 이름을 사용</a:t>
            </a:r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213126" y="2339459"/>
            <a:ext cx="28745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i="1" dirty="0">
                <a:latin typeface="Century Schoolbook" panose="02040604050505020304" pitchFamily="18" charset="0"/>
              </a:rPr>
              <a:t>h1  { color: red; }</a:t>
            </a:r>
          </a:p>
        </p:txBody>
      </p:sp>
      <p:sp>
        <p:nvSpPr>
          <p:cNvPr id="5" name="타원 4"/>
          <p:cNvSpPr/>
          <p:nvPr/>
        </p:nvSpPr>
        <p:spPr bwMode="auto">
          <a:xfrm>
            <a:off x="2124075" y="2238375"/>
            <a:ext cx="942975" cy="97155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67050" y="1970127"/>
            <a:ext cx="2903359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lvl="0" latinLnBrk="1"/>
            <a:r>
              <a:rPr lang="ko-KR" altLang="en-US" i="1" dirty="0">
                <a:solidFill>
                  <a:schemeClr val="tx2"/>
                </a:solidFill>
              </a:rPr>
              <a:t>모든  </a:t>
            </a:r>
            <a:r>
              <a:rPr lang="en-US" altLang="ko-KR" i="1" dirty="0" err="1">
                <a:solidFill>
                  <a:schemeClr val="tx2"/>
                </a:solidFill>
              </a:rPr>
              <a:t>h1</a:t>
            </a:r>
            <a:r>
              <a:rPr lang="en-US" altLang="ko-KR" i="1" dirty="0">
                <a:solidFill>
                  <a:schemeClr val="tx2"/>
                </a:solidFill>
              </a:rPr>
              <a:t> </a:t>
            </a:r>
            <a:r>
              <a:rPr lang="ko-KR" altLang="en-US" i="1" dirty="0">
                <a:solidFill>
                  <a:schemeClr val="tx2"/>
                </a:solidFill>
              </a:rPr>
              <a:t>요소를 선택한다</a:t>
            </a:r>
            <a:r>
              <a:rPr lang="en-US" altLang="ko-KR" i="1" dirty="0">
                <a:solidFill>
                  <a:schemeClr val="tx2"/>
                </a:solidFill>
              </a:rPr>
              <a:t>. </a:t>
            </a:r>
            <a:endParaRPr lang="ko-KR" altLang="en-US" i="1" dirty="0">
              <a:solidFill>
                <a:schemeClr val="tx2"/>
              </a:solidFill>
            </a:endParaRPr>
          </a:p>
        </p:txBody>
      </p:sp>
      <p:cxnSp>
        <p:nvCxnSpPr>
          <p:cNvPr id="8" name="직선 화살표 연결선 7"/>
          <p:cNvCxnSpPr/>
          <p:nvPr/>
        </p:nvCxnSpPr>
        <p:spPr bwMode="auto">
          <a:xfrm flipH="1">
            <a:off x="3008464" y="2154793"/>
            <a:ext cx="147637" cy="2857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70875D3-A464-E7C1-02EC-4F14A519002E}"/>
              </a:ext>
            </a:extLst>
          </p:cNvPr>
          <p:cNvSpPr txBox="1">
            <a:spLocks/>
          </p:cNvSpPr>
          <p:nvPr/>
        </p:nvSpPr>
        <p:spPr bwMode="auto">
          <a:xfrm>
            <a:off x="500062" y="3872212"/>
            <a:ext cx="8143875" cy="200348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웹프로그래밍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&lt;/h1&gt;…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B851322-CDCA-1998-FE1E-A3C606727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402219120">
            <a:extLst>
              <a:ext uri="{FF2B5EF4-FFF2-40B4-BE49-F238E27FC236}">
                <a16:creationId xmlns:a16="http://schemas.microsoft.com/office/drawing/2014/main" id="{9B35CBD9-9174-E91A-0E95-6D6112972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999" y="3309009"/>
            <a:ext cx="3647152" cy="2212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682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 dirty="0"/>
              <a:t>전체 </a:t>
            </a:r>
            <a:r>
              <a:rPr lang="ko-KR" altLang="en-US" b="1" dirty="0" err="1"/>
              <a:t>선택자</a:t>
            </a:r>
            <a:r>
              <a:rPr lang="en-US" altLang="ko-KR" b="1" dirty="0"/>
              <a:t>(universal selector): </a:t>
            </a:r>
            <a:r>
              <a:rPr lang="ko-KR" altLang="en-US" dirty="0"/>
              <a:t>페이지 안의 모든 요소를 선택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213126" y="2339459"/>
            <a:ext cx="29851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i="1" dirty="0">
                <a:latin typeface="Century Schoolbook" panose="02040604050505020304" pitchFamily="18" charset="0"/>
              </a:rPr>
              <a:t>*  { color: green; }</a:t>
            </a:r>
          </a:p>
        </p:txBody>
      </p:sp>
      <p:sp>
        <p:nvSpPr>
          <p:cNvPr id="5" name="타원 4"/>
          <p:cNvSpPr/>
          <p:nvPr/>
        </p:nvSpPr>
        <p:spPr bwMode="auto">
          <a:xfrm>
            <a:off x="2124075" y="2238375"/>
            <a:ext cx="733425" cy="8477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293136" y="1919585"/>
            <a:ext cx="2518638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lvl="0" latinLnBrk="1"/>
            <a:r>
              <a:rPr lang="ko-KR" altLang="en-US" i="1" dirty="0">
                <a:solidFill>
                  <a:schemeClr val="tx2"/>
                </a:solidFill>
              </a:rPr>
              <a:t>전체 요소를 선택한다</a:t>
            </a:r>
            <a:r>
              <a:rPr lang="en-US" altLang="ko-KR" i="1" dirty="0">
                <a:solidFill>
                  <a:schemeClr val="tx2"/>
                </a:solidFill>
              </a:rPr>
              <a:t>. </a:t>
            </a:r>
            <a:endParaRPr lang="ko-KR" altLang="en-US" i="1" dirty="0">
              <a:solidFill>
                <a:schemeClr val="tx2"/>
              </a:solidFill>
            </a:endParaRPr>
          </a:p>
        </p:txBody>
      </p:sp>
      <p:cxnSp>
        <p:nvCxnSpPr>
          <p:cNvPr id="8" name="직선 화살표 연결선 7"/>
          <p:cNvCxnSpPr/>
          <p:nvPr/>
        </p:nvCxnSpPr>
        <p:spPr bwMode="auto">
          <a:xfrm flipH="1">
            <a:off x="2803854" y="2104251"/>
            <a:ext cx="627409" cy="3209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2CE967C-3F6B-7E1D-1AD9-E91DF85C13E2}"/>
              </a:ext>
            </a:extLst>
          </p:cNvPr>
          <p:cNvSpPr txBox="1">
            <a:spLocks/>
          </p:cNvSpPr>
          <p:nvPr/>
        </p:nvSpPr>
        <p:spPr bwMode="auto">
          <a:xfrm>
            <a:off x="500062" y="3872212"/>
            <a:ext cx="8143875" cy="200348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*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blue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웹프로그래밍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&lt;/h1&gt;…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0EF2084-6A22-F66E-20A5-DC537B2C6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1" name="_x402218904">
            <a:extLst>
              <a:ext uri="{FF2B5EF4-FFF2-40B4-BE49-F238E27FC236}">
                <a16:creationId xmlns:a16="http://schemas.microsoft.com/office/drawing/2014/main" id="{034B7CBD-77E6-8E45-48FA-D714E894A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60" y="3570130"/>
            <a:ext cx="3527487" cy="213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1219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아이디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 dirty="0"/>
              <a:t>아이디 </a:t>
            </a:r>
            <a:r>
              <a:rPr lang="ko-KR" altLang="en-US" b="1" dirty="0" err="1"/>
              <a:t>선택자</a:t>
            </a:r>
            <a:r>
              <a:rPr lang="en-US" altLang="ko-KR" b="1" dirty="0"/>
              <a:t>(id selector):  </a:t>
            </a:r>
            <a:r>
              <a:rPr lang="ko-KR" altLang="en-US" dirty="0"/>
              <a:t>특정한 요소를 선택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213126" y="2339459"/>
            <a:ext cx="36423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i="1" dirty="0">
                <a:latin typeface="Century Schoolbook" panose="02040604050505020304" pitchFamily="18" charset="0"/>
              </a:rPr>
              <a:t>#target  { color: red; }</a:t>
            </a:r>
          </a:p>
        </p:txBody>
      </p:sp>
      <p:sp>
        <p:nvSpPr>
          <p:cNvPr id="5" name="타원 4"/>
          <p:cNvSpPr/>
          <p:nvPr/>
        </p:nvSpPr>
        <p:spPr bwMode="auto">
          <a:xfrm>
            <a:off x="2124075" y="2238375"/>
            <a:ext cx="733425" cy="8477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13226" y="3308866"/>
            <a:ext cx="3288080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latinLnBrk="1"/>
            <a:r>
              <a:rPr lang="en-US" altLang="ko-KR" i="1" dirty="0">
                <a:solidFill>
                  <a:schemeClr val="tx2"/>
                </a:solidFill>
              </a:rPr>
              <a:t>id</a:t>
            </a:r>
            <a:r>
              <a:rPr lang="ko-KR" altLang="en-US" i="1" dirty="0">
                <a:solidFill>
                  <a:schemeClr val="tx2"/>
                </a:solidFill>
              </a:rPr>
              <a:t>가 </a:t>
            </a:r>
            <a:r>
              <a:rPr lang="en-US" altLang="ko-KR" i="1" dirty="0">
                <a:solidFill>
                  <a:schemeClr val="tx2"/>
                </a:solidFill>
              </a:rPr>
              <a:t>target</a:t>
            </a:r>
            <a:r>
              <a:rPr lang="ko-KR" altLang="en-US" i="1" dirty="0">
                <a:solidFill>
                  <a:schemeClr val="tx2"/>
                </a:solidFill>
              </a:rPr>
              <a:t>인 요소를 선택한다</a:t>
            </a:r>
            <a:r>
              <a:rPr lang="en-US" altLang="ko-KR" i="1" dirty="0">
                <a:solidFill>
                  <a:schemeClr val="tx2"/>
                </a:solidFill>
              </a:rPr>
              <a:t>.</a:t>
            </a:r>
            <a:endParaRPr lang="ko-KR" altLang="en-US" i="1" dirty="0">
              <a:solidFill>
                <a:schemeClr val="tx2"/>
              </a:solidFill>
            </a:endParaRPr>
          </a:p>
        </p:txBody>
      </p:sp>
      <p:cxnSp>
        <p:nvCxnSpPr>
          <p:cNvPr id="8" name="직선 화살표 연결선 7"/>
          <p:cNvCxnSpPr>
            <a:endCxn id="5" idx="4"/>
          </p:cNvCxnSpPr>
          <p:nvPr/>
        </p:nvCxnSpPr>
        <p:spPr bwMode="auto">
          <a:xfrm flipH="1" flipV="1">
            <a:off x="2490788" y="3086100"/>
            <a:ext cx="700087" cy="1905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EC0B3E-EDBF-533D-F5C7-F77B5F107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893" y="4140147"/>
            <a:ext cx="7813488" cy="164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01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8C001F-A910-F769-3A4E-0436B087B0B7}"/>
              </a:ext>
            </a:extLst>
          </p:cNvPr>
          <p:cNvSpPr txBox="1">
            <a:spLocks/>
          </p:cNvSpPr>
          <p:nvPr/>
        </p:nvSpPr>
        <p:spPr bwMode="auto">
          <a:xfrm>
            <a:off x="612648" y="1752601"/>
            <a:ext cx="8143875" cy="452145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#special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yellow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웹프로그래밍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HTML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"special"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CSS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JAVASCRIPT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"https://www.w3c.org"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참고 사이트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W3C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A36D6-2CA7-87F8-F74C-478075B460B5}"/>
              </a:ext>
            </a:extLst>
          </p:cNvPr>
          <p:cNvSpPr txBox="1"/>
          <p:nvPr/>
        </p:nvSpPr>
        <p:spPr>
          <a:xfrm>
            <a:off x="620676" y="1503552"/>
            <a:ext cx="1135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>
                <a:solidFill>
                  <a:srgbClr val="0070C0"/>
                </a:solidFill>
                <a:latin typeface="Century Schoolbook" panose="02040604050505020304" pitchFamily="18" charset="0"/>
              </a:rPr>
              <a:t>body.html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742950" y="2457450"/>
            <a:ext cx="3314700" cy="1704975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49EB373-967D-3C61-F3F1-9A3637736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402220560">
            <a:extLst>
              <a:ext uri="{FF2B5EF4-FFF2-40B4-BE49-F238E27FC236}">
                <a16:creationId xmlns:a16="http://schemas.microsoft.com/office/drawing/2014/main" id="{B2F9DE6B-571C-7209-E6AC-D71856602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699" y="2262266"/>
            <a:ext cx="3512178" cy="213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413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 dirty="0"/>
              <a:t>클래스 </a:t>
            </a:r>
            <a:r>
              <a:rPr lang="ko-KR" altLang="en-US" b="1" dirty="0" err="1"/>
              <a:t>선택자</a:t>
            </a:r>
            <a:r>
              <a:rPr lang="en-US" altLang="ko-KR" b="1" dirty="0"/>
              <a:t>(class selector)</a:t>
            </a:r>
            <a:r>
              <a:rPr lang="ko-KR" altLang="en-US" dirty="0"/>
              <a:t>는 클래스가 부여된 요소를 선택한다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213126" y="2339459"/>
            <a:ext cx="34259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i="1" dirty="0">
                <a:latin typeface="Century Schoolbook" panose="02040604050505020304" pitchFamily="18" charset="0"/>
              </a:rPr>
              <a:t>.type1  { color: red; }</a:t>
            </a:r>
          </a:p>
        </p:txBody>
      </p:sp>
      <p:sp>
        <p:nvSpPr>
          <p:cNvPr id="5" name="타원 4"/>
          <p:cNvSpPr/>
          <p:nvPr/>
        </p:nvSpPr>
        <p:spPr bwMode="auto">
          <a:xfrm>
            <a:off x="2124075" y="2238375"/>
            <a:ext cx="733425" cy="8477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13226" y="3308866"/>
            <a:ext cx="2560316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latinLnBrk="1"/>
            <a:r>
              <a:rPr lang="ko-KR" altLang="en-US" i="1" dirty="0">
                <a:solidFill>
                  <a:schemeClr val="tx2"/>
                </a:solidFill>
              </a:rPr>
              <a:t>클래스가 </a:t>
            </a:r>
            <a:r>
              <a:rPr lang="en-US" altLang="ko-KR" i="1" dirty="0">
                <a:solidFill>
                  <a:schemeClr val="tx2"/>
                </a:solidFill>
              </a:rPr>
              <a:t>type1</a:t>
            </a:r>
            <a:r>
              <a:rPr lang="ko-KR" altLang="en-US" i="1" dirty="0">
                <a:solidFill>
                  <a:schemeClr val="tx2"/>
                </a:solidFill>
              </a:rPr>
              <a:t>인 요소를 선택한다</a:t>
            </a:r>
            <a:r>
              <a:rPr lang="en-US" altLang="ko-KR" i="1" dirty="0">
                <a:solidFill>
                  <a:schemeClr val="tx2"/>
                </a:solidFill>
              </a:rPr>
              <a:t>.</a:t>
            </a:r>
            <a:endParaRPr lang="ko-KR" altLang="en-US" i="1" dirty="0">
              <a:solidFill>
                <a:schemeClr val="tx2"/>
              </a:solidFill>
            </a:endParaRPr>
          </a:p>
        </p:txBody>
      </p:sp>
      <p:cxnSp>
        <p:nvCxnSpPr>
          <p:cNvPr id="7" name="직선 화살표 연결선 6"/>
          <p:cNvCxnSpPr>
            <a:endCxn id="5" idx="4"/>
          </p:cNvCxnSpPr>
          <p:nvPr/>
        </p:nvCxnSpPr>
        <p:spPr bwMode="auto">
          <a:xfrm flipH="1" flipV="1">
            <a:off x="2490788" y="3086100"/>
            <a:ext cx="700087" cy="1905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177AFDF0-3685-E2F5-1156-984435996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63" y="4052229"/>
            <a:ext cx="7507873" cy="148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05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869E4F-691A-CE97-676C-C4321CB45409}"/>
              </a:ext>
            </a:extLst>
          </p:cNvPr>
          <p:cNvSpPr txBox="1">
            <a:spLocks/>
          </p:cNvSpPr>
          <p:nvPr/>
        </p:nvSpPr>
        <p:spPr bwMode="auto">
          <a:xfrm>
            <a:off x="742950" y="1734760"/>
            <a:ext cx="8143875" cy="496480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.type1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yellow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웹프로그래밍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"type1"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HTML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"type1"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CSS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JAVASCRIPT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"https://www.w3c.org"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참고 사이트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W3C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C7B52-8FB9-3F84-1A80-3754C44E71D8}"/>
              </a:ext>
            </a:extLst>
          </p:cNvPr>
          <p:cNvSpPr txBox="1"/>
          <p:nvPr/>
        </p:nvSpPr>
        <p:spPr>
          <a:xfrm>
            <a:off x="750978" y="1485711"/>
            <a:ext cx="1135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>
                <a:solidFill>
                  <a:srgbClr val="0070C0"/>
                </a:solidFill>
                <a:latin typeface="Century Schoolbook" panose="02040604050505020304" pitchFamily="18" charset="0"/>
              </a:rPr>
              <a:t>body.html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742950" y="2457451"/>
            <a:ext cx="3314700" cy="1390650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4123C92-549E-8931-B644-36D345173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69" name="_x402219192">
            <a:extLst>
              <a:ext uri="{FF2B5EF4-FFF2-40B4-BE49-F238E27FC236}">
                <a16:creationId xmlns:a16="http://schemas.microsoft.com/office/drawing/2014/main" id="{B05D7836-C9AA-160D-B0C0-2A2735FF0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265" y="2397126"/>
            <a:ext cx="3531040" cy="214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383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선택자</a:t>
            </a:r>
            <a:r>
              <a:rPr lang="en-US" altLang="ko-KR" dirty="0"/>
              <a:t> </a:t>
            </a:r>
            <a:r>
              <a:rPr lang="ko-KR" altLang="en-US" dirty="0"/>
              <a:t>그룹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선택자를</a:t>
            </a:r>
            <a:r>
              <a:rPr lang="ko-KR" altLang="en-US" dirty="0"/>
              <a:t> 콤마</a:t>
            </a:r>
            <a:r>
              <a:rPr lang="en-US" altLang="ko-KR" dirty="0"/>
              <a:t>(,)</a:t>
            </a:r>
            <a:r>
              <a:rPr lang="ko-KR" altLang="en-US" dirty="0"/>
              <a:t>로 분리하여 나열할 수 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41526" y="2339459"/>
            <a:ext cx="6091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ko-KR" sz="2800" i="1" dirty="0">
                <a:latin typeface="Century Schoolbook" panose="02040604050505020304" pitchFamily="18" charset="0"/>
              </a:rPr>
              <a:t>h1, h2, h3 { font-family: sans-serif; }</a:t>
            </a:r>
          </a:p>
        </p:txBody>
      </p:sp>
      <p:sp>
        <p:nvSpPr>
          <p:cNvPr id="5" name="타원 4"/>
          <p:cNvSpPr/>
          <p:nvPr/>
        </p:nvSpPr>
        <p:spPr bwMode="auto">
          <a:xfrm>
            <a:off x="762000" y="2195215"/>
            <a:ext cx="2438400" cy="84772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22280" y="3006923"/>
            <a:ext cx="3762568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latinLnBrk="1"/>
            <a:r>
              <a:rPr lang="en-US" altLang="ko-KR" i="1" dirty="0">
                <a:solidFill>
                  <a:schemeClr val="tx2"/>
                </a:solidFill>
              </a:rPr>
              <a:t>&lt;</a:t>
            </a:r>
            <a:r>
              <a:rPr lang="en-US" altLang="ko-KR" i="1" dirty="0" err="1">
                <a:solidFill>
                  <a:schemeClr val="tx2"/>
                </a:solidFill>
              </a:rPr>
              <a:t>h1</a:t>
            </a:r>
            <a:r>
              <a:rPr lang="en-US" altLang="ko-KR" i="1" dirty="0">
                <a:solidFill>
                  <a:schemeClr val="tx2"/>
                </a:solidFill>
              </a:rPr>
              <a:t>&gt;, &lt;</a:t>
            </a:r>
            <a:r>
              <a:rPr lang="en-US" altLang="ko-KR" i="1" dirty="0" err="1">
                <a:solidFill>
                  <a:schemeClr val="tx2"/>
                </a:solidFill>
              </a:rPr>
              <a:t>h2</a:t>
            </a:r>
            <a:r>
              <a:rPr lang="en-US" altLang="ko-KR" i="1" dirty="0">
                <a:solidFill>
                  <a:schemeClr val="tx2"/>
                </a:solidFill>
              </a:rPr>
              <a:t>&gt;, &lt;</a:t>
            </a:r>
            <a:r>
              <a:rPr lang="en-US" altLang="ko-KR" i="1" dirty="0" err="1">
                <a:solidFill>
                  <a:schemeClr val="tx2"/>
                </a:solidFill>
              </a:rPr>
              <a:t>h3</a:t>
            </a:r>
            <a:r>
              <a:rPr lang="en-US" altLang="ko-KR" i="1" dirty="0">
                <a:solidFill>
                  <a:schemeClr val="tx2"/>
                </a:solidFill>
              </a:rPr>
              <a:t>&gt;</a:t>
            </a:r>
            <a:r>
              <a:rPr lang="ko-KR" altLang="en-US" i="1" dirty="0">
                <a:solidFill>
                  <a:schemeClr val="tx2"/>
                </a:solidFill>
              </a:rPr>
              <a:t>요소를 선택한다</a:t>
            </a:r>
            <a:r>
              <a:rPr lang="en-US" altLang="ko-KR" i="1" dirty="0">
                <a:solidFill>
                  <a:schemeClr val="tx2"/>
                </a:solidFill>
              </a:rPr>
              <a:t>.</a:t>
            </a:r>
            <a:endParaRPr lang="ko-KR" altLang="en-US" i="1" dirty="0">
              <a:solidFill>
                <a:schemeClr val="tx2"/>
              </a:solidFill>
            </a:endParaRPr>
          </a:p>
        </p:txBody>
      </p:sp>
      <p:cxnSp>
        <p:nvCxnSpPr>
          <p:cNvPr id="7" name="직선 화살표 연결선 6"/>
          <p:cNvCxnSpPr>
            <a:endCxn id="5" idx="4"/>
          </p:cNvCxnSpPr>
          <p:nvPr/>
        </p:nvCxnSpPr>
        <p:spPr bwMode="auto">
          <a:xfrm flipH="1" flipV="1">
            <a:off x="1981200" y="3042940"/>
            <a:ext cx="1219200" cy="714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41232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8AA652-B57F-6464-B885-E47C7F00D4D6}"/>
              </a:ext>
            </a:extLst>
          </p:cNvPr>
          <p:cNvSpPr txBox="1">
            <a:spLocks/>
          </p:cNvSpPr>
          <p:nvPr/>
        </p:nvSpPr>
        <p:spPr bwMode="auto">
          <a:xfrm>
            <a:off x="612648" y="1789081"/>
            <a:ext cx="8143875" cy="4840319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yellow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웹프로그래밍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HTML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CSS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JAVASCRIPT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"https://www.w3c.org"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참고 사이트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W3C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AC9F0-E6EE-217E-3563-ADFFCF235028}"/>
              </a:ext>
            </a:extLst>
          </p:cNvPr>
          <p:cNvSpPr txBox="1"/>
          <p:nvPr/>
        </p:nvSpPr>
        <p:spPr>
          <a:xfrm>
            <a:off x="620676" y="1540032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selector5.html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441C11C-8606-D800-8C0E-AE7DAAEFD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3" name="_x402220272">
            <a:extLst>
              <a:ext uri="{FF2B5EF4-FFF2-40B4-BE49-F238E27FC236}">
                <a16:creationId xmlns:a16="http://schemas.microsoft.com/office/drawing/2014/main" id="{CD00C833-403A-6839-17DA-CE3CAD690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001" y="2104930"/>
            <a:ext cx="2392363" cy="16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012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50942450"/>
              </p:ext>
            </p:extLst>
          </p:nvPr>
        </p:nvGraphicFramePr>
        <p:xfrm>
          <a:off x="685800" y="1676400"/>
          <a:ext cx="8211500" cy="120053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3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6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1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err="1">
                          <a:effectLst/>
                          <a:latin typeface="Trebuchet MS" panose="020B0603020202020204" pitchFamily="34" charset="0"/>
                        </a:rPr>
                        <a:t>선택자</a:t>
                      </a:r>
                      <a:r>
                        <a:rPr lang="ko-KR" altLang="en-US" sz="1600" kern="0" spc="0" dirty="0"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76427" marR="76427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effectLst/>
                          <a:latin typeface="Trebuchet MS" panose="020B0603020202020204" pitchFamily="34" charset="0"/>
                        </a:rPr>
                        <a:t>설명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76427" marR="76427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effectLst/>
                          <a:latin typeface="Trebuchet MS" panose="020B0603020202020204" pitchFamily="34" charset="0"/>
                        </a:rPr>
                        <a:t>s1 s2</a:t>
                      </a:r>
                      <a:endParaRPr lang="en-US" sz="1600" kern="0" spc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76427" marR="76427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 err="1">
                          <a:effectLst/>
                          <a:latin typeface="Trebuchet MS" panose="020B0603020202020204" pitchFamily="34" charset="0"/>
                        </a:rPr>
                        <a:t>s1</a:t>
                      </a:r>
                      <a:r>
                        <a:rPr lang="en-US" altLang="ko-KR" sz="1600" kern="0" spc="0" dirty="0"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ko-KR" altLang="en-US" sz="1600" kern="0" spc="0" dirty="0">
                          <a:effectLst/>
                          <a:latin typeface="Trebuchet MS" panose="020B0603020202020204" pitchFamily="34" charset="0"/>
                        </a:rPr>
                        <a:t>요소에 포함된 </a:t>
                      </a:r>
                      <a:r>
                        <a:rPr lang="en-US" altLang="ko-KR" sz="1600" kern="0" spc="0" dirty="0" err="1">
                          <a:effectLst/>
                          <a:latin typeface="Trebuchet MS" panose="020B0603020202020204" pitchFamily="34" charset="0"/>
                        </a:rPr>
                        <a:t>s2</a:t>
                      </a:r>
                      <a:r>
                        <a:rPr lang="en-US" altLang="ko-KR" sz="1600" kern="0" spc="0" dirty="0"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ko-KR" altLang="en-US" sz="1600" kern="0" spc="0" dirty="0">
                          <a:effectLst/>
                          <a:latin typeface="Trebuchet MS" panose="020B0603020202020204" pitchFamily="34" charset="0"/>
                        </a:rPr>
                        <a:t>요소를 선택한다</a:t>
                      </a:r>
                      <a:r>
                        <a:rPr lang="en-US" altLang="ko-KR" sz="1600" kern="0" spc="0" dirty="0">
                          <a:effectLst/>
                          <a:latin typeface="Trebuchet MS" panose="020B0603020202020204" pitchFamily="34" charset="0"/>
                        </a:rPr>
                        <a:t>. (</a:t>
                      </a:r>
                      <a:r>
                        <a:rPr lang="ko-KR" altLang="en-US" sz="1600" kern="0" spc="0" dirty="0">
                          <a:effectLst/>
                          <a:latin typeface="Trebuchet MS" panose="020B0603020202020204" pitchFamily="34" charset="0"/>
                        </a:rPr>
                        <a:t>후손 관계</a:t>
                      </a:r>
                      <a:r>
                        <a:rPr lang="en-US" altLang="ko-KR" sz="1600" kern="0" spc="0" dirty="0">
                          <a:effectLst/>
                          <a:latin typeface="Trebuchet MS" panose="020B0603020202020204" pitchFamily="34" charset="0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76427" marR="76427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effectLst/>
                          <a:latin typeface="Trebuchet MS" panose="020B0603020202020204" pitchFamily="34" charset="0"/>
                        </a:rPr>
                        <a:t>s1 &gt; s2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76427" marR="76427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 err="1">
                          <a:effectLst/>
                          <a:latin typeface="Trebuchet MS" panose="020B0603020202020204" pitchFamily="34" charset="0"/>
                        </a:rPr>
                        <a:t>s1</a:t>
                      </a:r>
                      <a:r>
                        <a:rPr lang="en-US" altLang="ko-KR" sz="1600" kern="0" spc="0" dirty="0">
                          <a:effectLst/>
                          <a:latin typeface="Trebuchet MS" panose="020B0603020202020204" pitchFamily="34" charset="0"/>
                        </a:rPr>
                        <a:t> </a:t>
                      </a:r>
                      <a:r>
                        <a:rPr lang="ko-KR" altLang="en-US" sz="1600" kern="0" spc="0" dirty="0">
                          <a:effectLst/>
                          <a:latin typeface="Trebuchet MS" panose="020B0603020202020204" pitchFamily="34" charset="0"/>
                        </a:rPr>
                        <a:t>요소의 직계 자식 요소인 </a:t>
                      </a:r>
                      <a:r>
                        <a:rPr lang="en-US" altLang="ko-KR" sz="1600" kern="0" spc="0" dirty="0" err="1">
                          <a:effectLst/>
                          <a:latin typeface="Trebuchet MS" panose="020B0603020202020204" pitchFamily="34" charset="0"/>
                        </a:rPr>
                        <a:t>s2</a:t>
                      </a:r>
                      <a:r>
                        <a:rPr lang="ko-KR" altLang="en-US" sz="1600" kern="0" spc="0" dirty="0">
                          <a:effectLst/>
                          <a:latin typeface="Trebuchet MS" panose="020B0603020202020204" pitchFamily="34" charset="0"/>
                        </a:rPr>
                        <a:t>를 선택한다</a:t>
                      </a:r>
                      <a:r>
                        <a:rPr lang="en-US" altLang="ko-KR" sz="1600" kern="0" spc="0" dirty="0">
                          <a:effectLst/>
                          <a:latin typeface="Trebuchet MS" panose="020B0603020202020204" pitchFamily="34" charset="0"/>
                        </a:rPr>
                        <a:t>.(</a:t>
                      </a:r>
                      <a:r>
                        <a:rPr lang="ko-KR" altLang="en-US" sz="1600" kern="0" spc="0" dirty="0">
                          <a:effectLst/>
                          <a:latin typeface="Trebuchet MS" panose="020B0603020202020204" pitchFamily="34" charset="0"/>
                        </a:rPr>
                        <a:t>자식 관계</a:t>
                      </a:r>
                      <a:r>
                        <a:rPr lang="en-US" altLang="ko-KR" sz="1600" kern="0" spc="0" dirty="0">
                          <a:effectLst/>
                          <a:latin typeface="Trebuchet MS" panose="020B0603020202020204" pitchFamily="34" charset="0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76427" marR="76427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685800" y="3290590"/>
            <a:ext cx="8212138" cy="1615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ko-KR" kern="0" dirty="0"/>
              <a:t>b</a:t>
            </a:r>
            <a:r>
              <a:rPr lang="en-US" altLang="ko-KR" dirty="0"/>
              <a:t>ody  </a:t>
            </a:r>
            <a:r>
              <a:rPr lang="en-US" altLang="ko-KR" dirty="0" err="1"/>
              <a:t>em</a:t>
            </a:r>
            <a:r>
              <a:rPr lang="en-US" altLang="ko-KR" dirty="0"/>
              <a:t> { </a:t>
            </a:r>
            <a:r>
              <a:rPr lang="en-US" altLang="ko-KR" dirty="0" err="1"/>
              <a:t>color:red</a:t>
            </a:r>
            <a:r>
              <a:rPr lang="en-US" altLang="ko-KR" dirty="0"/>
              <a:t>; }</a:t>
            </a:r>
            <a:r>
              <a:rPr lang="ko-KR" altLang="en-US" dirty="0"/>
              <a:t>	</a:t>
            </a:r>
            <a:r>
              <a:rPr lang="en-US" altLang="ko-KR" dirty="0"/>
              <a:t>/* body </a:t>
            </a:r>
            <a:r>
              <a:rPr lang="ko-KR" altLang="en-US" dirty="0"/>
              <a:t>안의 </a:t>
            </a:r>
            <a:r>
              <a:rPr lang="en-US" altLang="ko-KR" dirty="0" err="1"/>
              <a:t>em</a:t>
            </a:r>
            <a:r>
              <a:rPr lang="en-US" altLang="ko-KR" dirty="0"/>
              <a:t> </a:t>
            </a:r>
            <a:r>
              <a:rPr lang="ko-KR" altLang="en-US" dirty="0"/>
              <a:t>요소 *</a:t>
            </a:r>
            <a:r>
              <a:rPr lang="en-US" altLang="ko-KR" dirty="0"/>
              <a:t>/</a:t>
            </a:r>
          </a:p>
          <a:p>
            <a:pPr eaLnBrk="1" hangingPunct="1"/>
            <a:r>
              <a:rPr lang="en-US" altLang="ko-KR" dirty="0"/>
              <a:t>body &gt; </a:t>
            </a:r>
            <a:r>
              <a:rPr lang="en-US" altLang="ko-KR" dirty="0" err="1"/>
              <a:t>ul</a:t>
            </a:r>
            <a:r>
              <a:rPr lang="en-US" altLang="ko-KR" dirty="0"/>
              <a:t> { </a:t>
            </a:r>
            <a:r>
              <a:rPr lang="en-US" altLang="ko-KR" dirty="0" err="1"/>
              <a:t>color:blue</a:t>
            </a:r>
            <a:r>
              <a:rPr lang="en-US" altLang="ko-KR" dirty="0"/>
              <a:t>; }</a:t>
            </a:r>
            <a:r>
              <a:rPr lang="ko-KR" altLang="en-US" dirty="0"/>
              <a:t>	</a:t>
            </a:r>
            <a:r>
              <a:rPr lang="en-US" altLang="ko-KR" dirty="0"/>
              <a:t>/* body </a:t>
            </a:r>
            <a:r>
              <a:rPr lang="ko-KR" altLang="en-US" dirty="0"/>
              <a:t>안의 </a:t>
            </a:r>
            <a:r>
              <a:rPr lang="en-US" altLang="ko-KR" dirty="0" err="1"/>
              <a:t>ul</a:t>
            </a:r>
            <a:r>
              <a:rPr lang="en-US" altLang="ko-KR" dirty="0"/>
              <a:t> </a:t>
            </a:r>
            <a:r>
              <a:rPr lang="ko-KR" altLang="en-US" dirty="0"/>
              <a:t>요소 *</a:t>
            </a:r>
            <a:r>
              <a:rPr lang="en-US" altLang="ko-KR" dirty="0"/>
              <a:t>/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12CF5E2C-23E8-F89B-489E-EDF2D01BF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후손</a:t>
            </a:r>
            <a:r>
              <a:rPr lang="en-US" altLang="ko-KR" dirty="0"/>
              <a:t>, </a:t>
            </a:r>
            <a:r>
              <a:rPr lang="ko-KR" altLang="en-US" dirty="0"/>
              <a:t>자식 </a:t>
            </a:r>
            <a:r>
              <a:rPr lang="ko-KR" altLang="en-US" dirty="0" err="1"/>
              <a:t>선택자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7569F7C-458D-EB0C-9965-B9320F5BB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748" y="4098280"/>
            <a:ext cx="45910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85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DB3784-17B6-F912-FC9D-59E0DC7A2AF0}"/>
              </a:ext>
            </a:extLst>
          </p:cNvPr>
          <p:cNvSpPr txBox="1">
            <a:spLocks/>
          </p:cNvSpPr>
          <p:nvPr/>
        </p:nvSpPr>
        <p:spPr bwMode="auto">
          <a:xfrm>
            <a:off x="500062" y="1816241"/>
            <a:ext cx="8143875" cy="3217486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L="0" indent="0" algn="l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 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em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red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 }  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/* body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안의 </a:t>
            </a:r>
            <a:r>
              <a:rPr lang="en-US" altLang="ko-KR" sz="1400" b="0" i="0" u="none" strike="noStrike" baseline="0" dirty="0" err="1">
                <a:solidFill>
                  <a:srgbClr val="008000"/>
                </a:solidFill>
                <a:latin typeface="Century Schoolbook" panose="02040604050505020304" pitchFamily="18" charset="0"/>
              </a:rPr>
              <a:t>em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요소 *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/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&gt;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h1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blue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 }  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/* body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안의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h1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요소 *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</a:rPr>
              <a:t>/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&lt;h1&gt;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This headline is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em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very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em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important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&lt;/h1&gt;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ko-KR" altLang="en-US" sz="14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79B8B9-616B-262A-7112-A010C437F697}"/>
              </a:ext>
            </a:extLst>
          </p:cNvPr>
          <p:cNvSpPr txBox="1"/>
          <p:nvPr/>
        </p:nvSpPr>
        <p:spPr>
          <a:xfrm>
            <a:off x="508090" y="1567192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css_desc.html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3797689-B0F0-8A4E-77E1-05E242D29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44" name="_x398664416">
            <a:extLst>
              <a:ext uri="{FF2B5EF4-FFF2-40B4-BE49-F238E27FC236}">
                <a16:creationId xmlns:a16="http://schemas.microsoft.com/office/drawing/2014/main" id="{01EBF5E5-8747-0DF4-1361-E17413C9A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8" y="4833843"/>
            <a:ext cx="4377849" cy="1458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214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140ED67-9165-B7D6-2136-D590BA85781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 dirty="0"/>
              <a:t>의사 클래스</a:t>
            </a:r>
            <a:r>
              <a:rPr lang="en-US" altLang="ko-KR" b="1" dirty="0"/>
              <a:t>(pseudo-class):  </a:t>
            </a:r>
            <a:r>
              <a:rPr lang="ko-KR" altLang="en-US" dirty="0"/>
              <a:t>클래스가 정의된 것처럼 간주</a:t>
            </a:r>
            <a:endParaRPr lang="en-US" altLang="ko-KR" dirty="0"/>
          </a:p>
          <a:p>
            <a:pPr lvl="1" latinLnBrk="0"/>
            <a:r>
              <a:rPr lang="en-US" altLang="ko-KR" dirty="0"/>
              <a:t>a:link { color:</a:t>
            </a:r>
            <a:r>
              <a:rPr lang="ko-KR" altLang="en-US" dirty="0"/>
              <a:t> </a:t>
            </a:r>
            <a:r>
              <a:rPr lang="en-US" altLang="ko-KR" dirty="0"/>
              <a:t>blue;</a:t>
            </a:r>
            <a:r>
              <a:rPr lang="ko-KR" altLang="en-US" dirty="0"/>
              <a:t> </a:t>
            </a:r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079AE5CD-A8EF-BFC6-EBC5-84A5536A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의사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A6A03A-F88F-CBA2-FF09-1EEF119BF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55" y="2494324"/>
            <a:ext cx="5633189" cy="20687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79A60EB-BC1E-39A9-5871-5BAB3159C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55" y="4563051"/>
            <a:ext cx="5633190" cy="207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5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7F3D1E6-61C1-6F1A-2AB6-A366B189B842}"/>
              </a:ext>
            </a:extLst>
          </p:cNvPr>
          <p:cNvSpPr txBox="1">
            <a:spLocks/>
          </p:cNvSpPr>
          <p:nvPr/>
        </p:nvSpPr>
        <p:spPr bwMode="auto">
          <a:xfrm>
            <a:off x="612648" y="1667575"/>
            <a:ext cx="8143875" cy="508631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a:link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blue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a:visited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green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p:hover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yellow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웹프로그래밍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HTML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CSS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JAVASCRIPT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rgbClr val="800000"/>
                </a:solidFill>
              </a:rPr>
              <a:t>   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"https://www.w3.org"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참고 사이트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W3C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33C78-8CB3-0FA5-DAFF-531F90F2EA2D}"/>
              </a:ext>
            </a:extLst>
          </p:cNvPr>
          <p:cNvSpPr txBox="1"/>
          <p:nvPr/>
        </p:nvSpPr>
        <p:spPr>
          <a:xfrm>
            <a:off x="620676" y="1418526"/>
            <a:ext cx="1135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>
                <a:solidFill>
                  <a:srgbClr val="0070C0"/>
                </a:solidFill>
                <a:latin typeface="Century Schoolbook" panose="02040604050505020304" pitchFamily="18" charset="0"/>
              </a:rPr>
              <a:t>body.html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87AF071-4F7B-6C04-F50D-4BAD41E31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265" name="_x398663552">
            <a:extLst>
              <a:ext uri="{FF2B5EF4-FFF2-40B4-BE49-F238E27FC236}">
                <a16:creationId xmlns:a16="http://schemas.microsoft.com/office/drawing/2014/main" id="{DDF7FD79-AEF8-14E3-CE97-EF8DD673E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012" y="1757080"/>
            <a:ext cx="4224025" cy="2844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009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7F3D1E6-61C1-6F1A-2AB6-A366B189B842}"/>
              </a:ext>
            </a:extLst>
          </p:cNvPr>
          <p:cNvSpPr txBox="1">
            <a:spLocks/>
          </p:cNvSpPr>
          <p:nvPr/>
        </p:nvSpPr>
        <p:spPr bwMode="auto">
          <a:xfrm>
            <a:off x="612648" y="1667575"/>
            <a:ext cx="8143875" cy="508631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L="0" indent="0" algn="l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L="0" indent="0" algn="l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p::before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L="0" marR="0" indent="0" algn="just" rtl="0">
              <a:buNone/>
            </a:pP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content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이것은 중요합니다</a:t>
            </a:r>
            <a:r>
              <a:rPr lang="en-US" altLang="ko-KR" sz="14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. -"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yellow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red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font-weight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bold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L="0" marR="0" indent="0" algn="just" rtl="0">
              <a:buNone/>
            </a:pP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&lt;h1&gt;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웹프로그래밍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&lt;/h1&gt;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HTML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CSS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JAVASCRIPT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학습하기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&lt;a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href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4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"https://www.w3.org"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참고 사이트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W3C&gt;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&lt;/a&gt;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33C78-8CB3-0FA5-DAFF-531F90F2EA2D}"/>
              </a:ext>
            </a:extLst>
          </p:cNvPr>
          <p:cNvSpPr txBox="1"/>
          <p:nvPr/>
        </p:nvSpPr>
        <p:spPr>
          <a:xfrm>
            <a:off x="620676" y="1418526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selector7.html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87AF071-4F7B-6C04-F50D-4BAD41E31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98F7DF81-43E5-234A-8B1F-E64AE6977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2295" name="_x398664344">
            <a:extLst>
              <a:ext uri="{FF2B5EF4-FFF2-40B4-BE49-F238E27FC236}">
                <a16:creationId xmlns:a16="http://schemas.microsoft.com/office/drawing/2014/main" id="{F482C112-489C-2003-9292-06909A3F7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855" y="2051507"/>
            <a:ext cx="3852076" cy="260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781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247B1-D3BC-95CD-9249-857490AF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7B9B8-549D-AB37-AD8F-D22D9D4378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57175" indent="-257175">
              <a:buFont typeface="+mj-lt"/>
              <a:buAutoNum type="arabicPeriod"/>
            </a:pPr>
            <a:r>
              <a:rPr lang="ko-KR" altLang="en-US" dirty="0"/>
              <a:t>아이디 선택자와 클래스 선택자의 차이점은 무엇일까</a:t>
            </a:r>
            <a:r>
              <a:rPr lang="en-US" altLang="ko-KR" dirty="0"/>
              <a:t>?</a:t>
            </a:r>
          </a:p>
          <a:p>
            <a:pPr marL="257175" indent="-257175">
              <a:buFont typeface="+mj-lt"/>
              <a:buAutoNum type="arabicPeriod"/>
            </a:pPr>
            <a:r>
              <a:rPr lang="ko-KR" altLang="en-US" dirty="0"/>
              <a:t>전체 선택자는 어떻게 만드는가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32F7CE-7BA5-E377-6D70-5AAAF3D29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993" y="3507856"/>
            <a:ext cx="1168004" cy="123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82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F7EB8-D584-D28B-247D-98C3833D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Lab: </a:t>
            </a:r>
            <a:r>
              <a:rPr lang="ko-KR" altLang="en-US" dirty="0"/>
              <a:t>웹페이지에 스타일 지정하기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7BE97-031A-DF82-13DF-85780346B4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앞장에서 작성한 커피 전문점 홈페이지에 </a:t>
            </a:r>
            <a:r>
              <a:rPr lang="en-US" altLang="ko-KR" dirty="0"/>
              <a:t>CSS</a:t>
            </a:r>
            <a:r>
              <a:rPr lang="ko-KR" altLang="en-US" dirty="0"/>
              <a:t>를 적용해보자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78E95A-A560-0154-6BBC-E2CEA31D6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28" y="2387561"/>
            <a:ext cx="7073744" cy="327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4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481CA-DA53-CB53-BCF5-031324E67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EF09E1-5009-F783-9734-78C8C182ADA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70F6BA3-00B8-77C5-7A9B-A0311A024374}"/>
              </a:ext>
            </a:extLst>
          </p:cNvPr>
          <p:cNvSpPr txBox="1">
            <a:spLocks/>
          </p:cNvSpPr>
          <p:nvPr/>
        </p:nvSpPr>
        <p:spPr bwMode="auto">
          <a:xfrm>
            <a:off x="612648" y="1600199"/>
            <a:ext cx="8143875" cy="5029201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&lt;title&gt;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Web Programming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yellow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p.first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green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p.second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blue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Welcome to Web Coffee!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img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src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"coffee.gif"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width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"100"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height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"100"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"first"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하우스 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로스팅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원두의 신선한 커피를 맛보세요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!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em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공인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1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급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Barista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em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가</a:t>
            </a: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최고급 원두만을 직접 엄선하여 사용합니다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E2FC4-B9C7-C0A1-802C-865FEEFCF799}"/>
              </a:ext>
            </a:extLst>
          </p:cNvPr>
          <p:cNvSpPr txBox="1"/>
          <p:nvPr/>
        </p:nvSpPr>
        <p:spPr>
          <a:xfrm>
            <a:off x="620676" y="1351151"/>
            <a:ext cx="13195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coffee1.html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707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481CA-DA53-CB53-BCF5-031324E67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70F6BA3-00B8-77C5-7A9B-A0311A024374}"/>
              </a:ext>
            </a:extLst>
          </p:cNvPr>
          <p:cNvSpPr txBox="1">
            <a:spLocks/>
          </p:cNvSpPr>
          <p:nvPr/>
        </p:nvSpPr>
        <p:spPr bwMode="auto">
          <a:xfrm>
            <a:off x="612648" y="1600200"/>
            <a:ext cx="8143875" cy="240982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&lt;h2&gt;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메뉴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&lt;/h2&gt;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"second"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아메리카노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카페라떼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카푸치노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카페모카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 ...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E2FC4-B9C7-C0A1-802C-865FEEFCF799}"/>
              </a:ext>
            </a:extLst>
          </p:cNvPr>
          <p:cNvSpPr txBox="1"/>
          <p:nvPr/>
        </p:nvSpPr>
        <p:spPr>
          <a:xfrm>
            <a:off x="620676" y="1351151"/>
            <a:ext cx="13195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coffee1.html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39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를 추가하는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ko-KR" altLang="en-US" dirty="0"/>
              <a:t>외부 스타일 시트</a:t>
            </a:r>
            <a:r>
              <a:rPr lang="en-US" altLang="ko-KR" dirty="0"/>
              <a:t>(external style sheet)</a:t>
            </a:r>
            <a:endParaRPr lang="ko-KR" altLang="en-US" dirty="0"/>
          </a:p>
          <a:p>
            <a:pPr lvl="0"/>
            <a:r>
              <a:rPr lang="ko-KR" altLang="en-US" dirty="0"/>
              <a:t>내부 스타일 시트</a:t>
            </a:r>
            <a:r>
              <a:rPr lang="en-US" altLang="ko-KR" dirty="0"/>
              <a:t>(internal style sheet)</a:t>
            </a:r>
            <a:endParaRPr lang="ko-KR" altLang="en-US" dirty="0"/>
          </a:p>
          <a:p>
            <a:pPr lvl="0"/>
            <a:r>
              <a:rPr lang="ko-KR" altLang="en-US" dirty="0" err="1"/>
              <a:t>인라인</a:t>
            </a:r>
            <a:r>
              <a:rPr lang="ko-KR" altLang="en-US" dirty="0"/>
              <a:t> 스타일 시트</a:t>
            </a:r>
            <a:r>
              <a:rPr lang="en-US" altLang="ko-KR" dirty="0"/>
              <a:t>(inline)</a:t>
            </a:r>
            <a:endParaRPr lang="ko-KR" altLang="en-US" dirty="0"/>
          </a:p>
        </p:txBody>
      </p:sp>
      <p:sp>
        <p:nvSpPr>
          <p:cNvPr id="4" name="사각형: 모서리가 접힌 도형 3">
            <a:extLst>
              <a:ext uri="{FF2B5EF4-FFF2-40B4-BE49-F238E27FC236}">
                <a16:creationId xmlns:a16="http://schemas.microsoft.com/office/drawing/2014/main" id="{01D3581D-257B-B328-28E5-09C7083ECCD0}"/>
              </a:ext>
            </a:extLst>
          </p:cNvPr>
          <p:cNvSpPr/>
          <p:nvPr/>
        </p:nvSpPr>
        <p:spPr>
          <a:xfrm>
            <a:off x="4662535" y="3429000"/>
            <a:ext cx="1738265" cy="2274683"/>
          </a:xfrm>
          <a:prstGeom prst="foldedCorne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0D52A5E-F5B1-B891-E576-9D9642B75960}"/>
              </a:ext>
            </a:extLst>
          </p:cNvPr>
          <p:cNvSpPr/>
          <p:nvPr/>
        </p:nvSpPr>
        <p:spPr>
          <a:xfrm>
            <a:off x="1913675" y="3787743"/>
            <a:ext cx="1846906" cy="128559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CSS1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229E14F-6FCC-1609-1FE0-50C41F800312}"/>
              </a:ext>
            </a:extLst>
          </p:cNvPr>
          <p:cNvSpPr/>
          <p:nvPr/>
        </p:nvSpPr>
        <p:spPr>
          <a:xfrm>
            <a:off x="4784002" y="3472381"/>
            <a:ext cx="1585865" cy="63072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CSS2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7641C94-D87B-7240-A9C2-E2410B413713}"/>
              </a:ext>
            </a:extLst>
          </p:cNvPr>
          <p:cNvCxnSpPr>
            <a:cxnSpLocks/>
          </p:cNvCxnSpPr>
          <p:nvPr/>
        </p:nvCxnSpPr>
        <p:spPr>
          <a:xfrm>
            <a:off x="3760581" y="4430540"/>
            <a:ext cx="697117" cy="642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7709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3ECF2224-89F8-64E6-6C20-40DC3B54318D}"/>
              </a:ext>
            </a:extLst>
          </p:cNvPr>
          <p:cNvSpPr txBox="1">
            <a:spLocks/>
          </p:cNvSpPr>
          <p:nvPr/>
        </p:nvSpPr>
        <p:spPr bwMode="auto">
          <a:xfrm>
            <a:off x="500062" y="1825294"/>
            <a:ext cx="8143875" cy="3456459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#0026ff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This is a headline.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This is a paragraph.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2FCD20-6215-4935-004A-FE52DC04E2C6}"/>
              </a:ext>
            </a:extLst>
          </p:cNvPr>
          <p:cNvSpPr txBox="1"/>
          <p:nvPr/>
        </p:nvSpPr>
        <p:spPr>
          <a:xfrm>
            <a:off x="508090" y="1576246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intstyle.html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508090" y="2520894"/>
            <a:ext cx="3390900" cy="118109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7C753EB-3681-2F2B-28CA-307E4EB93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내부</a:t>
            </a:r>
            <a:r>
              <a:rPr lang="en-US" altLang="ko-KR" dirty="0"/>
              <a:t> </a:t>
            </a:r>
            <a:r>
              <a:rPr lang="ko-KR" altLang="en-US" dirty="0"/>
              <a:t>스타일 시트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4B70F43-2674-69D8-8EDC-57BD18971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3313" name="_x402220272">
            <a:extLst>
              <a:ext uri="{FF2B5EF4-FFF2-40B4-BE49-F238E27FC236}">
                <a16:creationId xmlns:a16="http://schemas.microsoft.com/office/drawing/2014/main" id="{1A4B911D-8DB1-A651-E40C-6C2007F15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902" y="2520894"/>
            <a:ext cx="3514780" cy="147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022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외부 스타일 시트는 스타일 시트를 외부에 파일로 저장하는 것</a:t>
            </a:r>
            <a:endParaRPr lang="en-US" altLang="ko-KR" dirty="0"/>
          </a:p>
          <a:p>
            <a:r>
              <a:rPr lang="ko-KR" altLang="en-US" dirty="0"/>
              <a:t>많은 페이지에 동일한 스타일을 적용하려고 할 때 좋은 방법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066801" y="2635449"/>
            <a:ext cx="74961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2000" i="1" dirty="0">
                <a:latin typeface="Century Schoolbook" panose="02040604050505020304" pitchFamily="18" charset="0"/>
              </a:rPr>
              <a:t>&lt;link type="text/</a:t>
            </a:r>
            <a:r>
              <a:rPr lang="en-US" altLang="ko-KR" sz="2000" i="1" dirty="0" err="1">
                <a:latin typeface="Century Schoolbook" panose="02040604050505020304" pitchFamily="18" charset="0"/>
              </a:rPr>
              <a:t>css</a:t>
            </a:r>
            <a:r>
              <a:rPr lang="en-US" altLang="ko-KR" sz="2000" i="1" dirty="0">
                <a:latin typeface="Century Schoolbook" panose="02040604050505020304" pitchFamily="18" charset="0"/>
              </a:rPr>
              <a:t>" </a:t>
            </a:r>
            <a:r>
              <a:rPr lang="en-US" altLang="ko-KR" sz="2000" i="1" dirty="0" err="1">
                <a:latin typeface="Century Schoolbook" panose="02040604050505020304" pitchFamily="18" charset="0"/>
              </a:rPr>
              <a:t>rel</a:t>
            </a:r>
            <a:r>
              <a:rPr lang="en-US" altLang="ko-KR" sz="2000" i="1" dirty="0">
                <a:latin typeface="Century Schoolbook" panose="02040604050505020304" pitchFamily="18" charset="0"/>
              </a:rPr>
              <a:t>="</a:t>
            </a:r>
            <a:r>
              <a:rPr lang="en-US" altLang="ko-KR" sz="2000" i="1" dirty="0" err="1">
                <a:latin typeface="Century Schoolbook" panose="02040604050505020304" pitchFamily="18" charset="0"/>
              </a:rPr>
              <a:t>stylesheet</a:t>
            </a:r>
            <a:r>
              <a:rPr lang="en-US" altLang="ko-KR" sz="2000" i="1" dirty="0">
                <a:latin typeface="Century Schoolbook" panose="02040604050505020304" pitchFamily="18" charset="0"/>
              </a:rPr>
              <a:t>" </a:t>
            </a:r>
            <a:r>
              <a:rPr lang="en-US" altLang="ko-KR" sz="2000" i="1" dirty="0" err="1">
                <a:latin typeface="Century Schoolbook" panose="02040604050505020304" pitchFamily="18" charset="0"/>
              </a:rPr>
              <a:t>href</a:t>
            </a:r>
            <a:r>
              <a:rPr lang="en-US" altLang="ko-KR" sz="2000" i="1" dirty="0">
                <a:latin typeface="Century Schoolbook" panose="02040604050505020304" pitchFamily="18" charset="0"/>
              </a:rPr>
              <a:t>="</a:t>
            </a:r>
            <a:r>
              <a:rPr lang="en-US" altLang="ko-KR" sz="2000" i="1" dirty="0" err="1">
                <a:latin typeface="Century Schoolbook" panose="02040604050505020304" pitchFamily="18" charset="0"/>
              </a:rPr>
              <a:t>mystyle.css</a:t>
            </a:r>
            <a:r>
              <a:rPr lang="en-US" altLang="ko-KR" sz="2000" i="1" dirty="0">
                <a:latin typeface="Century Schoolbook" panose="02040604050505020304" pitchFamily="18" charset="0"/>
              </a:rPr>
              <a:t>"&gt;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8D840B06-0466-D4BF-E094-F7058FA2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</a:t>
            </a:r>
            <a:r>
              <a:rPr lang="en-US" altLang="ko-KR" dirty="0"/>
              <a:t> </a:t>
            </a:r>
            <a:r>
              <a:rPr lang="ko-KR" altLang="en-US" dirty="0"/>
              <a:t>스타일 시트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570B57-B9EB-94C0-6853-F035B3B58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57" y="3166679"/>
            <a:ext cx="6092685" cy="349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2359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553910" y="2080696"/>
            <a:ext cx="8212138" cy="69532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just" rtl="0">
              <a:buNone/>
            </a:pPr>
            <a:r>
              <a:rPr lang="en-US" altLang="ko-KR" sz="1600" b="0" i="0" u="none" strike="noStrike" baseline="0" dirty="0">
                <a:solidFill>
                  <a:srgbClr val="800000"/>
                </a:solidFill>
              </a:rPr>
              <a:t>h1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</a:rPr>
              <a:t> {   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</a:rPr>
              <a:t>color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</a:rPr>
              <a:t>: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</a:rPr>
              <a:t>red;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</a:rPr>
              <a:t>}</a:t>
            </a:r>
          </a:p>
          <a:p>
            <a:pPr marL="0" marR="0" indent="0" algn="just" rtl="0">
              <a:buNone/>
            </a:pPr>
            <a:r>
              <a:rPr lang="en-US" altLang="ko-KR" sz="1600" b="0" i="0" u="none" strike="noStrike" baseline="0" dirty="0">
                <a:solidFill>
                  <a:srgbClr val="800000"/>
                </a:solidFill>
              </a:rPr>
              <a:t>p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</a:rPr>
              <a:t> {   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</a:rPr>
              <a:t>color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</a:rPr>
              <a:t>: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</a:rPr>
              <a:t>#0026ff;</a:t>
            </a:r>
            <a:endParaRPr lang="en-US" altLang="ko-KR" sz="1600" b="0" i="0" u="none" strike="noStrike" baseline="0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endParaRPr lang="ko-KR" altLang="en-US" sz="1600" b="0" i="0" u="none" strike="noStrike" baseline="0" dirty="0">
              <a:solidFill>
                <a:srgbClr val="000000"/>
              </a:solidFill>
            </a:endParaRPr>
          </a:p>
          <a:p>
            <a:pPr marL="0" marR="0" indent="0" algn="just" rtl="0">
              <a:buNone/>
            </a:pPr>
            <a:r>
              <a:rPr lang="ko-KR" altLang="en-US" sz="1600" b="0" i="0" u="none" strike="noStrike" baseline="0" dirty="0">
                <a:solidFill>
                  <a:srgbClr val="000000"/>
                </a:solidFill>
              </a:rPr>
              <a:t>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</a:rPr>
              <a:t>}</a:t>
            </a:r>
            <a:endParaRPr lang="en-US" altLang="ko-KR" sz="16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553910" y="2918895"/>
            <a:ext cx="8212138" cy="296227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&lt;link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rel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"stylesheet"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"mystyle.css"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This is a headline.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This is a paragraph.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9135" y="1747323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 err="1">
                <a:solidFill>
                  <a:srgbClr val="FF0000"/>
                </a:solidFill>
              </a:rPr>
              <a:t>mystyle.css</a:t>
            </a:r>
            <a:endParaRPr lang="ko-KR" altLang="en-US" i="1" dirty="0">
              <a:solidFill>
                <a:srgbClr val="FF0000"/>
              </a:solidFill>
            </a:endParaRPr>
          </a:p>
        </p:txBody>
      </p:sp>
      <p:sp>
        <p:nvSpPr>
          <p:cNvPr id="7" name="자유형 6"/>
          <p:cNvSpPr/>
          <p:nvPr/>
        </p:nvSpPr>
        <p:spPr bwMode="auto">
          <a:xfrm>
            <a:off x="-389075" y="2298903"/>
            <a:ext cx="1247785" cy="1715366"/>
          </a:xfrm>
          <a:custGeom>
            <a:avLst/>
            <a:gdLst>
              <a:gd name="connsiteX0" fmla="*/ 1247785 w 1247785"/>
              <a:gd name="connsiteY0" fmla="*/ 1715366 h 1715366"/>
              <a:gd name="connsiteX1" fmla="*/ 771535 w 1247785"/>
              <a:gd name="connsiteY1" fmla="*/ 1686791 h 1715366"/>
              <a:gd name="connsiteX2" fmla="*/ 676285 w 1247785"/>
              <a:gd name="connsiteY2" fmla="*/ 1667741 h 1715366"/>
              <a:gd name="connsiteX3" fmla="*/ 571510 w 1247785"/>
              <a:gd name="connsiteY3" fmla="*/ 1629641 h 1715366"/>
              <a:gd name="connsiteX4" fmla="*/ 400060 w 1247785"/>
              <a:gd name="connsiteY4" fmla="*/ 1562966 h 1715366"/>
              <a:gd name="connsiteX5" fmla="*/ 228610 w 1247785"/>
              <a:gd name="connsiteY5" fmla="*/ 1458191 h 1715366"/>
              <a:gd name="connsiteX6" fmla="*/ 133360 w 1247785"/>
              <a:gd name="connsiteY6" fmla="*/ 1381991 h 1715366"/>
              <a:gd name="connsiteX7" fmla="*/ 95260 w 1247785"/>
              <a:gd name="connsiteY7" fmla="*/ 1315316 h 1715366"/>
              <a:gd name="connsiteX8" fmla="*/ 76210 w 1247785"/>
              <a:gd name="connsiteY8" fmla="*/ 1286741 h 1715366"/>
              <a:gd name="connsiteX9" fmla="*/ 47635 w 1247785"/>
              <a:gd name="connsiteY9" fmla="*/ 1239116 h 1715366"/>
              <a:gd name="connsiteX10" fmla="*/ 19060 w 1247785"/>
              <a:gd name="connsiteY10" fmla="*/ 1153391 h 1715366"/>
              <a:gd name="connsiteX11" fmla="*/ 9535 w 1247785"/>
              <a:gd name="connsiteY11" fmla="*/ 1096241 h 1715366"/>
              <a:gd name="connsiteX12" fmla="*/ 9535 w 1247785"/>
              <a:gd name="connsiteY12" fmla="*/ 829541 h 1715366"/>
              <a:gd name="connsiteX13" fmla="*/ 28585 w 1247785"/>
              <a:gd name="connsiteY13" fmla="*/ 686666 h 1715366"/>
              <a:gd name="connsiteX14" fmla="*/ 57160 w 1247785"/>
              <a:gd name="connsiteY14" fmla="*/ 534266 h 1715366"/>
              <a:gd name="connsiteX15" fmla="*/ 76210 w 1247785"/>
              <a:gd name="connsiteY15" fmla="*/ 458066 h 1715366"/>
              <a:gd name="connsiteX16" fmla="*/ 114310 w 1247785"/>
              <a:gd name="connsiteY16" fmla="*/ 391391 h 1715366"/>
              <a:gd name="connsiteX17" fmla="*/ 133360 w 1247785"/>
              <a:gd name="connsiteY17" fmla="*/ 315191 h 1715366"/>
              <a:gd name="connsiteX18" fmla="*/ 190510 w 1247785"/>
              <a:gd name="connsiteY18" fmla="*/ 219941 h 1715366"/>
              <a:gd name="connsiteX19" fmla="*/ 209560 w 1247785"/>
              <a:gd name="connsiteY19" fmla="*/ 191366 h 1715366"/>
              <a:gd name="connsiteX20" fmla="*/ 238135 w 1247785"/>
              <a:gd name="connsiteY20" fmla="*/ 172316 h 1715366"/>
              <a:gd name="connsiteX21" fmla="*/ 266710 w 1247785"/>
              <a:gd name="connsiteY21" fmla="*/ 134216 h 1715366"/>
              <a:gd name="connsiteX22" fmla="*/ 342910 w 1247785"/>
              <a:gd name="connsiteY22" fmla="*/ 105641 h 1715366"/>
              <a:gd name="connsiteX23" fmla="*/ 371485 w 1247785"/>
              <a:gd name="connsiteY23" fmla="*/ 86591 h 1715366"/>
              <a:gd name="connsiteX24" fmla="*/ 542935 w 1247785"/>
              <a:gd name="connsiteY24" fmla="*/ 67541 h 1715366"/>
              <a:gd name="connsiteX25" fmla="*/ 685810 w 1247785"/>
              <a:gd name="connsiteY25" fmla="*/ 38966 h 1715366"/>
              <a:gd name="connsiteX26" fmla="*/ 847735 w 1247785"/>
              <a:gd name="connsiteY26" fmla="*/ 19916 h 1715366"/>
              <a:gd name="connsiteX27" fmla="*/ 914410 w 1247785"/>
              <a:gd name="connsiteY27" fmla="*/ 866 h 1715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47785" h="1715366">
                <a:moveTo>
                  <a:pt x="1247785" y="1715366"/>
                </a:moveTo>
                <a:cubicBezTo>
                  <a:pt x="999693" y="1708069"/>
                  <a:pt x="970926" y="1717467"/>
                  <a:pt x="771535" y="1686791"/>
                </a:cubicBezTo>
                <a:cubicBezTo>
                  <a:pt x="739533" y="1681868"/>
                  <a:pt x="707418" y="1676636"/>
                  <a:pt x="676285" y="1667741"/>
                </a:cubicBezTo>
                <a:cubicBezTo>
                  <a:pt x="640552" y="1657532"/>
                  <a:pt x="606257" y="1642821"/>
                  <a:pt x="571510" y="1629641"/>
                </a:cubicBezTo>
                <a:cubicBezTo>
                  <a:pt x="514176" y="1607894"/>
                  <a:pt x="453300" y="1593389"/>
                  <a:pt x="400060" y="1562966"/>
                </a:cubicBezTo>
                <a:cubicBezTo>
                  <a:pt x="363744" y="1542214"/>
                  <a:pt x="247757" y="1477338"/>
                  <a:pt x="228610" y="1458191"/>
                </a:cubicBezTo>
                <a:cubicBezTo>
                  <a:pt x="167894" y="1397475"/>
                  <a:pt x="200236" y="1422117"/>
                  <a:pt x="133360" y="1381991"/>
                </a:cubicBezTo>
                <a:cubicBezTo>
                  <a:pt x="64264" y="1289863"/>
                  <a:pt x="131623" y="1388042"/>
                  <a:pt x="95260" y="1315316"/>
                </a:cubicBezTo>
                <a:cubicBezTo>
                  <a:pt x="90140" y="1305077"/>
                  <a:pt x="82277" y="1296449"/>
                  <a:pt x="76210" y="1286741"/>
                </a:cubicBezTo>
                <a:cubicBezTo>
                  <a:pt x="66398" y="1271042"/>
                  <a:pt x="55914" y="1255675"/>
                  <a:pt x="47635" y="1239116"/>
                </a:cubicBezTo>
                <a:cubicBezTo>
                  <a:pt x="33661" y="1211167"/>
                  <a:pt x="25123" y="1183707"/>
                  <a:pt x="19060" y="1153391"/>
                </a:cubicBezTo>
                <a:cubicBezTo>
                  <a:pt x="15272" y="1134453"/>
                  <a:pt x="12710" y="1115291"/>
                  <a:pt x="9535" y="1096241"/>
                </a:cubicBezTo>
                <a:cubicBezTo>
                  <a:pt x="-2181" y="920507"/>
                  <a:pt x="-4139" y="993631"/>
                  <a:pt x="9535" y="829541"/>
                </a:cubicBezTo>
                <a:cubicBezTo>
                  <a:pt x="18906" y="717084"/>
                  <a:pt x="11054" y="756789"/>
                  <a:pt x="28585" y="686666"/>
                </a:cubicBezTo>
                <a:cubicBezTo>
                  <a:pt x="46809" y="486205"/>
                  <a:pt x="21599" y="652801"/>
                  <a:pt x="57160" y="534266"/>
                </a:cubicBezTo>
                <a:cubicBezTo>
                  <a:pt x="65311" y="507095"/>
                  <a:pt x="63638" y="483209"/>
                  <a:pt x="76210" y="458066"/>
                </a:cubicBezTo>
                <a:cubicBezTo>
                  <a:pt x="97113" y="416260"/>
                  <a:pt x="97611" y="441488"/>
                  <a:pt x="114310" y="391391"/>
                </a:cubicBezTo>
                <a:cubicBezTo>
                  <a:pt x="122589" y="366553"/>
                  <a:pt x="121651" y="338609"/>
                  <a:pt x="133360" y="315191"/>
                </a:cubicBezTo>
                <a:cubicBezTo>
                  <a:pt x="162649" y="256613"/>
                  <a:pt x="144534" y="288905"/>
                  <a:pt x="190510" y="219941"/>
                </a:cubicBezTo>
                <a:cubicBezTo>
                  <a:pt x="196860" y="210416"/>
                  <a:pt x="200035" y="197716"/>
                  <a:pt x="209560" y="191366"/>
                </a:cubicBezTo>
                <a:cubicBezTo>
                  <a:pt x="219085" y="185016"/>
                  <a:pt x="230040" y="180411"/>
                  <a:pt x="238135" y="172316"/>
                </a:cubicBezTo>
                <a:cubicBezTo>
                  <a:pt x="249360" y="161091"/>
                  <a:pt x="254657" y="144547"/>
                  <a:pt x="266710" y="134216"/>
                </a:cubicBezTo>
                <a:cubicBezTo>
                  <a:pt x="287220" y="116636"/>
                  <a:pt x="318048" y="111857"/>
                  <a:pt x="342910" y="105641"/>
                </a:cubicBezTo>
                <a:cubicBezTo>
                  <a:pt x="352435" y="99291"/>
                  <a:pt x="360766" y="90611"/>
                  <a:pt x="371485" y="86591"/>
                </a:cubicBezTo>
                <a:cubicBezTo>
                  <a:pt x="407911" y="72931"/>
                  <a:pt x="535404" y="68120"/>
                  <a:pt x="542935" y="67541"/>
                </a:cubicBezTo>
                <a:cubicBezTo>
                  <a:pt x="600082" y="48492"/>
                  <a:pt x="592657" y="49316"/>
                  <a:pt x="685810" y="38966"/>
                </a:cubicBezTo>
                <a:cubicBezTo>
                  <a:pt x="796976" y="26614"/>
                  <a:pt x="743006" y="33007"/>
                  <a:pt x="847735" y="19916"/>
                </a:cubicBezTo>
                <a:cubicBezTo>
                  <a:pt x="886877" y="-6179"/>
                  <a:pt x="864862" y="866"/>
                  <a:pt x="914410" y="86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C1C3FB3C-88DC-A2B9-6782-F738A0B76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4343" name="_x166601040">
            <a:extLst>
              <a:ext uri="{FF2B5EF4-FFF2-40B4-BE49-F238E27FC236}">
                <a16:creationId xmlns:a16="http://schemas.microsoft.com/office/drawing/2014/main" id="{73C5E28A-30B2-49A6-A804-5047A7586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261" y="4813417"/>
            <a:ext cx="3878581" cy="162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217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BAC5298-EF9B-8517-B6FB-37E18483A680}"/>
              </a:ext>
            </a:extLst>
          </p:cNvPr>
          <p:cNvSpPr txBox="1">
            <a:spLocks/>
          </p:cNvSpPr>
          <p:nvPr/>
        </p:nvSpPr>
        <p:spPr bwMode="auto">
          <a:xfrm>
            <a:off x="604620" y="3011299"/>
            <a:ext cx="8143875" cy="240982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"color: red"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This is a headline.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style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"color: #0026ff"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This is a paragraph.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49828C-00E4-D405-85CB-942E9360C10A}"/>
              </a:ext>
            </a:extLst>
          </p:cNvPr>
          <p:cNvSpPr txBox="1"/>
          <p:nvPr/>
        </p:nvSpPr>
        <p:spPr>
          <a:xfrm>
            <a:off x="612648" y="2762250"/>
            <a:ext cx="1665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inlinestyle.html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각각의 </a:t>
            </a:r>
            <a:r>
              <a:rPr lang="en-US" altLang="ko-KR" dirty="0"/>
              <a:t>HTML </a:t>
            </a:r>
            <a:r>
              <a:rPr lang="ko-KR" altLang="en-US" dirty="0"/>
              <a:t>요소마다 스타일을 지정하는 것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개 이상의 선언이 있다면 반드시 끝에 </a:t>
            </a:r>
            <a:r>
              <a:rPr lang="en-US" altLang="ko-KR" dirty="0"/>
              <a:t>;</a:t>
            </a:r>
            <a:r>
              <a:rPr lang="ko-KR" altLang="en-US" dirty="0"/>
              <a:t>을 적어 준다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 bwMode="auto">
          <a:xfrm>
            <a:off x="612648" y="4378553"/>
            <a:ext cx="5286375" cy="51435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1D9559C-1953-3102-802F-CBC6DA6A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스타일 시트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69BA34C-95B5-6F38-5C2D-DE308BDFB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5361" name="_x394122024">
            <a:extLst>
              <a:ext uri="{FF2B5EF4-FFF2-40B4-BE49-F238E27FC236}">
                <a16:creationId xmlns:a16="http://schemas.microsoft.com/office/drawing/2014/main" id="{4D06DFB3-756E-9E56-F8D6-472F56CCE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207" y="2630299"/>
            <a:ext cx="3659227" cy="153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9250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하나의 요소에 대하여 외부</a:t>
            </a:r>
            <a:r>
              <a:rPr lang="en-US" altLang="ko-KR" dirty="0"/>
              <a:t>, </a:t>
            </a:r>
            <a:r>
              <a:rPr lang="ko-KR" altLang="en-US" dirty="0"/>
              <a:t>내부</a:t>
            </a:r>
            <a:r>
              <a:rPr lang="en-US" altLang="ko-KR" dirty="0"/>
              <a:t>, </a:t>
            </a:r>
            <a:r>
              <a:rPr lang="ko-KR" altLang="en-US" dirty="0" err="1"/>
              <a:t>인라인</a:t>
            </a:r>
            <a:r>
              <a:rPr lang="ko-KR" altLang="en-US" dirty="0"/>
              <a:t> 스타일이 서로 다르게 지정하고 있다면 어떤 스타일이 사용될까</a:t>
            </a:r>
            <a:r>
              <a:rPr lang="en-US" altLang="ko-KR" dirty="0"/>
              <a:t>?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공통적으로 사용되는 스타일은 </a:t>
            </a:r>
            <a:r>
              <a:rPr lang="en-US" altLang="ko-KR" dirty="0"/>
              <a:t>&lt;body&gt;</a:t>
            </a:r>
            <a:r>
              <a:rPr lang="ko-KR" altLang="en-US" dirty="0"/>
              <a:t>요소의 스타일에 정의하는 것이 편리하다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AD917B7-6A71-3458-9D0C-EBD2C252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</a:t>
            </a:r>
            <a:r>
              <a:rPr lang="en-US" altLang="ko-KR" dirty="0"/>
              <a:t> </a:t>
            </a:r>
            <a:r>
              <a:rPr lang="ko-KR" altLang="en-US" dirty="0"/>
              <a:t>스타일 시트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F14096-627D-446B-A347-16C80479C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74" y="2471982"/>
            <a:ext cx="7977476" cy="191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2296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0C035-54C2-5B74-30EA-B59F0656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스타일의 상속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30D67D-85A3-69EB-5111-981B8BA0E46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부모 요소의 스타일은 자식 요소에게 상속된다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en-US" altLang="ko-KR" dirty="0"/>
              <a:t>&lt;body&gt; </a:t>
            </a:r>
            <a:r>
              <a:rPr lang="ko-KR" altLang="en-US" dirty="0"/>
              <a:t>요소 안에 </a:t>
            </a:r>
            <a:r>
              <a:rPr lang="en-US" altLang="ko-KR" dirty="0"/>
              <a:t>&lt;p&gt; </a:t>
            </a:r>
            <a:r>
              <a:rPr lang="ko-KR" altLang="en-US" dirty="0"/>
              <a:t>요소가 포함되어 있다고 하자</a:t>
            </a:r>
            <a:r>
              <a:rPr lang="en-US" altLang="ko-KR" dirty="0"/>
              <a:t>. &lt;body&gt; </a:t>
            </a:r>
            <a:r>
              <a:rPr lang="ko-KR" altLang="en-US" dirty="0"/>
              <a:t>요소 스타일은 </a:t>
            </a:r>
            <a:r>
              <a:rPr lang="en-US" altLang="ko-KR" dirty="0"/>
              <a:t>&lt;p&gt; </a:t>
            </a:r>
            <a:r>
              <a:rPr lang="ko-KR" altLang="en-US" dirty="0"/>
              <a:t>요소로 상속된다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1A19FCB-05EF-9D22-D44B-AF9BA488E3B5}"/>
              </a:ext>
            </a:extLst>
          </p:cNvPr>
          <p:cNvSpPr txBox="1">
            <a:spLocks/>
          </p:cNvSpPr>
          <p:nvPr/>
        </p:nvSpPr>
        <p:spPr bwMode="auto">
          <a:xfrm>
            <a:off x="604620" y="3011299"/>
            <a:ext cx="8143875" cy="240982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L="0" indent="0" algn="l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L="0" marR="0" indent="0" algn="l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blue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L="0" marR="0" indent="0" algn="l" rtl="0">
              <a:buNone/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L="0" marR="0" indent="0" algn="l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L="0" marR="0" indent="0" algn="l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L="0" marR="0" indent="0" algn="l" rtl="0">
              <a:buNone/>
            </a:pP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&lt;p&gt;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나의 색상은 어떻게 될까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?</a:t>
            </a: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&lt;/p&gt;</a:t>
            </a:r>
          </a:p>
          <a:p>
            <a:pPr marL="0" marR="0" indent="0" algn="l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  <a:endParaRPr lang="ko-KR" altLang="en-US" sz="14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95752-816F-FFF8-5FDF-35C3F1B1D79B}"/>
              </a:ext>
            </a:extLst>
          </p:cNvPr>
          <p:cNvSpPr txBox="1"/>
          <p:nvPr/>
        </p:nvSpPr>
        <p:spPr>
          <a:xfrm>
            <a:off x="612648" y="2762250"/>
            <a:ext cx="1135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>
                <a:solidFill>
                  <a:srgbClr val="0070C0"/>
                </a:solidFill>
                <a:latin typeface="Century Schoolbook" panose="02040604050505020304" pitchFamily="18" charset="0"/>
              </a:rPr>
              <a:t>body.html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16385" name="_x166640512">
            <a:extLst>
              <a:ext uri="{FF2B5EF4-FFF2-40B4-BE49-F238E27FC236}">
                <a16:creationId xmlns:a16="http://schemas.microsoft.com/office/drawing/2014/main" id="{C936FE50-A6EA-8CAC-4184-021C9D7C2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348" y="3421062"/>
            <a:ext cx="4401444" cy="1178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382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73638-D9FF-81AB-D265-57DD37F0F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우선순위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14AA32-2E6D-50C4-2693-D4B0BA6988D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하나의 요소에 대하여 외부</a:t>
            </a:r>
            <a:r>
              <a:rPr lang="en-US" altLang="ko-KR" dirty="0"/>
              <a:t>, </a:t>
            </a:r>
            <a:r>
              <a:rPr lang="ko-KR" altLang="en-US" dirty="0"/>
              <a:t>내부</a:t>
            </a:r>
            <a:r>
              <a:rPr lang="en-US" altLang="ko-KR" dirty="0"/>
              <a:t>, </a:t>
            </a:r>
            <a:r>
              <a:rPr lang="ko-KR" altLang="en-US" dirty="0"/>
              <a:t>인라인 스타일이 서로 다르게 지정되었다면 과연 어떤 스타일이 사용될까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5396A7-970A-0EB4-D709-36EF310B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84" y="2482439"/>
            <a:ext cx="6352373" cy="313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049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CSS</a:t>
            </a:r>
            <a:r>
              <a:rPr lang="ko-KR" altLang="en-US" dirty="0"/>
              <a:t>의 속성들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259512D-7071-DA3D-32BC-2A537F079C4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808634" y="1600200"/>
            <a:ext cx="5761682" cy="4495800"/>
          </a:xfrm>
        </p:spPr>
      </p:pic>
    </p:spTree>
    <p:extLst>
      <p:ext uri="{BB962C8B-B14F-4D97-AF65-F5344CB8AC3E}">
        <p14:creationId xmlns:p14="http://schemas.microsoft.com/office/powerpoint/2010/main" val="2753600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247B1-D3BC-95CD-9249-857490AF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7B9B8-549D-AB37-AD8F-D22D9D4378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57175" indent="-257175">
              <a:buFont typeface="+mj-lt"/>
              <a:buAutoNum type="arabicPeriod"/>
            </a:pPr>
            <a:r>
              <a:rPr lang="ko-KR" altLang="en-US" dirty="0"/>
              <a:t>외부에 있는 </a:t>
            </a:r>
            <a:r>
              <a:rPr lang="en-US" altLang="ko-KR" dirty="0"/>
              <a:t>myfile.css</a:t>
            </a:r>
            <a:r>
              <a:rPr lang="ko-KR" altLang="en-US" dirty="0"/>
              <a:t>를 </a:t>
            </a:r>
            <a:r>
              <a:rPr lang="en-US" altLang="ko-KR" dirty="0"/>
              <a:t>HTML </a:t>
            </a:r>
            <a:r>
              <a:rPr lang="ko-KR" altLang="en-US" dirty="0"/>
              <a:t>파일로 불러들이는 문장을 작성해보자</a:t>
            </a:r>
            <a:r>
              <a:rPr lang="en-US" altLang="ko-KR" dirty="0"/>
              <a:t>. </a:t>
            </a:r>
          </a:p>
          <a:p>
            <a:pPr marL="257175" indent="-257175">
              <a:buFont typeface="+mj-lt"/>
              <a:buAutoNum type="arabicPeriod"/>
            </a:pPr>
            <a:r>
              <a:rPr lang="ko-KR" altLang="en-US" dirty="0"/>
              <a:t>내부</a:t>
            </a:r>
            <a:r>
              <a:rPr lang="en-US" altLang="ko-KR" dirty="0"/>
              <a:t>, </a:t>
            </a:r>
            <a:r>
              <a:rPr lang="ko-KR" altLang="en-US" dirty="0"/>
              <a:t>외부</a:t>
            </a:r>
            <a:r>
              <a:rPr lang="en-US" altLang="ko-KR" dirty="0"/>
              <a:t>, </a:t>
            </a:r>
            <a:r>
              <a:rPr lang="ko-KR" altLang="en-US" dirty="0"/>
              <a:t>인라인 </a:t>
            </a:r>
            <a:r>
              <a:rPr lang="en-US" altLang="ko-KR" dirty="0"/>
              <a:t>CSS </a:t>
            </a:r>
            <a:r>
              <a:rPr lang="ko-KR" altLang="en-US" dirty="0"/>
              <a:t>중에서 가장 우선순위가 높은 것은 무엇인가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32F7CE-7BA5-E377-6D70-5AAAF3D29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993" y="3507856"/>
            <a:ext cx="1168004" cy="123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2505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EABE5-F693-EEC7-823B-BB67CEED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Lab: </a:t>
            </a:r>
            <a:r>
              <a:rPr lang="ko-KR" altLang="en-US" dirty="0"/>
              <a:t>외부 </a:t>
            </a:r>
            <a:r>
              <a:rPr lang="en-US" altLang="ko-KR" dirty="0"/>
              <a:t>CSS </a:t>
            </a:r>
            <a:r>
              <a:rPr lang="ko-KR" altLang="en-US" dirty="0"/>
              <a:t>파일 이용하기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BC8440-44D6-A0AA-1561-1BDDB29C286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커피 전문점 홈페이지에 외부 </a:t>
            </a:r>
            <a:r>
              <a:rPr lang="en-US" altLang="ko-KR" dirty="0"/>
              <a:t>CSS </a:t>
            </a:r>
            <a:r>
              <a:rPr lang="ko-KR" altLang="en-US" dirty="0"/>
              <a:t>파일을 작성하여 적용해보자</a:t>
            </a:r>
            <a:r>
              <a:rPr lang="en-US" altLang="ko-KR" dirty="0"/>
              <a:t>. </a:t>
            </a:r>
            <a:r>
              <a:rPr lang="ko-KR" altLang="en-US" dirty="0"/>
              <a:t>외부 스타일 파일 </a:t>
            </a:r>
            <a:r>
              <a:rPr lang="en-US" altLang="ko-KR" dirty="0"/>
              <a:t>coffee1.css</a:t>
            </a:r>
            <a:r>
              <a:rPr lang="ko-KR" altLang="en-US" dirty="0"/>
              <a:t>을 생성하고 여기에 </a:t>
            </a:r>
            <a:r>
              <a:rPr lang="en-US" altLang="ko-KR" dirty="0"/>
              <a:t>CSS </a:t>
            </a:r>
            <a:r>
              <a:rPr lang="ko-KR" altLang="en-US" dirty="0"/>
              <a:t>문장들을 저장한 후에 </a:t>
            </a:r>
            <a:r>
              <a:rPr lang="en-US" altLang="ko-KR" dirty="0"/>
              <a:t>coffee1.html</a:t>
            </a:r>
            <a:r>
              <a:rPr lang="ko-KR" altLang="en-US" dirty="0"/>
              <a:t>에서 </a:t>
            </a:r>
            <a:r>
              <a:rPr lang="en-US" altLang="ko-KR" dirty="0"/>
              <a:t>coffee1.css </a:t>
            </a:r>
            <a:r>
              <a:rPr lang="ko-KR" altLang="en-US" dirty="0"/>
              <a:t>파일을 읽어 들여 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EEC6D36-C12C-DD62-C850-FA00F373B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7409" name="_x399475344">
            <a:extLst>
              <a:ext uri="{FF2B5EF4-FFF2-40B4-BE49-F238E27FC236}">
                <a16:creationId xmlns:a16="http://schemas.microsoft.com/office/drawing/2014/main" id="{5542DA00-52CB-6BB9-ADB6-02D1B973D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824" y="2765833"/>
            <a:ext cx="4049494" cy="343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1229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3D56A-F599-6A9C-A54B-170EA1E84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B2283AE-1DC2-912A-165F-8438AC07B1BF}"/>
              </a:ext>
            </a:extLst>
          </p:cNvPr>
          <p:cNvSpPr txBox="1">
            <a:spLocks/>
          </p:cNvSpPr>
          <p:nvPr/>
        </p:nvSpPr>
        <p:spPr bwMode="auto">
          <a:xfrm>
            <a:off x="612648" y="1743814"/>
            <a:ext cx="8143875" cy="130720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yellow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h1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red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p.first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green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L="0" marR="0" indent="0" algn="just" rtl="0">
              <a:buNone/>
            </a:pPr>
            <a:r>
              <a:rPr lang="en-US" altLang="ko-KR" sz="14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p.second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color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4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blue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  <a:endParaRPr lang="ko-KR" altLang="en-US" sz="1400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28B72A-5B0E-04CA-A21A-2639A4C53A87}"/>
              </a:ext>
            </a:extLst>
          </p:cNvPr>
          <p:cNvSpPr txBox="1"/>
          <p:nvPr/>
        </p:nvSpPr>
        <p:spPr>
          <a:xfrm>
            <a:off x="620676" y="1494765"/>
            <a:ext cx="1144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coffee2.css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919E0BD-2CE7-0269-B816-D4136345E186}"/>
              </a:ext>
            </a:extLst>
          </p:cNvPr>
          <p:cNvSpPr txBox="1">
            <a:spLocks/>
          </p:cNvSpPr>
          <p:nvPr/>
        </p:nvSpPr>
        <p:spPr bwMode="auto">
          <a:xfrm>
            <a:off x="612647" y="3300066"/>
            <a:ext cx="8143875" cy="332933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&lt;title&gt;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Web Programming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&lt;/title&gt;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&lt;link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"text/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css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rel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"stylesheet"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href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"coffee2.css"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Welcome to Web Coffee!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img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src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"coffee.gif"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width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"100"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height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"100"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"first"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하우스 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로스팅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원두의 신선한 커피를 맛보세요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! 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rgbClr val="000000"/>
                </a:solidFill>
              </a:rPr>
              <a:t>…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6785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색상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E08D624-0ABA-E28C-2674-B9FACB3414B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95300" y="1769446"/>
            <a:ext cx="8153400" cy="2726859"/>
          </a:xfrm>
        </p:spPr>
      </p:pic>
    </p:spTree>
    <p:extLst>
      <p:ext uri="{BB962C8B-B14F-4D97-AF65-F5344CB8AC3E}">
        <p14:creationId xmlns:p14="http://schemas.microsoft.com/office/powerpoint/2010/main" val="3453380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16</a:t>
            </a:r>
            <a:r>
              <a:rPr lang="ko-KR" altLang="en-US" dirty="0"/>
              <a:t>진수로 색상 나타내기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16</a:t>
            </a:r>
            <a:r>
              <a:rPr lang="ko-KR" altLang="en-US" dirty="0"/>
              <a:t>진수 코드는 빨간색</a:t>
            </a:r>
            <a:r>
              <a:rPr lang="en-US" altLang="ko-KR" dirty="0"/>
              <a:t>, </a:t>
            </a:r>
            <a:r>
              <a:rPr lang="ko-KR" altLang="en-US" dirty="0"/>
              <a:t>녹색</a:t>
            </a:r>
            <a:r>
              <a:rPr lang="en-US" altLang="ko-KR" dirty="0"/>
              <a:t>, </a:t>
            </a:r>
            <a:r>
              <a:rPr lang="ko-KR" altLang="en-US" dirty="0"/>
              <a:t>청색 값을 각각 </a:t>
            </a:r>
            <a:r>
              <a:rPr lang="en-US" altLang="ko-KR" dirty="0"/>
              <a:t>2</a:t>
            </a:r>
            <a:r>
              <a:rPr lang="ko-KR" altLang="en-US" dirty="0"/>
              <a:t>자리의 </a:t>
            </a:r>
            <a:r>
              <a:rPr lang="en-US" altLang="ko-KR" dirty="0"/>
              <a:t>16</a:t>
            </a:r>
            <a:r>
              <a:rPr lang="ko-KR" altLang="en-US" dirty="0"/>
              <a:t>진수로 표시한 것</a:t>
            </a:r>
          </a:p>
          <a:p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38175" y="3990975"/>
            <a:ext cx="8212138" cy="114300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body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dirty="0">
                <a:latin typeface="Trebuchet MS" panose="020B0603020202020204" pitchFamily="34" charset="0"/>
                <a:ea typeface="굴림체"/>
              </a:rPr>
              <a:t>{</a:t>
            </a: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FF0000"/>
                </a:solidFill>
                <a:latin typeface="Trebuchet MS" panose="020B0603020202020204" pitchFamily="34" charset="0"/>
                <a:ea typeface="굴림체"/>
              </a:rPr>
              <a:t>	background-color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: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체"/>
              </a:rPr>
              <a:t> #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체"/>
              </a:rPr>
              <a:t>ffd800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체"/>
              </a:rPr>
              <a:t>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D61F12-ED78-E0BD-2720-84EF602AF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2043112"/>
            <a:ext cx="80105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233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색상의 이름으로 나타내기</a:t>
            </a:r>
          </a:p>
        </p:txBody>
      </p:sp>
      <p:pic>
        <p:nvPicPr>
          <p:cNvPr id="16385" name="_x252800968" descr="EMB00001f04bda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669" y="1561315"/>
            <a:ext cx="3609975" cy="3204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683442" y="4972144"/>
            <a:ext cx="8212138" cy="114300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body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dirty="0">
                <a:latin typeface="Trebuchet MS" panose="020B0603020202020204" pitchFamily="34" charset="0"/>
                <a:ea typeface="굴림체"/>
              </a:rPr>
              <a:t>{</a:t>
            </a: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FF0000"/>
                </a:solidFill>
                <a:latin typeface="Trebuchet MS" panose="020B0603020202020204" pitchFamily="34" charset="0"/>
                <a:ea typeface="굴림체"/>
              </a:rPr>
              <a:t>	background-color</a:t>
            </a: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: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체"/>
              </a:rPr>
              <a:t> aqua;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}</a:t>
            </a:r>
            <a:endParaRPr lang="en-US" altLang="ko-KR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6110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RGB</a:t>
            </a:r>
            <a:r>
              <a:rPr lang="en-US" altLang="ko-KR" dirty="0"/>
              <a:t> </a:t>
            </a:r>
            <a:r>
              <a:rPr lang="ko-KR" altLang="en-US" dirty="0"/>
              <a:t>값으로</a:t>
            </a:r>
            <a:r>
              <a:rPr lang="en-US" altLang="ko-KR" dirty="0"/>
              <a:t> </a:t>
            </a:r>
            <a:r>
              <a:rPr lang="ko-KR" altLang="en-US" dirty="0"/>
              <a:t>표시하기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701549" y="1798057"/>
            <a:ext cx="8212138" cy="261937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body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{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FF0000"/>
                </a:solidFill>
                <a:latin typeface="Trebuchet MS" panose="020B0603020202020204" pitchFamily="34" charset="0"/>
                <a:ea typeface="굴림체"/>
              </a:rPr>
              <a:t>	background-color:</a:t>
            </a: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 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체"/>
              </a:rPr>
              <a:t>rgb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체"/>
              </a:rPr>
              <a:t>(60%, 40%, 10%);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0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</a:rPr>
              <a:t> }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endParaRPr lang="en-US" altLang="ko-KR" sz="1600" dirty="0">
              <a:latin typeface="Trebuchet MS" panose="020B0603020202020204" pitchFamily="34" charset="0"/>
              <a:ea typeface="굴림체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dirty="0">
                <a:latin typeface="Trebuchet MS" panose="020B0603020202020204" pitchFamily="34" charset="0"/>
                <a:ea typeface="굴림체"/>
              </a:rPr>
              <a:t>body</a:t>
            </a: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{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FF0000"/>
                </a:solidFill>
                <a:latin typeface="Trebuchet MS" panose="020B0603020202020204" pitchFamily="34" charset="0"/>
                <a:ea typeface="굴림체"/>
              </a:rPr>
              <a:t>	background-color:</a:t>
            </a:r>
            <a:r>
              <a:rPr lang="ko-KR" altLang="en-US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 </a:t>
            </a:r>
            <a:r>
              <a:rPr lang="en-US" altLang="ko-KR" sz="1600" kern="0" dirty="0" err="1">
                <a:solidFill>
                  <a:srgbClr val="0000FF"/>
                </a:solidFill>
                <a:latin typeface="Trebuchet MS" panose="020B0603020202020204" pitchFamily="34" charset="0"/>
                <a:ea typeface="굴림체"/>
              </a:rPr>
              <a:t>rgb</a:t>
            </a:r>
            <a:r>
              <a:rPr lang="en-US" altLang="ko-KR" sz="1600" kern="0" dirty="0">
                <a:solidFill>
                  <a:srgbClr val="0000FF"/>
                </a:solidFill>
                <a:latin typeface="Trebuchet MS" panose="020B0603020202020204" pitchFamily="34" charset="0"/>
                <a:ea typeface="굴림체"/>
              </a:rPr>
              <a:t>(153, 102, 25);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127000" indent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54000" algn="l"/>
                <a:tab pos="254000" algn="l"/>
              </a:tabLst>
            </a:pPr>
            <a:r>
              <a:rPr lang="en-US" altLang="ko-KR" sz="1600" kern="0" dirty="0">
                <a:solidFill>
                  <a:srgbClr val="000000"/>
                </a:solidFill>
                <a:latin typeface="Trebuchet MS" panose="020B0603020202020204" pitchFamily="34" charset="0"/>
                <a:ea typeface="굴림체"/>
              </a:rPr>
              <a:t>}</a:t>
            </a:r>
            <a:endParaRPr lang="ko-KR" altLang="en-US" sz="1600" kern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8192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29ED1-DAB7-09C0-BED1-29EE8D77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원하는 색상을 찾는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2F9B14-0AE8-5434-B34B-EF03870FCD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VS code</a:t>
            </a:r>
            <a:r>
              <a:rPr lang="ko-KR" altLang="en-US" dirty="0"/>
              <a:t>에서는 색상을 나타내는 이름을 입력하면 해당 색상을 보여주고</a:t>
            </a:r>
            <a:r>
              <a:rPr lang="en-US" altLang="ko-KR" dirty="0"/>
              <a:t>, </a:t>
            </a:r>
            <a:r>
              <a:rPr lang="ko-KR" altLang="en-US" dirty="0"/>
              <a:t>이것을 클릭하면 다음과 같은 화면이 등장한다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71B565-33DC-05F8-DA5F-8FE77334D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505075"/>
            <a:ext cx="68389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59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dirty="0"/>
              <a:t>간략한 컬러 차트 작성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D0160C-1C43-CBD9-2B46-1350F274A697}"/>
              </a:ext>
            </a:extLst>
          </p:cNvPr>
          <p:cNvSpPr txBox="1">
            <a:spLocks/>
          </p:cNvSpPr>
          <p:nvPr/>
        </p:nvSpPr>
        <p:spPr bwMode="auto">
          <a:xfrm>
            <a:off x="500062" y="1897722"/>
            <a:ext cx="8143875" cy="496027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#6495ed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p.a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#ff0000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p.b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#00ff00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#0000ff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background-color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#888888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CSS Color Chart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"a"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Color #1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"b"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Color #2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"c"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Color #3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"d"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Color #4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B9660-89C8-12E6-4F21-07A573E617D3}"/>
              </a:ext>
            </a:extLst>
          </p:cNvPr>
          <p:cNvSpPr txBox="1"/>
          <p:nvPr/>
        </p:nvSpPr>
        <p:spPr>
          <a:xfrm>
            <a:off x="508090" y="1648674"/>
            <a:ext cx="1524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css_color.html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F5A8F3B-FA4E-472E-38A0-7A17C7EF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8433" name="_x166641088">
            <a:extLst>
              <a:ext uri="{FF2B5EF4-FFF2-40B4-BE49-F238E27FC236}">
                <a16:creationId xmlns:a16="http://schemas.microsoft.com/office/drawing/2014/main" id="{A514A753-1764-FAE9-1E9C-8274FBBD6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198" y="2166878"/>
            <a:ext cx="3982519" cy="252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020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247B1-D3BC-95CD-9249-857490AF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7B9B8-549D-AB37-AD8F-D22D9D4378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57175" indent="-257175">
              <a:buFont typeface="+mj-lt"/>
              <a:buAutoNum type="arabicPeriod"/>
            </a:pPr>
            <a:r>
              <a:rPr lang="ko-KR" altLang="en-US" dirty="0"/>
              <a:t>흰색을 나타내는 </a:t>
            </a:r>
            <a:r>
              <a:rPr lang="en-US" altLang="ko-KR" dirty="0"/>
              <a:t>16</a:t>
            </a:r>
            <a:r>
              <a:rPr lang="ko-KR" altLang="en-US" dirty="0"/>
              <a:t>진수 </a:t>
            </a:r>
            <a:r>
              <a:rPr lang="ko-KR" altLang="en-US" dirty="0" err="1"/>
              <a:t>리터럴를</a:t>
            </a:r>
            <a:r>
              <a:rPr lang="ko-KR" altLang="en-US" dirty="0"/>
              <a:t> 만들어보자</a:t>
            </a:r>
            <a:r>
              <a:rPr lang="en-US" altLang="ko-KR" dirty="0"/>
              <a:t>. </a:t>
            </a:r>
          </a:p>
          <a:p>
            <a:pPr marL="257175" indent="-257175">
              <a:buFont typeface="+mj-lt"/>
              <a:buAutoNum type="arabicPeriod"/>
            </a:pPr>
            <a:r>
              <a:rPr lang="en-US" altLang="ko-KR" dirty="0"/>
              <a:t>&lt;body&gt; </a:t>
            </a:r>
            <a:r>
              <a:rPr lang="ko-KR" altLang="en-US" dirty="0"/>
              <a:t>요소의 배경색을 녹색으로 지정하는 </a:t>
            </a:r>
            <a:r>
              <a:rPr lang="en-US" altLang="ko-KR" dirty="0"/>
              <a:t>CSS </a:t>
            </a:r>
            <a:r>
              <a:rPr lang="ko-KR" altLang="en-US" dirty="0"/>
              <a:t>문장을 작성해보자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32F7CE-7BA5-E377-6D70-5AAAF3D29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993" y="3507856"/>
            <a:ext cx="1168004" cy="123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7669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53F6AFA-AF19-A59A-6593-A56831F3B5F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CSS font </a:t>
            </a:r>
            <a:r>
              <a:rPr lang="ko-KR" altLang="en-US" dirty="0"/>
              <a:t>속성을 이용하면 폰트의 종류</a:t>
            </a:r>
            <a:r>
              <a:rPr lang="en-US" altLang="ko-KR" dirty="0"/>
              <a:t>,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장식</a:t>
            </a:r>
            <a:r>
              <a:rPr lang="en-US" altLang="ko-KR" dirty="0"/>
              <a:t>, </a:t>
            </a:r>
            <a:r>
              <a:rPr lang="ko-KR" altLang="en-US" dirty="0"/>
              <a:t>크기 등을 지정할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017BB3-5011-981D-3E0E-0DEBDC69D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769" y="2503046"/>
            <a:ext cx="5848462" cy="263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326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 지정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0" y="1878122"/>
            <a:ext cx="6415087" cy="1834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_x247679376" descr="EMB00001f04be7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59"/>
          <a:stretch>
            <a:fillRect/>
          </a:stretch>
        </p:blipFill>
        <p:spPr bwMode="auto">
          <a:xfrm>
            <a:off x="3038051" y="3261495"/>
            <a:ext cx="2728912" cy="3296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6784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B7EE7-D780-D9B8-7DE7-03C4FE96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</a:t>
            </a:r>
            <a:r>
              <a:rPr lang="en-US" altLang="ko-KR" dirty="0"/>
              <a:t> </a:t>
            </a:r>
            <a:r>
              <a:rPr lang="ko-KR" altLang="en-US" dirty="0"/>
              <a:t>선택 과정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03AD81C-2F86-85EA-A160-88096EADFBC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775" y="2514443"/>
            <a:ext cx="8153400" cy="2667314"/>
          </a:xfrm>
        </p:spPr>
      </p:pic>
    </p:spTree>
    <p:extLst>
      <p:ext uri="{BB962C8B-B14F-4D97-AF65-F5344CB8AC3E}">
        <p14:creationId xmlns:p14="http://schemas.microsoft.com/office/powerpoint/2010/main" val="184818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 패밀리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serif </a:t>
            </a:r>
            <a:r>
              <a:rPr lang="ko-KR" altLang="en-US" dirty="0"/>
              <a:t>폰트는 우아하고 전통적인 느낌</a:t>
            </a:r>
            <a:endParaRPr lang="en-US" altLang="ko-KR" dirty="0"/>
          </a:p>
          <a:p>
            <a:r>
              <a:rPr lang="en-US" altLang="ko-KR" dirty="0"/>
              <a:t>sans-serif</a:t>
            </a:r>
            <a:r>
              <a:rPr lang="ko-KR" altLang="en-US" dirty="0"/>
              <a:t>은 깔끔하고 </a:t>
            </a:r>
            <a:r>
              <a:rPr lang="ko-KR" altLang="en-US" dirty="0" err="1"/>
              <a:t>가독성이</a:t>
            </a:r>
            <a:r>
              <a:rPr lang="ko-KR" altLang="en-US" dirty="0"/>
              <a:t> 좋다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monospace</a:t>
            </a:r>
            <a:r>
              <a:rPr lang="ko-KR" altLang="en-US" dirty="0"/>
              <a:t>는 타자기 서체</a:t>
            </a:r>
            <a:endParaRPr lang="en-US" altLang="ko-KR" dirty="0"/>
          </a:p>
          <a:p>
            <a:r>
              <a:rPr lang="en-US" altLang="ko-KR" dirty="0"/>
              <a:t>cursive</a:t>
            </a:r>
            <a:r>
              <a:rPr lang="ko-KR" altLang="en-US" dirty="0"/>
              <a:t>와 </a:t>
            </a:r>
            <a:r>
              <a:rPr lang="en-US" altLang="ko-KR" dirty="0"/>
              <a:t>fantasy </a:t>
            </a:r>
            <a:r>
              <a:rPr lang="ko-KR" altLang="en-US" dirty="0"/>
              <a:t>폰트는 장난스러우며 </a:t>
            </a:r>
            <a:r>
              <a:rPr lang="ko-KR" altLang="en-US" dirty="0" err="1"/>
              <a:t>스타일리쉬한</a:t>
            </a:r>
            <a:r>
              <a:rPr lang="ko-KR" altLang="en-US" dirty="0"/>
              <a:t> 느낌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B9B95B-9A83-D91C-5F40-A77823D5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20" y="3510481"/>
            <a:ext cx="7363455" cy="20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3573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C58FA-ECE7-3F01-A10A-CEC3CD87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 크기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993BA4-F6F4-037F-4296-835E789942B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font-size </a:t>
            </a:r>
            <a:r>
              <a:rPr lang="ko-KR" altLang="en-US" dirty="0"/>
              <a:t>속성은 텍스트의 크기를 설정한다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(1) </a:t>
            </a:r>
            <a:r>
              <a:rPr lang="en-US" altLang="ko-KR" dirty="0" err="1"/>
              <a:t>px</a:t>
            </a:r>
            <a:r>
              <a:rPr lang="en-US" altLang="ko-KR" dirty="0"/>
              <a:t> </a:t>
            </a:r>
            <a:r>
              <a:rPr lang="ko-KR" altLang="en-US" dirty="0"/>
              <a:t>단위로 설정하기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5A935A-7F4E-E7EE-0E6E-43EDF5CA8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948" y="2182592"/>
            <a:ext cx="3837302" cy="16505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7A958E-45D5-784D-63E3-B0F86AB2E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23" y="4639052"/>
            <a:ext cx="79343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638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C58FA-ECE7-3F01-A10A-CEC3CD87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 크기 설정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37EDCD16-2A1D-E80F-ED72-CC2E108FBA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(2) % </a:t>
            </a:r>
            <a:r>
              <a:rPr lang="ko-KR" altLang="en-US" dirty="0"/>
              <a:t>단위로 설정하기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(3) </a:t>
            </a:r>
            <a:r>
              <a:rPr lang="en-US" altLang="ko-KR" dirty="0" err="1"/>
              <a:t>em</a:t>
            </a:r>
            <a:r>
              <a:rPr lang="en-US" altLang="ko-KR" dirty="0"/>
              <a:t> </a:t>
            </a:r>
            <a:r>
              <a:rPr lang="ko-KR" altLang="en-US" dirty="0"/>
              <a:t>단위로 설정하기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C7038D1-0675-9239-41ED-C30407EE7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62" y="1965874"/>
            <a:ext cx="6301400" cy="194602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BA2A2D9-EB99-2574-94BE-A7E53D0E6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62" y="4662085"/>
            <a:ext cx="6047903" cy="179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403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C58FA-ECE7-3F01-A10A-CEC3CD87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 크기 설정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37EDCD16-2A1D-E80F-ED72-CC2E108FBA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(4) </a:t>
            </a:r>
            <a:r>
              <a:rPr lang="ko-KR" altLang="en-US" dirty="0"/>
              <a:t>키워드로</a:t>
            </a:r>
            <a:r>
              <a:rPr lang="en-US" altLang="ko-KR" dirty="0"/>
              <a:t> </a:t>
            </a:r>
            <a:r>
              <a:rPr lang="ko-KR" altLang="en-US" dirty="0"/>
              <a:t>설정하기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5A9DFF-FE67-4E64-59C0-74297849B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410" y="2089889"/>
            <a:ext cx="7344435" cy="10786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85DF800-6B2D-3503-03D6-64DBD4D9C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712982"/>
            <a:ext cx="7997219" cy="161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799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 크기</a:t>
            </a:r>
            <a:r>
              <a:rPr lang="en-US" altLang="ko-KR" dirty="0"/>
              <a:t>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E00C1-4B93-BE29-F392-27781927E523}"/>
              </a:ext>
            </a:extLst>
          </p:cNvPr>
          <p:cNvSpPr txBox="1">
            <a:spLocks/>
          </p:cNvSpPr>
          <p:nvPr/>
        </p:nvSpPr>
        <p:spPr bwMode="auto">
          <a:xfrm>
            <a:off x="500062" y="1861509"/>
            <a:ext cx="8143875" cy="484711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body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font-size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medium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p#t1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font-size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1.0em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p#t2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font-size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1.5em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p#t3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font-size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2.0em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"t1"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paragraph.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"t2"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paragraph.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"t3"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paragraph.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85BE6-A644-B2CB-A2C6-76B2941EE49E}"/>
              </a:ext>
            </a:extLst>
          </p:cNvPr>
          <p:cNvSpPr txBox="1"/>
          <p:nvPr/>
        </p:nvSpPr>
        <p:spPr>
          <a:xfrm>
            <a:off x="508090" y="1612460"/>
            <a:ext cx="1508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font_size.html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7189921-66A4-0742-929F-07A6271E1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9457" name="_x402983776">
            <a:extLst>
              <a:ext uri="{FF2B5EF4-FFF2-40B4-BE49-F238E27FC236}">
                <a16:creationId xmlns:a16="http://schemas.microsoft.com/office/drawing/2014/main" id="{DD1E9904-616D-845B-5D7E-3555C33E8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241" y="2621803"/>
            <a:ext cx="4216638" cy="220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4811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 속성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font-weight – </a:t>
            </a:r>
            <a:r>
              <a:rPr lang="ko-KR" altLang="en-US" dirty="0" err="1"/>
              <a:t>볼드체</a:t>
            </a:r>
            <a:r>
              <a:rPr lang="ko-KR" altLang="en-US" dirty="0"/>
              <a:t> 여부</a:t>
            </a:r>
            <a:r>
              <a:rPr lang="en-US" altLang="ko-KR" dirty="0"/>
              <a:t>(normal, bold)</a:t>
            </a:r>
          </a:p>
          <a:p>
            <a:r>
              <a:rPr lang="en-US" altLang="ko-KR" dirty="0"/>
              <a:t>font-style – </a:t>
            </a:r>
            <a:r>
              <a:rPr lang="ko-KR" altLang="en-US" dirty="0" err="1"/>
              <a:t>이탤릭체</a:t>
            </a:r>
            <a:r>
              <a:rPr lang="en-US" altLang="ko-KR" dirty="0"/>
              <a:t> </a:t>
            </a:r>
            <a:r>
              <a:rPr lang="ko-KR" altLang="en-US" dirty="0"/>
              <a:t>여부</a:t>
            </a:r>
            <a:r>
              <a:rPr lang="en-US" altLang="ko-KR" dirty="0"/>
              <a:t>(normal, italic,  oblique)</a:t>
            </a:r>
            <a:endParaRPr lang="ko-KR" altLang="en-US" dirty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2400300"/>
            <a:ext cx="6343650" cy="1178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3790950"/>
            <a:ext cx="6343650" cy="1162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062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폰트</a:t>
            </a:r>
            <a:r>
              <a:rPr lang="en-US" altLang="ko-KR" dirty="0"/>
              <a:t> </a:t>
            </a:r>
            <a:r>
              <a:rPr lang="ko-KR" altLang="en-US" dirty="0"/>
              <a:t>축약 기법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AC5BD91-1559-3552-1D52-04192B1DFB5F}"/>
              </a:ext>
            </a:extLst>
          </p:cNvPr>
          <p:cNvSpPr txBox="1">
            <a:spLocks/>
          </p:cNvSpPr>
          <p:nvPr/>
        </p:nvSpPr>
        <p:spPr bwMode="auto">
          <a:xfrm>
            <a:off x="612648" y="1870562"/>
            <a:ext cx="8143875" cy="4865216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p.style1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font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italic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30px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arial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sans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-serif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p.style2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font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bold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40px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Georgia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serif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"style1"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font: italic 30px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arial,sans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-serif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"style2"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font: bold 40px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Georgia,serif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50F93B-230F-A087-B2E5-2196E11F2447}"/>
              </a:ext>
            </a:extLst>
          </p:cNvPr>
          <p:cNvSpPr txBox="1"/>
          <p:nvPr/>
        </p:nvSpPr>
        <p:spPr>
          <a:xfrm>
            <a:off x="620676" y="1621513"/>
            <a:ext cx="1486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fontstyle.html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20481" name="_x401113496">
            <a:extLst>
              <a:ext uri="{FF2B5EF4-FFF2-40B4-BE49-F238E27FC236}">
                <a16:creationId xmlns:a16="http://schemas.microsoft.com/office/drawing/2014/main" id="{19C82B3B-7B0F-7955-E3F3-7A2185B8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443" y="2666206"/>
            <a:ext cx="4091381" cy="224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8957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247B1-D3BC-95CD-9249-857490AF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7B9B8-549D-AB37-AD8F-D22D9D4378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57175" indent="-257175">
              <a:buFont typeface="+mj-lt"/>
              <a:buAutoNum type="arabicPeriod"/>
            </a:pPr>
            <a:r>
              <a:rPr lang="ko-KR" altLang="en-US" dirty="0"/>
              <a:t>폰트의 크기를 어떻게 지정할 수 있는가</a:t>
            </a:r>
            <a:r>
              <a:rPr lang="en-US" altLang="ko-KR" dirty="0"/>
              <a:t>?</a:t>
            </a:r>
          </a:p>
          <a:p>
            <a:pPr marL="257175" indent="-257175">
              <a:buFont typeface="+mj-lt"/>
              <a:buAutoNum type="arabicPeriod"/>
            </a:pPr>
            <a:r>
              <a:rPr lang="en-US" altLang="ko-KR" dirty="0"/>
              <a:t>&lt;body&gt; </a:t>
            </a:r>
            <a:r>
              <a:rPr lang="ko-KR" altLang="en-US" dirty="0"/>
              <a:t>요소의 폰트를 “</a:t>
            </a:r>
            <a:r>
              <a:rPr lang="ko-KR" altLang="en-US" dirty="0" err="1"/>
              <a:t>굴림체”로</a:t>
            </a:r>
            <a:r>
              <a:rPr lang="ko-KR" altLang="en-US" dirty="0"/>
              <a:t> 지정하는 </a:t>
            </a:r>
            <a:r>
              <a:rPr lang="en-US" altLang="ko-KR" dirty="0"/>
              <a:t>CSS </a:t>
            </a:r>
            <a:r>
              <a:rPr lang="ko-KR" altLang="en-US" dirty="0"/>
              <a:t>문장을 작성해보자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32F7CE-7BA5-E377-6D70-5AAAF3D29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993" y="3507856"/>
            <a:ext cx="1168004" cy="123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0583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스타일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CAC5DAB-E401-BD3F-3C19-2327A4AFCF9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37266" y="1953285"/>
            <a:ext cx="7104163" cy="4067269"/>
          </a:xfrm>
        </p:spPr>
      </p:pic>
    </p:spTree>
    <p:extLst>
      <p:ext uri="{BB962C8B-B14F-4D97-AF65-F5344CB8AC3E}">
        <p14:creationId xmlns:p14="http://schemas.microsoft.com/office/powerpoint/2010/main" val="13806113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정렬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64F4B58-2524-2922-6FEF-3DB0C8F6BFD2}"/>
              </a:ext>
            </a:extLst>
          </p:cNvPr>
          <p:cNvSpPr txBox="1">
            <a:spLocks/>
          </p:cNvSpPr>
          <p:nvPr/>
        </p:nvSpPr>
        <p:spPr bwMode="auto">
          <a:xfrm>
            <a:off x="508090" y="1780027"/>
            <a:ext cx="8143875" cy="497385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h1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{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center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red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/*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중앙정렬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p.date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{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right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indigo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/*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오른쪽정렬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p.poet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{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text-align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justify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    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color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blue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     }  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/* </a:t>
            </a:r>
            <a:r>
              <a:rPr lang="ko-KR" altLang="en-US" sz="1400" b="0" dirty="0" err="1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양쪽정렬</a:t>
            </a:r>
            <a:r>
              <a:rPr lang="ko-KR" altLang="en-US" sz="1400" b="0" dirty="0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*</a:t>
            </a:r>
            <a:r>
              <a:rPr lang="en-US" altLang="ko-KR" sz="1400" b="0" dirty="0">
                <a:solidFill>
                  <a:srgbClr val="008000"/>
                </a:solidFill>
                <a:effectLst/>
                <a:latin typeface="Century Schoolbook" panose="02040604050505020304" pitchFamily="18" charset="0"/>
              </a:rPr>
              <a:t>/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CSS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텍스트 정렬 예제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"date"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2022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년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3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월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1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일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"poet"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삶이 그대를 속일지라도 슬퍼하거나 노여워하지 말라 우울한 날을 견디면 믿으라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기쁨의 날이 오리니</a:t>
            </a: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마음은 미래에 사는 것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현재는 슬픈 것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모든 것은 순간적인 것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,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지나가는 것이니 그리고 지나가는 것은 훗날 소중하게 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되리니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&lt;p&gt;&lt;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em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참고 </a:t>
            </a:r>
            <a:r>
              <a:rPr lang="ko-KR" altLang="en-US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푸시킨의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시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em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9D213-98FD-465E-4850-8223A155C444}"/>
              </a:ext>
            </a:extLst>
          </p:cNvPr>
          <p:cNvSpPr txBox="1"/>
          <p:nvPr/>
        </p:nvSpPr>
        <p:spPr>
          <a:xfrm>
            <a:off x="508090" y="1512871"/>
            <a:ext cx="1455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textstyle.html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40C59AE-59B3-45AF-8B81-1FA40029D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1505" name="_x402219624">
            <a:extLst>
              <a:ext uri="{FF2B5EF4-FFF2-40B4-BE49-F238E27FC236}">
                <a16:creationId xmlns:a16="http://schemas.microsoft.com/office/drawing/2014/main" id="{64D390BD-532A-8291-AD1F-A891AA01E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349" y="70910"/>
            <a:ext cx="3985344" cy="260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0745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장식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6FBC5F9-948D-5914-3B87-5CC4DC6813DC}"/>
              </a:ext>
            </a:extLst>
          </p:cNvPr>
          <p:cNvSpPr txBox="1">
            <a:spLocks/>
          </p:cNvSpPr>
          <p:nvPr/>
        </p:nvSpPr>
        <p:spPr bwMode="auto">
          <a:xfrm>
            <a:off x="622173" y="1752868"/>
            <a:ext cx="8143875" cy="431295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text-decoration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overline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}            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text-decoration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line-through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}        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h3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text-decoration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underline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}           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텍스트 장식의 예입니다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&lt;h2&gt;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텍스트 장식의 예입니다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&lt;/h2&gt;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&lt;h3&gt;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텍스트 장식의 예입니다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&lt;/h3&gt;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D26FE-6289-FC46-561D-8741FECE66D9}"/>
              </a:ext>
            </a:extLst>
          </p:cNvPr>
          <p:cNvSpPr txBox="1"/>
          <p:nvPr/>
        </p:nvSpPr>
        <p:spPr>
          <a:xfrm>
            <a:off x="630201" y="1503819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text_deco.html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D8C225-C358-AE59-E1F0-F09D00C66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2529" name="_x402220344">
            <a:extLst>
              <a:ext uri="{FF2B5EF4-FFF2-40B4-BE49-F238E27FC236}">
                <a16:creationId xmlns:a16="http://schemas.microsoft.com/office/drawing/2014/main" id="{07056233-9F8B-F6C8-CDE2-3F5185E6D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347" y="2126213"/>
            <a:ext cx="4233837" cy="216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5166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변환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3924C3D-7DE1-FFB2-C8C9-2C2E2C76E32A}"/>
              </a:ext>
            </a:extLst>
          </p:cNvPr>
          <p:cNvSpPr txBox="1">
            <a:spLocks/>
          </p:cNvSpPr>
          <p:nvPr/>
        </p:nvSpPr>
        <p:spPr bwMode="auto">
          <a:xfrm>
            <a:off x="622173" y="1752868"/>
            <a:ext cx="8143875" cy="431295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p.upper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text-transform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uppercase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p.lower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text-transform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lowercase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p.capit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 </a:t>
            </a:r>
            <a:r>
              <a:rPr lang="en-US" altLang="ko-KR" sz="1400" b="0" dirty="0" err="1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text-transform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</a:t>
            </a:r>
            <a:r>
              <a:rPr lang="en-US" altLang="ko-KR" sz="1400" b="0" dirty="0" err="1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capitalize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b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</a:b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"upper"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text_transform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is uppercase.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"lower"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text_transform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is lowercase.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</a:t>
            </a:r>
            <a:r>
              <a:rPr lang="en-US" altLang="ko-KR" sz="1400" b="0" dirty="0" err="1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capit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text_transform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is capitalize.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E1825-70DC-16BC-A2EE-60C964673CD2}"/>
              </a:ext>
            </a:extLst>
          </p:cNvPr>
          <p:cNvSpPr txBox="1"/>
          <p:nvPr/>
        </p:nvSpPr>
        <p:spPr>
          <a:xfrm>
            <a:off x="630201" y="1503819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text_trans.html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77B2A7E-02BC-4A42-586C-3053184B9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3553" name="_x402219912">
            <a:extLst>
              <a:ext uri="{FF2B5EF4-FFF2-40B4-BE49-F238E27FC236}">
                <a16:creationId xmlns:a16="http://schemas.microsoft.com/office/drawing/2014/main" id="{CA2F6569-DFED-389A-5113-20F40B4A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669" y="2251028"/>
            <a:ext cx="4255476" cy="174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1210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그림자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251E52-E228-D46C-161E-A70A4FD984EC}"/>
              </a:ext>
            </a:extLst>
          </p:cNvPr>
          <p:cNvSpPr txBox="1">
            <a:spLocks/>
          </p:cNvSpPr>
          <p:nvPr/>
        </p:nvSpPr>
        <p:spPr bwMode="auto">
          <a:xfrm>
            <a:off x="622173" y="1752868"/>
            <a:ext cx="8143875" cy="3534356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h1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text-shadow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5px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5px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 err="1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5px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#FF0000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&lt;h1&gt;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Text-shadow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처리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!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&lt;/h1&gt;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0BC1C-5D41-9381-9630-D863536A6CCB}"/>
              </a:ext>
            </a:extLst>
          </p:cNvPr>
          <p:cNvSpPr txBox="1"/>
          <p:nvPr/>
        </p:nvSpPr>
        <p:spPr>
          <a:xfrm>
            <a:off x="630201" y="1503819"/>
            <a:ext cx="1854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text_shadow.html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F3EBB63-AE43-9ABC-FF64-911F49D5F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4577" name="_x402219480">
            <a:extLst>
              <a:ext uri="{FF2B5EF4-FFF2-40B4-BE49-F238E27FC236}">
                <a16:creationId xmlns:a16="http://schemas.microsoft.com/office/drawing/2014/main" id="{5884B260-3F13-BE20-8C94-0E8D723D9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877" y="2341563"/>
            <a:ext cx="3941354" cy="13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9A8CCA-18D3-60B2-1457-49B628E83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671" y="5397043"/>
            <a:ext cx="3941354" cy="138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292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8EF7ADE-992C-2938-2575-B7D87357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Word Wrapping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D4BAE9A-2BC9-48D2-5DB8-4A5CD462F7DB}"/>
              </a:ext>
            </a:extLst>
          </p:cNvPr>
          <p:cNvSpPr txBox="1">
            <a:spLocks/>
          </p:cNvSpPr>
          <p:nvPr/>
        </p:nvSpPr>
        <p:spPr bwMode="auto">
          <a:xfrm>
            <a:off x="500062" y="1843402"/>
            <a:ext cx="8143875" cy="478599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 err="1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p.test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width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11em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border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1px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solid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#000000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word-wrap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break-word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"test"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매우 긴 단어가 있는 경우에 자동으로 잘라준다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 err="1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aaaaaaaaaaaaaaaaaaaaaaaaaaaaaaaaaaaaaaaaaa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&lt;/p&gt;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en-US" altLang="ko-KR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41257-D8AD-7ABA-90B6-54BB2CD93A99}"/>
              </a:ext>
            </a:extLst>
          </p:cNvPr>
          <p:cNvSpPr txBox="1"/>
          <p:nvPr/>
        </p:nvSpPr>
        <p:spPr>
          <a:xfrm>
            <a:off x="508090" y="1594353"/>
            <a:ext cx="1762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word_wrap.html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776503D-574F-F5D5-B638-46831182C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5601" name="_x402220056">
            <a:extLst>
              <a:ext uri="{FF2B5EF4-FFF2-40B4-BE49-F238E27FC236}">
                <a16:creationId xmlns:a16="http://schemas.microsoft.com/office/drawing/2014/main" id="{77179EAD-9765-D3D9-B13D-89E6E9DAE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6" y="2826299"/>
            <a:ext cx="4132997" cy="151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8209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</a:t>
            </a:r>
            <a:r>
              <a:rPr lang="ko-KR" altLang="en-US" dirty="0" err="1"/>
              <a:t>컬럼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BABA5E7-1AD2-7215-91C7-89BE9521C066}"/>
              </a:ext>
            </a:extLst>
          </p:cNvPr>
          <p:cNvSpPr txBox="1">
            <a:spLocks/>
          </p:cNvSpPr>
          <p:nvPr/>
        </p:nvSpPr>
        <p:spPr bwMode="auto">
          <a:xfrm>
            <a:off x="500062" y="1906776"/>
            <a:ext cx="8143875" cy="4865216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kumimoji="1" sz="20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6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Century Schoolbook" panose="02040604050505020304" pitchFamily="18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&lt;!DOCTYPE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html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&lt;html&gt;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&lt;head&gt;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&lt;style&gt;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.poet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column-count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2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   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column-gap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40px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column-rule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: </a:t>
            </a:r>
            <a:r>
              <a:rPr lang="en-US" altLang="ko-KR" sz="1400" b="0" dirty="0">
                <a:solidFill>
                  <a:srgbClr val="098658"/>
                </a:solidFill>
                <a:effectLst/>
                <a:latin typeface="Century Schoolbook" panose="02040604050505020304" pitchFamily="18" charset="0"/>
              </a:rPr>
              <a:t>4px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double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0451A5"/>
                </a:solidFill>
                <a:effectLst/>
                <a:latin typeface="Century Schoolbook" panose="02040604050505020304" pitchFamily="18" charset="0"/>
              </a:rPr>
              <a:t>#ff00ff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}</a:t>
            </a: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&lt;/style&gt;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&lt;/head&gt;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&lt;body&gt;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&lt;div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altLang="ko-KR" sz="1400" b="0" dirty="0">
                <a:solidFill>
                  <a:srgbClr val="E50000"/>
                </a:solidFill>
                <a:effectLst/>
                <a:latin typeface="Century Schoolbook" panose="02040604050505020304" pitchFamily="18" charset="0"/>
              </a:rPr>
              <a:t>class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=</a:t>
            </a:r>
            <a:r>
              <a:rPr lang="en-US" altLang="ko-KR" sz="1400" b="0" dirty="0">
                <a:solidFill>
                  <a:srgbClr val="0000FF"/>
                </a:solidFill>
                <a:effectLst/>
                <a:latin typeface="Century Schoolbook" panose="02040604050505020304" pitchFamily="18" charset="0"/>
              </a:rPr>
              <a:t>"poet"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한잔의 술을 마시고</a:t>
            </a: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우리는 버지니아 울프의 생애와</a:t>
            </a: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    목마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(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木馬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)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를 타고 떠난 숙녀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(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淑女</a:t>
            </a:r>
            <a:r>
              <a:rPr lang="en-US" altLang="ko-KR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)</a:t>
            </a: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의 옷자락을 이야기한다</a:t>
            </a:r>
          </a:p>
          <a:p>
            <a:pPr marL="0" indent="0">
              <a:buNone/>
            </a:pPr>
            <a:r>
              <a:rPr lang="ko-KR" altLang="en-US" sz="1400" b="0" dirty="0">
                <a:solidFill>
                  <a:srgbClr val="000000"/>
                </a:solidFill>
                <a:effectLst/>
                <a:latin typeface="Century Schoolbook" panose="02040604050505020304" pitchFamily="18" charset="0"/>
              </a:rPr>
              <a:t>    </a:t>
            </a: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&lt;/div&gt;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&lt;/body&gt;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800000"/>
                </a:solidFill>
                <a:effectLst/>
                <a:latin typeface="Century Schoolbook" panose="02040604050505020304" pitchFamily="18" charset="0"/>
              </a:rPr>
              <a:t>&lt;/html&gt;</a:t>
            </a:r>
            <a:endParaRPr lang="ko-KR" altLang="en-US" sz="1400" b="0" dirty="0">
              <a:solidFill>
                <a:srgbClr val="000000"/>
              </a:solidFill>
              <a:effectLst/>
              <a:latin typeface="Century Schoolbook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8FF31-5D82-E309-5983-2D6B11983A5A}"/>
              </a:ext>
            </a:extLst>
          </p:cNvPr>
          <p:cNvSpPr txBox="1"/>
          <p:nvPr/>
        </p:nvSpPr>
        <p:spPr>
          <a:xfrm>
            <a:off x="508090" y="1657727"/>
            <a:ext cx="1951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 dirty="0">
                <a:solidFill>
                  <a:srgbClr val="0070C0"/>
                </a:solidFill>
                <a:latin typeface="Century Schoolbook" panose="02040604050505020304" pitchFamily="18" charset="0"/>
              </a:rPr>
              <a:t>css_multi_col.html</a:t>
            </a:r>
            <a:endParaRPr lang="ko-KR" altLang="en-US" sz="1600" i="1" dirty="0">
              <a:solidFill>
                <a:srgbClr val="0070C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8BABB1A-3008-DD42-979A-1E73CD81B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6625" name="_x401112776">
            <a:extLst>
              <a:ext uri="{FF2B5EF4-FFF2-40B4-BE49-F238E27FC236}">
                <a16:creationId xmlns:a16="http://schemas.microsoft.com/office/drawing/2014/main" id="{A9073428-097F-050A-8D68-B5F6A9407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422" y="2575539"/>
            <a:ext cx="4683737" cy="1978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3697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247B1-D3BC-95CD-9249-857490AF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7B9B8-549D-AB37-AD8F-D22D9D4378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57175" indent="-257175">
              <a:buFont typeface="+mj-lt"/>
              <a:buAutoNum type="arabicPeriod"/>
            </a:pPr>
            <a:r>
              <a:rPr lang="en-US" altLang="ko-KR" dirty="0"/>
              <a:t>&lt;body&gt; </a:t>
            </a:r>
            <a:r>
              <a:rPr lang="ko-KR" altLang="en-US" dirty="0"/>
              <a:t>요소의 글자들을 모두 대문자로 바꾸는 </a:t>
            </a:r>
            <a:r>
              <a:rPr lang="en-US" altLang="ko-KR" dirty="0"/>
              <a:t>CSS </a:t>
            </a:r>
            <a:r>
              <a:rPr lang="ko-KR" altLang="en-US" dirty="0"/>
              <a:t>문장을 작성해보자</a:t>
            </a:r>
            <a:r>
              <a:rPr lang="en-US" altLang="ko-KR" dirty="0"/>
              <a:t>. </a:t>
            </a:r>
          </a:p>
          <a:p>
            <a:pPr marL="257175" indent="-257175">
              <a:buFont typeface="+mj-lt"/>
              <a:buAutoNum type="arabicPeriod"/>
            </a:pPr>
            <a:r>
              <a:rPr lang="en-US" altLang="ko-KR" dirty="0"/>
              <a:t>&lt;body&gt; </a:t>
            </a:r>
            <a:r>
              <a:rPr lang="ko-KR" altLang="en-US" dirty="0"/>
              <a:t>요소의 글자색을 “</a:t>
            </a:r>
            <a:r>
              <a:rPr lang="ko-KR" altLang="en-US" dirty="0" err="1"/>
              <a:t>파랑색”로</a:t>
            </a:r>
            <a:r>
              <a:rPr lang="ko-KR" altLang="en-US" dirty="0"/>
              <a:t> 지정하는 </a:t>
            </a:r>
            <a:r>
              <a:rPr lang="en-US" altLang="ko-KR" dirty="0"/>
              <a:t>CSS </a:t>
            </a:r>
            <a:r>
              <a:rPr lang="ko-KR" altLang="en-US" dirty="0"/>
              <a:t>문장을 작성해보자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32F7CE-7BA5-E377-6D70-5AAAF3D29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993" y="3507856"/>
            <a:ext cx="1168004" cy="123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676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CD80B-2898-E877-8523-E1F54ECD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Mini Project: CSS</a:t>
            </a:r>
            <a:r>
              <a:rPr lang="ko-KR" altLang="en-US" dirty="0"/>
              <a:t>로 스타일 꾸미기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A32540-2CD8-19F2-DCB6-A6ED04BADF0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이번 장에서 학습한 내용을 바탕으로 다음과 같은 웹사이트를 작성하여 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DD85E8-F0F9-F122-DB1A-93036A50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266" y="2103354"/>
            <a:ext cx="5404918" cy="44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590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이번 장에서 배운 것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28218" y="1761612"/>
            <a:ext cx="8437830" cy="4291343"/>
          </a:xfrm>
          <a:prstGeom prst="rect">
            <a:avLst/>
          </a:prstGeom>
          <a:solidFill>
            <a:srgbClr val="00800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04" y="5356445"/>
            <a:ext cx="1542003" cy="1397440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>
          <a:xfrm>
            <a:off x="795478" y="1911127"/>
            <a:ext cx="7011427" cy="2636489"/>
          </a:xfrm>
        </p:spPr>
        <p:txBody>
          <a:bodyPr>
            <a:noAutofit/>
          </a:bodyPr>
          <a:lstStyle/>
          <a:p>
            <a:pPr lvl="0" fontAlgn="base"/>
            <a:r>
              <a:rPr lang="en-US" altLang="ko-KR" sz="1600" dirty="0">
                <a:solidFill>
                  <a:srgbClr val="FFFF00"/>
                </a:solidFill>
              </a:rPr>
              <a:t>HTML</a:t>
            </a:r>
            <a:r>
              <a:rPr lang="ko-KR" altLang="en-US" sz="1600" dirty="0">
                <a:solidFill>
                  <a:srgbClr val="FFFF00"/>
                </a:solidFill>
              </a:rPr>
              <a:t>과 </a:t>
            </a:r>
            <a:r>
              <a:rPr lang="en-US" altLang="ko-KR" sz="1600" dirty="0">
                <a:solidFill>
                  <a:srgbClr val="FFFF00"/>
                </a:solidFill>
              </a:rPr>
              <a:t>CSS</a:t>
            </a:r>
            <a:r>
              <a:rPr lang="ko-KR" altLang="en-US" sz="1600" dirty="0">
                <a:solidFill>
                  <a:srgbClr val="FFFF00"/>
                </a:solidFill>
              </a:rPr>
              <a:t>의 관계를 설명할 수 있나요</a:t>
            </a:r>
            <a:r>
              <a:rPr lang="en-US" altLang="ko-KR" sz="1600" dirty="0">
                <a:solidFill>
                  <a:srgbClr val="FFFF00"/>
                </a:solidFill>
              </a:rPr>
              <a:t>?</a:t>
            </a:r>
            <a:endParaRPr lang="ko-KR" altLang="en-US" sz="1600" dirty="0">
              <a:solidFill>
                <a:srgbClr val="FFFF00"/>
              </a:solidFill>
            </a:endParaRPr>
          </a:p>
          <a:p>
            <a:pPr lvl="1" fontAlgn="base"/>
            <a:r>
              <a:rPr lang="en-US" altLang="ko-KR" sz="1600" dirty="0">
                <a:solidFill>
                  <a:schemeClr val="bg1"/>
                </a:solidFill>
              </a:rPr>
              <a:t>HTML</a:t>
            </a:r>
            <a:r>
              <a:rPr lang="ko-KR" altLang="en-US" sz="1600" dirty="0">
                <a:solidFill>
                  <a:schemeClr val="bg1"/>
                </a:solidFill>
              </a:rPr>
              <a:t>은 문서의 구조를 표현하고 </a:t>
            </a:r>
            <a:r>
              <a:rPr lang="en-US" altLang="ko-KR" sz="1600" dirty="0">
                <a:solidFill>
                  <a:schemeClr val="bg1"/>
                </a:solidFill>
              </a:rPr>
              <a:t>CSS</a:t>
            </a:r>
            <a:r>
              <a:rPr lang="ko-KR" altLang="en-US" sz="1600" dirty="0">
                <a:solidFill>
                  <a:schemeClr val="bg1"/>
                </a:solidFill>
              </a:rPr>
              <a:t>는 문서의 스타일을 지정한다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0" fontAlgn="base"/>
            <a:r>
              <a:rPr lang="en-US" altLang="ko-KR" sz="1600" dirty="0">
                <a:solidFill>
                  <a:srgbClr val="FFFF00"/>
                </a:solidFill>
              </a:rPr>
              <a:t>CSS</a:t>
            </a:r>
            <a:r>
              <a:rPr lang="ko-KR" altLang="en-US" sz="1600" dirty="0">
                <a:solidFill>
                  <a:srgbClr val="FFFF00"/>
                </a:solidFill>
              </a:rPr>
              <a:t>의 선택자를 사용하여서 원하는 요소를 지정할 수 있나요</a:t>
            </a:r>
            <a:r>
              <a:rPr lang="en-US" altLang="ko-KR" sz="1600" dirty="0"/>
              <a:t>?</a:t>
            </a:r>
            <a:endParaRPr lang="ko-KR" altLang="en-US" sz="1600" dirty="0"/>
          </a:p>
          <a:p>
            <a:pPr lvl="1" fontAlgn="base"/>
            <a:r>
              <a:rPr lang="en-US" altLang="ko-KR" sz="1600" dirty="0">
                <a:solidFill>
                  <a:schemeClr val="bg1"/>
                </a:solidFill>
              </a:rPr>
              <a:t>CSS </a:t>
            </a:r>
            <a:r>
              <a:rPr lang="ko-KR" altLang="en-US" sz="1600" dirty="0">
                <a:solidFill>
                  <a:schemeClr val="bg1"/>
                </a:solidFill>
              </a:rPr>
              <a:t>선택자는 스타일을 지정할 </a:t>
            </a:r>
            <a:r>
              <a:rPr lang="en-US" altLang="ko-KR" sz="1600" dirty="0">
                <a:solidFill>
                  <a:schemeClr val="bg1"/>
                </a:solidFill>
              </a:rPr>
              <a:t>HTML </a:t>
            </a:r>
            <a:r>
              <a:rPr lang="ko-KR" altLang="en-US" sz="1600" dirty="0">
                <a:solidFill>
                  <a:schemeClr val="bg1"/>
                </a:solidFill>
              </a:rPr>
              <a:t>요소를 선택한다</a:t>
            </a:r>
            <a:r>
              <a:rPr lang="en-US" altLang="ko-KR" sz="1600" dirty="0">
                <a:solidFill>
                  <a:schemeClr val="bg1"/>
                </a:solidFill>
              </a:rPr>
              <a:t>. </a:t>
            </a:r>
            <a:r>
              <a:rPr lang="ko-KR" altLang="en-US" sz="1600" dirty="0">
                <a:solidFill>
                  <a:schemeClr val="bg1"/>
                </a:solidFill>
              </a:rPr>
              <a:t>타입 선택자는 태그 이름을 기반으로 </a:t>
            </a:r>
            <a:r>
              <a:rPr lang="en-US" altLang="ko-KR" sz="1600" dirty="0">
                <a:solidFill>
                  <a:schemeClr val="bg1"/>
                </a:solidFill>
              </a:rPr>
              <a:t>HTML </a:t>
            </a:r>
            <a:r>
              <a:rPr lang="ko-KR" altLang="en-US" sz="1600" dirty="0">
                <a:solidFill>
                  <a:schemeClr val="bg1"/>
                </a:solidFill>
              </a:rPr>
              <a:t>요소를 선택한다</a:t>
            </a:r>
            <a:r>
              <a:rPr lang="en-US" altLang="ko-KR" sz="1600" dirty="0">
                <a:solidFill>
                  <a:schemeClr val="bg1"/>
                </a:solidFill>
              </a:rPr>
              <a:t>. id </a:t>
            </a:r>
            <a:r>
              <a:rPr lang="ko-KR" altLang="en-US" sz="1600" dirty="0">
                <a:solidFill>
                  <a:schemeClr val="bg1"/>
                </a:solidFill>
              </a:rPr>
              <a:t>선택자는 </a:t>
            </a:r>
            <a:r>
              <a:rPr lang="en-US" altLang="ko-KR" sz="1600" dirty="0">
                <a:solidFill>
                  <a:schemeClr val="bg1"/>
                </a:solidFill>
              </a:rPr>
              <a:t>HTML </a:t>
            </a:r>
            <a:r>
              <a:rPr lang="ko-KR" altLang="en-US" sz="1600" dirty="0">
                <a:solidFill>
                  <a:schemeClr val="bg1"/>
                </a:solidFill>
              </a:rPr>
              <a:t>요소의 </a:t>
            </a:r>
            <a:r>
              <a:rPr lang="en-US" altLang="ko-KR" sz="1600" dirty="0">
                <a:solidFill>
                  <a:schemeClr val="bg1"/>
                </a:solidFill>
              </a:rPr>
              <a:t>id </a:t>
            </a:r>
            <a:r>
              <a:rPr lang="ko-KR" altLang="en-US" sz="1600" dirty="0">
                <a:solidFill>
                  <a:schemeClr val="bg1"/>
                </a:solidFill>
              </a:rPr>
              <a:t>속성을 사용하여 특정 요소를 선택한다</a:t>
            </a:r>
            <a:r>
              <a:rPr lang="en-US" altLang="ko-KR" sz="1600" dirty="0">
                <a:solidFill>
                  <a:schemeClr val="bg1"/>
                </a:solidFill>
              </a:rPr>
              <a:t>. </a:t>
            </a:r>
            <a:r>
              <a:rPr lang="ko-KR" altLang="en-US" sz="1600" dirty="0">
                <a:solidFill>
                  <a:schemeClr val="bg1"/>
                </a:solidFill>
              </a:rPr>
              <a:t>클래스 선택자는 특정 클래스 속성을 가진 </a:t>
            </a:r>
            <a:r>
              <a:rPr lang="en-US" altLang="ko-KR" sz="1600" dirty="0">
                <a:solidFill>
                  <a:schemeClr val="bg1"/>
                </a:solidFill>
              </a:rPr>
              <a:t>HTML </a:t>
            </a:r>
            <a:r>
              <a:rPr lang="ko-KR" altLang="en-US" sz="1600" dirty="0">
                <a:solidFill>
                  <a:schemeClr val="bg1"/>
                </a:solidFill>
              </a:rPr>
              <a:t>요소를 선택한다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endParaRPr lang="ko-KR" altLang="en-US" sz="1600" dirty="0">
              <a:solidFill>
                <a:schemeClr val="bg1"/>
              </a:solidFill>
            </a:endParaRPr>
          </a:p>
          <a:p>
            <a:pPr lvl="0" fontAlgn="base"/>
            <a:r>
              <a:rPr lang="en-US" altLang="ko-KR" sz="1600" dirty="0">
                <a:solidFill>
                  <a:srgbClr val="FFFF00"/>
                </a:solidFill>
              </a:rPr>
              <a:t>CSS</a:t>
            </a:r>
            <a:r>
              <a:rPr lang="ko-KR" altLang="en-US" sz="1600" dirty="0">
                <a:solidFill>
                  <a:srgbClr val="FFFF00"/>
                </a:solidFill>
              </a:rPr>
              <a:t>를 이용하여서 색상</a:t>
            </a:r>
            <a:r>
              <a:rPr lang="en-US" altLang="ko-KR" sz="1600" dirty="0">
                <a:solidFill>
                  <a:srgbClr val="FFFF00"/>
                </a:solidFill>
              </a:rPr>
              <a:t>, </a:t>
            </a:r>
            <a:r>
              <a:rPr lang="ko-KR" altLang="en-US" sz="1600" dirty="0">
                <a:solidFill>
                  <a:srgbClr val="FFFF00"/>
                </a:solidFill>
              </a:rPr>
              <a:t>폰트들을 변경할 수 있나요</a:t>
            </a:r>
            <a:r>
              <a:rPr lang="en-US" altLang="ko-KR" sz="1600" dirty="0"/>
              <a:t>?</a:t>
            </a:r>
            <a:endParaRPr lang="ko-KR" altLang="en-US" sz="1600" dirty="0"/>
          </a:p>
          <a:p>
            <a:pPr lvl="1" fontAlgn="base"/>
            <a:r>
              <a:rPr lang="ko-KR" altLang="en-US" sz="1600" dirty="0">
                <a:solidFill>
                  <a:schemeClr val="bg1"/>
                </a:solidFill>
              </a:rPr>
              <a:t>색상은 </a:t>
            </a:r>
            <a:r>
              <a:rPr lang="en-US" altLang="ko-KR" sz="1600" dirty="0">
                <a:solidFill>
                  <a:schemeClr val="bg1"/>
                </a:solidFill>
              </a:rPr>
              <a:t>16</a:t>
            </a:r>
            <a:r>
              <a:rPr lang="ko-KR" altLang="en-US" sz="1600" dirty="0">
                <a:solidFill>
                  <a:schemeClr val="bg1"/>
                </a:solidFill>
              </a:rPr>
              <a:t>진수를 이용하거나 색상 이름을 이용하여 지정할 수 있다</a:t>
            </a:r>
            <a:r>
              <a:rPr lang="en-US" altLang="ko-KR" sz="1600" dirty="0">
                <a:solidFill>
                  <a:schemeClr val="bg1"/>
                </a:solidFill>
              </a:rPr>
              <a:t>. </a:t>
            </a:r>
            <a:r>
              <a:rPr lang="ko-KR" altLang="en-US" sz="1600" dirty="0">
                <a:solidFill>
                  <a:schemeClr val="bg1"/>
                </a:solidFill>
              </a:rPr>
              <a:t>폰트는 폰트 이름을 </a:t>
            </a:r>
            <a:r>
              <a:rPr lang="en-US" altLang="ko-KR" sz="1600" dirty="0">
                <a:solidFill>
                  <a:schemeClr val="bg1"/>
                </a:solidFill>
              </a:rPr>
              <a:t>font-family </a:t>
            </a:r>
            <a:r>
              <a:rPr lang="ko-KR" altLang="en-US" sz="1600" dirty="0">
                <a:solidFill>
                  <a:schemeClr val="bg1"/>
                </a:solidFill>
              </a:rPr>
              <a:t>속성에 나열하면 된다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930700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이번 장에서 배운 것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28218" y="1761612"/>
            <a:ext cx="8437830" cy="4291343"/>
          </a:xfrm>
          <a:prstGeom prst="rect">
            <a:avLst/>
          </a:prstGeom>
          <a:solidFill>
            <a:srgbClr val="00800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04" y="5356445"/>
            <a:ext cx="1542003" cy="1397440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>
          <a:xfrm>
            <a:off x="795478" y="1911127"/>
            <a:ext cx="7011427" cy="2636489"/>
          </a:xfrm>
        </p:spPr>
        <p:txBody>
          <a:bodyPr>
            <a:noAutofit/>
          </a:bodyPr>
          <a:lstStyle/>
          <a:p>
            <a:pPr lvl="0" fontAlgn="base"/>
            <a:r>
              <a:rPr lang="en-US" altLang="ko-KR" sz="1600" dirty="0">
                <a:solidFill>
                  <a:srgbClr val="FFFF00"/>
                </a:solidFill>
              </a:rPr>
              <a:t>CSS</a:t>
            </a:r>
            <a:r>
              <a:rPr lang="ko-KR" altLang="en-US" sz="1600" dirty="0">
                <a:solidFill>
                  <a:srgbClr val="FFFF00"/>
                </a:solidFill>
              </a:rPr>
              <a:t>를 외부 파일에 저장하여서 여러 웹페이지에서 공유할 수 있나요</a:t>
            </a:r>
            <a:r>
              <a:rPr lang="en-US" altLang="ko-KR" sz="1600" dirty="0">
                <a:solidFill>
                  <a:srgbClr val="FFFF00"/>
                </a:solidFill>
              </a:rPr>
              <a:t>?</a:t>
            </a:r>
            <a:endParaRPr lang="ko-KR" altLang="en-US" sz="1600" dirty="0">
              <a:solidFill>
                <a:srgbClr val="FFFF00"/>
              </a:solidFill>
            </a:endParaRPr>
          </a:p>
          <a:p>
            <a:pPr lvl="1" fontAlgn="base"/>
            <a:r>
              <a:rPr lang="en-US" altLang="ko-KR" sz="1600" dirty="0">
                <a:solidFill>
                  <a:schemeClr val="bg1"/>
                </a:solidFill>
              </a:rPr>
              <a:t>CSS</a:t>
            </a:r>
            <a:r>
              <a:rPr lang="ko-KR" altLang="en-US" sz="1600" dirty="0">
                <a:solidFill>
                  <a:schemeClr val="bg1"/>
                </a:solidFill>
              </a:rPr>
              <a:t>를 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r>
              <a:rPr lang="en-US" altLang="ko-KR" sz="1600" dirty="0" err="1">
                <a:solidFill>
                  <a:schemeClr val="bg1"/>
                </a:solidFill>
              </a:rPr>
              <a:t>css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확장자를 가진 외부 파일에 저장한 후에 </a:t>
            </a:r>
            <a:r>
              <a:rPr lang="en-US" altLang="ko-KR" sz="1600" dirty="0">
                <a:solidFill>
                  <a:schemeClr val="bg1"/>
                </a:solidFill>
              </a:rPr>
              <a:t>HTML </a:t>
            </a:r>
            <a:r>
              <a:rPr lang="ko-KR" altLang="en-US" sz="1600" dirty="0">
                <a:solidFill>
                  <a:schemeClr val="bg1"/>
                </a:solidFill>
              </a:rPr>
              <a:t>파일에서 </a:t>
            </a:r>
            <a:r>
              <a:rPr lang="en-US" altLang="ko-KR" sz="1600" dirty="0">
                <a:solidFill>
                  <a:schemeClr val="bg1"/>
                </a:solidFill>
              </a:rPr>
              <a:t>&lt;link </a:t>
            </a:r>
            <a:r>
              <a:rPr lang="en-US" altLang="ko-KR" sz="1600" dirty="0" err="1">
                <a:solidFill>
                  <a:schemeClr val="bg1"/>
                </a:solidFill>
              </a:rPr>
              <a:t>href</a:t>
            </a:r>
            <a:r>
              <a:rPr lang="en-US" altLang="ko-KR" sz="1600" dirty="0">
                <a:solidFill>
                  <a:schemeClr val="bg1"/>
                </a:solidFill>
              </a:rPr>
              <a:t>="abc.css" type="text/</a:t>
            </a:r>
            <a:r>
              <a:rPr lang="en-US" altLang="ko-KR" sz="1600" dirty="0" err="1">
                <a:solidFill>
                  <a:schemeClr val="bg1"/>
                </a:solidFill>
              </a:rPr>
              <a:t>css</a:t>
            </a:r>
            <a:r>
              <a:rPr lang="en-US" altLang="ko-KR" sz="1600" dirty="0">
                <a:solidFill>
                  <a:schemeClr val="bg1"/>
                </a:solidFill>
              </a:rPr>
              <a:t>" </a:t>
            </a:r>
            <a:r>
              <a:rPr lang="en-US" altLang="ko-KR" sz="1600" dirty="0" err="1">
                <a:solidFill>
                  <a:schemeClr val="bg1"/>
                </a:solidFill>
              </a:rPr>
              <a:t>rel</a:t>
            </a:r>
            <a:r>
              <a:rPr lang="en-US" altLang="ko-KR" sz="1600" dirty="0">
                <a:solidFill>
                  <a:schemeClr val="bg1"/>
                </a:solidFill>
              </a:rPr>
              <a:t>="stylesheet&gt;</a:t>
            </a:r>
            <a:r>
              <a:rPr lang="ko-KR" altLang="en-US" sz="1600" dirty="0">
                <a:solidFill>
                  <a:schemeClr val="bg1"/>
                </a:solidFill>
              </a:rPr>
              <a:t>를 사용하여 불러올 수 있다</a:t>
            </a:r>
            <a:r>
              <a:rPr lang="en-US" altLang="ko-KR" sz="1600" dirty="0">
                <a:solidFill>
                  <a:schemeClr val="bg1"/>
                </a:solidFill>
              </a:rPr>
              <a:t>. </a:t>
            </a:r>
            <a:endParaRPr lang="ko-KR" altLang="en-US" sz="1600" dirty="0">
              <a:solidFill>
                <a:schemeClr val="bg1"/>
              </a:solidFill>
            </a:endParaRPr>
          </a:p>
          <a:p>
            <a:pPr fontAlgn="base"/>
            <a:r>
              <a:rPr lang="ko-KR" altLang="en-US" sz="1600" dirty="0">
                <a:solidFill>
                  <a:srgbClr val="FFFF00"/>
                </a:solidFill>
              </a:rPr>
              <a:t>중요한 </a:t>
            </a:r>
            <a:r>
              <a:rPr lang="en-US" altLang="ko-KR" sz="1600" dirty="0">
                <a:solidFill>
                  <a:srgbClr val="FFFF00"/>
                </a:solidFill>
              </a:rPr>
              <a:t>CSS </a:t>
            </a:r>
            <a:r>
              <a:rPr lang="ko-KR" altLang="en-US" sz="1600" dirty="0">
                <a:solidFill>
                  <a:srgbClr val="FFFF00"/>
                </a:solidFill>
              </a:rPr>
              <a:t>속성 이름을 몇 개 말할 수 있나요</a:t>
            </a:r>
            <a:r>
              <a:rPr lang="en-US" altLang="ko-KR" sz="1600" dirty="0">
                <a:solidFill>
                  <a:srgbClr val="FFFF00"/>
                </a:solidFill>
              </a:rPr>
              <a:t>?</a:t>
            </a:r>
            <a:endParaRPr lang="ko-KR" altLang="en-US" sz="1600" dirty="0">
              <a:solidFill>
                <a:srgbClr val="FFFF00"/>
              </a:solidFill>
            </a:endParaRPr>
          </a:p>
          <a:p>
            <a:pPr lvl="1" fontAlgn="base"/>
            <a:r>
              <a:rPr lang="ko-KR" altLang="en-US" sz="1600" dirty="0">
                <a:solidFill>
                  <a:schemeClr val="bg1"/>
                </a:solidFill>
              </a:rPr>
              <a:t>텍스트 색상을 변경하려면 </a:t>
            </a:r>
            <a:r>
              <a:rPr lang="en-US" altLang="ko-KR" sz="1600" dirty="0">
                <a:solidFill>
                  <a:schemeClr val="bg1"/>
                </a:solidFill>
              </a:rPr>
              <a:t>color </a:t>
            </a:r>
            <a:r>
              <a:rPr lang="ko-KR" altLang="en-US" sz="1600" dirty="0">
                <a:solidFill>
                  <a:schemeClr val="bg1"/>
                </a:solidFill>
              </a:rPr>
              <a:t>속성을 사용한다</a:t>
            </a:r>
            <a:r>
              <a:rPr lang="en-US" altLang="ko-KR" sz="1600" dirty="0">
                <a:solidFill>
                  <a:schemeClr val="bg1"/>
                </a:solidFill>
              </a:rPr>
              <a:t>. </a:t>
            </a:r>
            <a:r>
              <a:rPr lang="ko-KR" altLang="en-US" sz="1600" dirty="0">
                <a:solidFill>
                  <a:schemeClr val="bg1"/>
                </a:solidFill>
              </a:rPr>
              <a:t>폰트 크기를 변경하려면 </a:t>
            </a:r>
            <a:r>
              <a:rPr lang="en-US" altLang="ko-KR" sz="1600" dirty="0">
                <a:solidFill>
                  <a:schemeClr val="bg1"/>
                </a:solidFill>
              </a:rPr>
              <a:t>font-size </a:t>
            </a:r>
            <a:r>
              <a:rPr lang="ko-KR" altLang="en-US" sz="1600" dirty="0">
                <a:solidFill>
                  <a:schemeClr val="bg1"/>
                </a:solidFill>
              </a:rPr>
              <a:t>속성을 사용한다</a:t>
            </a:r>
            <a:r>
              <a:rPr lang="en-US" altLang="ko-KR" sz="1600" dirty="0">
                <a:solidFill>
                  <a:schemeClr val="bg1"/>
                </a:solidFill>
              </a:rPr>
              <a:t>. </a:t>
            </a:r>
            <a:r>
              <a:rPr lang="ko-KR" altLang="en-US" sz="1600" dirty="0">
                <a:solidFill>
                  <a:schemeClr val="bg1"/>
                </a:solidFill>
              </a:rPr>
              <a:t>배경색을 변경하려면 </a:t>
            </a:r>
            <a:r>
              <a:rPr lang="en-US" altLang="ko-KR" sz="1600" dirty="0">
                <a:solidFill>
                  <a:schemeClr val="bg1"/>
                </a:solidFill>
              </a:rPr>
              <a:t>background-color</a:t>
            </a:r>
            <a:r>
              <a:rPr lang="ko-KR" altLang="en-US" sz="1600" dirty="0">
                <a:solidFill>
                  <a:schemeClr val="bg1"/>
                </a:solidFill>
              </a:rPr>
              <a:t>를 사용한다</a:t>
            </a:r>
            <a:r>
              <a:rPr lang="en-US" altLang="ko-KR" sz="1600" dirty="0">
                <a:solidFill>
                  <a:schemeClr val="bg1"/>
                </a:solidFill>
              </a:rPr>
              <a:t>.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674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371475"/>
            <a:ext cx="7623175" cy="571500"/>
          </a:xfrm>
        </p:spPr>
        <p:txBody>
          <a:bodyPr>
            <a:normAutofit fontScale="90000"/>
          </a:bodyPr>
          <a:lstStyle/>
          <a:p>
            <a:r>
              <a:rPr lang="en-US" altLang="ko-KR" sz="3600"/>
              <a:t>Q &amp; A</a:t>
            </a:r>
          </a:p>
        </p:txBody>
      </p:sp>
      <p:pic>
        <p:nvPicPr>
          <p:cNvPr id="457731" name="Picture 3" descr="MCj024069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1978025"/>
            <a:ext cx="2797175" cy="202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7732" name="Picture 4" descr="MCj041650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2103438"/>
            <a:ext cx="1706562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2383</TotalTime>
  <Words>3849</Words>
  <Application>Microsoft Office PowerPoint</Application>
  <PresentationFormat>화면 슬라이드 쇼(4:3)</PresentationFormat>
  <Paragraphs>661</Paragraphs>
  <Slides>75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75</vt:i4>
      </vt:variant>
    </vt:vector>
  </HeadingPairs>
  <TitlesOfParts>
    <vt:vector size="83" baseType="lpstr">
      <vt:lpstr>굴림</vt:lpstr>
      <vt:lpstr>Arial</vt:lpstr>
      <vt:lpstr>Century Schoolbook</vt:lpstr>
      <vt:lpstr>Symbol</vt:lpstr>
      <vt:lpstr>Trebuchet MS</vt:lpstr>
      <vt:lpstr>Tw Cen MT</vt:lpstr>
      <vt:lpstr>Wingdings</vt:lpstr>
      <vt:lpstr>가을</vt:lpstr>
      <vt:lpstr>제4장 CSS3 스타일 시트 기초</vt:lpstr>
      <vt:lpstr>이번 장의 목표</vt:lpstr>
      <vt:lpstr>CSS의 개념</vt:lpstr>
      <vt:lpstr>CSS의 역할</vt:lpstr>
      <vt:lpstr>스타일 시트</vt:lpstr>
      <vt:lpstr>CSS</vt:lpstr>
      <vt:lpstr>CSS3의 기능</vt:lpstr>
      <vt:lpstr>CSS의 필요성</vt:lpstr>
      <vt:lpstr>CSS3의 문법 </vt:lpstr>
      <vt:lpstr>CSS의 위치</vt:lpstr>
      <vt:lpstr>예제</vt:lpstr>
      <vt:lpstr>중간점검</vt:lpstr>
      <vt:lpstr>선택자</vt:lpstr>
      <vt:lpstr>선택자</vt:lpstr>
      <vt:lpstr>선택자의 종류</vt:lpstr>
      <vt:lpstr>선택자 설명을 위한 웹페이지</vt:lpstr>
      <vt:lpstr>타입 선택자</vt:lpstr>
      <vt:lpstr>전체 선택자</vt:lpstr>
      <vt:lpstr>아이디 선택자</vt:lpstr>
      <vt:lpstr>예제</vt:lpstr>
      <vt:lpstr>클래스 선택자</vt:lpstr>
      <vt:lpstr>예제</vt:lpstr>
      <vt:lpstr>선택자 그룹</vt:lpstr>
      <vt:lpstr>예제</vt:lpstr>
      <vt:lpstr>후손, 자식 선택자</vt:lpstr>
      <vt:lpstr>예제</vt:lpstr>
      <vt:lpstr>의사 클래스</vt:lpstr>
      <vt:lpstr>예제</vt:lpstr>
      <vt:lpstr>예제</vt:lpstr>
      <vt:lpstr>중간점검</vt:lpstr>
      <vt:lpstr>Lab: 웹페이지에 스타일 지정하기</vt:lpstr>
      <vt:lpstr>Sol.</vt:lpstr>
      <vt:lpstr>Sol.</vt:lpstr>
      <vt:lpstr>CSS를 추가하는 방법</vt:lpstr>
      <vt:lpstr>내부 스타일 시트</vt:lpstr>
      <vt:lpstr>외부 스타일 시트</vt:lpstr>
      <vt:lpstr>예제</vt:lpstr>
      <vt:lpstr>인라인 스타일 시트</vt:lpstr>
      <vt:lpstr>다중 스타일 시트</vt:lpstr>
      <vt:lpstr>스타일의 상속</vt:lpstr>
      <vt:lpstr>우선순위</vt:lpstr>
      <vt:lpstr>CSS의 속성들</vt:lpstr>
      <vt:lpstr>중간점검</vt:lpstr>
      <vt:lpstr>Lab: 외부 CSS 파일 이용하기</vt:lpstr>
      <vt:lpstr>Sol.</vt:lpstr>
      <vt:lpstr>색상</vt:lpstr>
      <vt:lpstr>16진수로 색상 나타내기</vt:lpstr>
      <vt:lpstr>색상의 이름으로 나타내기</vt:lpstr>
      <vt:lpstr>RGB 값으로 표시하기</vt:lpstr>
      <vt:lpstr>원하는 색상을 찾는 방법</vt:lpstr>
      <vt:lpstr>예제: 간략한 컬러 차트 작성</vt:lpstr>
      <vt:lpstr>중간점검</vt:lpstr>
      <vt:lpstr>폰트</vt:lpstr>
      <vt:lpstr>폰트 지정</vt:lpstr>
      <vt:lpstr>폰트 선택 과정</vt:lpstr>
      <vt:lpstr>폰트 패밀리</vt:lpstr>
      <vt:lpstr>폰트 크기 설정</vt:lpstr>
      <vt:lpstr>폰트 크기 설정</vt:lpstr>
      <vt:lpstr>폰트 크기 설정</vt:lpstr>
      <vt:lpstr>폰트 크기 예제</vt:lpstr>
      <vt:lpstr>폰트 속성</vt:lpstr>
      <vt:lpstr>폰트 축약 기법</vt:lpstr>
      <vt:lpstr>중간점검</vt:lpstr>
      <vt:lpstr>텍스트 스타일</vt:lpstr>
      <vt:lpstr>텍스트 정렬</vt:lpstr>
      <vt:lpstr>텍스트 장식</vt:lpstr>
      <vt:lpstr>텍스트 변환</vt:lpstr>
      <vt:lpstr>텍스트 그림자</vt:lpstr>
      <vt:lpstr>Word Wrapping</vt:lpstr>
      <vt:lpstr>다중 컬럼</vt:lpstr>
      <vt:lpstr>중간점검</vt:lpstr>
      <vt:lpstr>Mini Project: CSS로 스타일 꾸미기</vt:lpstr>
      <vt:lpstr>이번 장에서 배운 것</vt:lpstr>
      <vt:lpstr>이번 장에서 배운 것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creator>천인국</dc:creator>
  <cp:lastModifiedBy>한석범</cp:lastModifiedBy>
  <cp:revision>372</cp:revision>
  <dcterms:created xsi:type="dcterms:W3CDTF">2007-06-29T06:43:39Z</dcterms:created>
  <dcterms:modified xsi:type="dcterms:W3CDTF">2023-01-16T02:57:39Z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