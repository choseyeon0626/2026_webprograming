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70"/>
  </p:notesMasterIdLst>
  <p:handoutMasterIdLst>
    <p:handoutMasterId r:id="rId71"/>
  </p:handoutMasterIdLst>
  <p:sldIdLst>
    <p:sldId id="793" r:id="rId2"/>
    <p:sldId id="794" r:id="rId3"/>
    <p:sldId id="795" r:id="rId4"/>
    <p:sldId id="796" r:id="rId5"/>
    <p:sldId id="797" r:id="rId6"/>
    <p:sldId id="798" r:id="rId7"/>
    <p:sldId id="799" r:id="rId8"/>
    <p:sldId id="800" r:id="rId9"/>
    <p:sldId id="801" r:id="rId10"/>
    <p:sldId id="802" r:id="rId11"/>
    <p:sldId id="803" r:id="rId12"/>
    <p:sldId id="804" r:id="rId13"/>
    <p:sldId id="805" r:id="rId14"/>
    <p:sldId id="806" r:id="rId15"/>
    <p:sldId id="807" r:id="rId16"/>
    <p:sldId id="808" r:id="rId17"/>
    <p:sldId id="809" r:id="rId18"/>
    <p:sldId id="810" r:id="rId19"/>
    <p:sldId id="811" r:id="rId20"/>
    <p:sldId id="812" r:id="rId21"/>
    <p:sldId id="813" r:id="rId22"/>
    <p:sldId id="814" r:id="rId23"/>
    <p:sldId id="815" r:id="rId24"/>
    <p:sldId id="816" r:id="rId25"/>
    <p:sldId id="817" r:id="rId26"/>
    <p:sldId id="853" r:id="rId27"/>
    <p:sldId id="818" r:id="rId28"/>
    <p:sldId id="819" r:id="rId29"/>
    <p:sldId id="855" r:id="rId30"/>
    <p:sldId id="854" r:id="rId31"/>
    <p:sldId id="820" r:id="rId32"/>
    <p:sldId id="821" r:id="rId33"/>
    <p:sldId id="822" r:id="rId34"/>
    <p:sldId id="823" r:id="rId35"/>
    <p:sldId id="824" r:id="rId36"/>
    <p:sldId id="825" r:id="rId37"/>
    <p:sldId id="826" r:id="rId38"/>
    <p:sldId id="827" r:id="rId39"/>
    <p:sldId id="828" r:id="rId40"/>
    <p:sldId id="829" r:id="rId41"/>
    <p:sldId id="830" r:id="rId42"/>
    <p:sldId id="856" r:id="rId43"/>
    <p:sldId id="831" r:id="rId44"/>
    <p:sldId id="832" r:id="rId45"/>
    <p:sldId id="833" r:id="rId46"/>
    <p:sldId id="834" r:id="rId47"/>
    <p:sldId id="835" r:id="rId48"/>
    <p:sldId id="836" r:id="rId49"/>
    <p:sldId id="837" r:id="rId50"/>
    <p:sldId id="838" r:id="rId51"/>
    <p:sldId id="839" r:id="rId52"/>
    <p:sldId id="840" r:id="rId53"/>
    <p:sldId id="841" r:id="rId54"/>
    <p:sldId id="842" r:id="rId55"/>
    <p:sldId id="857" r:id="rId56"/>
    <p:sldId id="858" r:id="rId57"/>
    <p:sldId id="859" r:id="rId58"/>
    <p:sldId id="860" r:id="rId59"/>
    <p:sldId id="861" r:id="rId60"/>
    <p:sldId id="844" r:id="rId61"/>
    <p:sldId id="843" r:id="rId62"/>
    <p:sldId id="845" r:id="rId63"/>
    <p:sldId id="846" r:id="rId64"/>
    <p:sldId id="847" r:id="rId65"/>
    <p:sldId id="749" r:id="rId66"/>
    <p:sldId id="848" r:id="rId67"/>
    <p:sldId id="849" r:id="rId68"/>
    <p:sldId id="850" r:id="rId69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6699FF"/>
    <a:srgbClr val="FF9999"/>
    <a:srgbClr val="FFFFFF"/>
    <a:srgbClr val="CCCCFF"/>
    <a:srgbClr val="009E00"/>
    <a:srgbClr val="FF9933"/>
    <a:srgbClr val="3333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5" autoAdjust="0"/>
    <p:restoredTop sz="93514" autoAdjust="0"/>
  </p:normalViewPr>
  <p:slideViewPr>
    <p:cSldViewPr snapToGrid="0"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-3780" y="-108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fld id="{176FFADF-79CB-4D72-852F-AAC670A3D0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1819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fld id="{949F3908-8432-46C2-9A97-2AAB410800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33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b="1" cap="all" baseline="0"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ABB0B8C-13C6-D100-4F51-F4B88AB1C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544" y="452984"/>
            <a:ext cx="4175418" cy="29760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2F332B33-FE4B-332C-C8F6-33DAE596D7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65" y="30156"/>
            <a:ext cx="2325757" cy="19740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4DC9728C-0955-02D8-C681-D6F6A47A9B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401" y="2322720"/>
            <a:ext cx="991299" cy="9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55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 marL="320040" indent="-320040">
              <a:buSzPct val="80000"/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9714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35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23BC6CE-6D1E-47E5-8859-F31AC5380EB2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79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B4E7C4-4DA4-404D-9965-B13F2DD7D8BF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6929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EB8132-3E69-42D4-86FC-16113E9DD667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318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1E074-CA2B-4440-94E7-E49724C4F161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059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2110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471A834-4F3C-4AF9-9C74-05EC35A0F292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67888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006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F0FD78B-DB02-4362-BCDC-98A55456977C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7627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4F664675-8C21-FFC1-7211-EB6C9C1B5E1D}"/>
              </a:ext>
            </a:extLst>
          </p:cNvPr>
          <p:cNvSpPr/>
          <p:nvPr userDrawn="1"/>
        </p:nvSpPr>
        <p:spPr>
          <a:xfrm>
            <a:off x="2" y="1282709"/>
            <a:ext cx="8248648" cy="229197"/>
          </a:xfrm>
          <a:prstGeom prst="rect">
            <a:avLst/>
          </a:prstGeom>
          <a:solidFill>
            <a:srgbClr val="F68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5C0DFEF8-E3B7-63D6-7B28-360103540D6B}"/>
              </a:ext>
            </a:extLst>
          </p:cNvPr>
          <p:cNvSpPr/>
          <p:nvPr userDrawn="1"/>
        </p:nvSpPr>
        <p:spPr>
          <a:xfrm>
            <a:off x="7372350" y="1281596"/>
            <a:ext cx="1776412" cy="230310"/>
          </a:xfrm>
          <a:prstGeom prst="rect">
            <a:avLst/>
          </a:prstGeom>
          <a:solidFill>
            <a:srgbClr val="C5A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6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9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16E563C-52F5-1464-777E-54F6DF4B1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</a:t>
            </a:r>
            <a:r>
              <a:rPr lang="ko-KR" altLang="en-US" dirty="0"/>
              <a:t>장 모바일 웹페이지와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반응형 </a:t>
            </a:r>
            <a:r>
              <a:rPr lang="ko-KR" altLang="en-US" dirty="0"/>
              <a:t>웹디자인</a:t>
            </a:r>
          </a:p>
        </p:txBody>
      </p:sp>
    </p:spTree>
    <p:extLst>
      <p:ext uri="{BB962C8B-B14F-4D97-AF65-F5344CB8AC3E}">
        <p14:creationId xmlns:p14="http://schemas.microsoft.com/office/powerpoint/2010/main" val="401867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F084BE1-FB35-E3FA-5D36-D75E35FE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 웹 디자인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A924D0B-8B94-47DA-EB9E-897C03A53E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요즘은 모바일이 대세이다 보니</a:t>
            </a:r>
            <a:r>
              <a:rPr lang="en-US" altLang="ko-KR" dirty="0"/>
              <a:t>, </a:t>
            </a:r>
            <a:r>
              <a:rPr lang="ko-KR" altLang="en-US" dirty="0"/>
              <a:t>스마트폰이나 태블릿에서 웹사이트에 접속하는 경우가 많이 발생한다</a:t>
            </a:r>
            <a:r>
              <a:rPr lang="en-US" altLang="ko-KR" dirty="0"/>
              <a:t>. </a:t>
            </a:r>
            <a:r>
              <a:rPr lang="ko-KR" altLang="en-US" dirty="0"/>
              <a:t>일반적으로 스마트폰이나 태블릿은 화면의 크기가 작기 때문에</a:t>
            </a:r>
            <a:r>
              <a:rPr lang="en-US" altLang="ko-KR" dirty="0"/>
              <a:t>, PC</a:t>
            </a:r>
            <a:r>
              <a:rPr lang="ko-KR" altLang="en-US" dirty="0"/>
              <a:t>용으로 제작된 웹사이트를 스마트폰으로 보면 글자가 너무 작아진다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3D3009-D437-E8A4-B74F-CA6DB9464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442592040">
            <a:extLst>
              <a:ext uri="{FF2B5EF4-FFF2-40B4-BE49-F238E27FC236}">
                <a16:creationId xmlns="" xmlns:a16="http://schemas.microsoft.com/office/drawing/2014/main" id="{715179DC-80CC-6289-491A-381D6DB2E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733" y="2901636"/>
            <a:ext cx="4662534" cy="350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97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83E746C-27EF-8E18-FEF0-03D8A65C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모바일을 위한 </a:t>
            </a:r>
            <a:r>
              <a:rPr lang="en-US" altLang="ko-KR" dirty="0"/>
              <a:t>2</a:t>
            </a:r>
            <a:r>
              <a:rPr lang="ko-KR" altLang="en-US" dirty="0"/>
              <a:t>가지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C05D55B-825E-5265-B149-5A8CD69DBD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포털 사이트나 쇼핑몰 사이트에서는 </a:t>
            </a:r>
            <a:r>
              <a:rPr lang="en-US" altLang="ko-KR" dirty="0"/>
              <a:t>m.naver.com</a:t>
            </a:r>
            <a:r>
              <a:rPr lang="ko-KR" altLang="en-US" dirty="0"/>
              <a:t>와 같은 모바일 버전 사이트를 만들어서 유지하였다</a:t>
            </a:r>
            <a:r>
              <a:rPr lang="en-US" altLang="ko-KR" dirty="0"/>
              <a:t>. </a:t>
            </a:r>
            <a:r>
              <a:rPr lang="ko-KR" altLang="en-US" dirty="0"/>
              <a:t>이것을 “적응형 </a:t>
            </a:r>
            <a:r>
              <a:rPr lang="ko-KR" altLang="en-US" dirty="0" err="1"/>
              <a:t>웹”이라고도</a:t>
            </a:r>
            <a:r>
              <a:rPr lang="ko-KR" altLang="en-US" dirty="0"/>
              <a:t> 한다</a:t>
            </a:r>
            <a:r>
              <a:rPr lang="en-US" altLang="ko-KR" dirty="0"/>
              <a:t>. </a:t>
            </a:r>
          </a:p>
          <a:p>
            <a:pPr marL="662940" lvl="1" indent="-342900">
              <a:buFont typeface="+mj-lt"/>
              <a:buAutoNum type="arabicPeriod"/>
            </a:pPr>
            <a:r>
              <a:rPr lang="ko-KR" altLang="en-US" dirty="0"/>
              <a:t>서버에서 클라이언트가 모바일 장치인지 </a:t>
            </a:r>
            <a:r>
              <a:rPr lang="en-US" altLang="ko-KR" dirty="0"/>
              <a:t>PC</a:t>
            </a:r>
            <a:r>
              <a:rPr lang="ko-KR" altLang="en-US" dirty="0"/>
              <a:t>인지를 파악해서</a:t>
            </a:r>
            <a:r>
              <a:rPr lang="en-US" altLang="ko-KR" dirty="0"/>
              <a:t>, </a:t>
            </a:r>
            <a:r>
              <a:rPr lang="ko-KR" altLang="en-US" dirty="0"/>
              <a:t>접속하는 사이트를 아예 다르게 하는 것이다</a:t>
            </a:r>
            <a:r>
              <a:rPr lang="en-US" altLang="ko-KR" dirty="0"/>
              <a:t>.</a:t>
            </a:r>
          </a:p>
          <a:p>
            <a:pPr marL="662940" lvl="1" indent="-342900">
              <a:buFont typeface="+mj-lt"/>
              <a:buAutoNum type="arabicPeriod"/>
            </a:pPr>
            <a:r>
              <a:rPr lang="ko-KR" altLang="en-US" dirty="0"/>
              <a:t>하지만 이 방법을 사용하려면 웹사이트를 두 가지의 별도 버전으로 개발하여야 했다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하나의 웹페이지를 가지고 다양한 화면 크기에 맞춰서 변형할 수는 없을까</a:t>
            </a:r>
            <a:r>
              <a:rPr lang="en-US" altLang="ko-KR" dirty="0"/>
              <a:t>? </a:t>
            </a:r>
            <a:r>
              <a:rPr lang="ko-KR" altLang="en-US" dirty="0"/>
              <a:t>이런 이유로 등장한 기술이 반응형 웹 디자인</a:t>
            </a:r>
            <a:r>
              <a:rPr lang="en-US" altLang="ko-KR" dirty="0"/>
              <a:t>(responsive web design: RWD)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182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3D2FA8-5F21-B6B5-B376-583F706B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 웹 디자인의 역사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53BFA7-9795-7C82-96F3-C248181862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반응형 웹 디자인</a:t>
            </a:r>
            <a:r>
              <a:rPr lang="en-US" altLang="ko-KR" dirty="0"/>
              <a:t>(RWD: Responsive Web Design)</a:t>
            </a:r>
            <a:r>
              <a:rPr lang="ko-KR" altLang="en-US" dirty="0"/>
              <a:t>이라는 용어는 </a:t>
            </a:r>
            <a:r>
              <a:rPr lang="en-US" altLang="ko-KR" dirty="0"/>
              <a:t>2010</a:t>
            </a:r>
            <a:r>
              <a:rPr lang="ko-KR" altLang="en-US" dirty="0"/>
              <a:t>년에 </a:t>
            </a:r>
            <a:r>
              <a:rPr lang="en-US" altLang="ko-KR" dirty="0"/>
              <a:t>Ethan Marcotte</a:t>
            </a:r>
            <a:r>
              <a:rPr lang="ko-KR" altLang="en-US" dirty="0"/>
              <a:t>에 의하여 만들어졌다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8E2B34B-42EF-3254-AFAE-A1E1A32E3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442579440">
            <a:extLst>
              <a:ext uri="{FF2B5EF4-FFF2-40B4-BE49-F238E27FC236}">
                <a16:creationId xmlns="" xmlns:a16="http://schemas.microsoft.com/office/drawing/2014/main" id="{F486D944-CC93-4055-1850-2D1723688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77" y="2709965"/>
            <a:ext cx="5866646" cy="304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73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81DB1DE-F6EF-3C0A-DBAB-C315F7A1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 웹디자인의 </a:t>
            </a:r>
            <a:r>
              <a:rPr lang="en-US" altLang="ko-KR" dirty="0"/>
              <a:t>3</a:t>
            </a:r>
            <a:r>
              <a:rPr lang="ko-KR" altLang="en-US" dirty="0"/>
              <a:t>가지 기법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FA65DB1-C425-AE85-82A7-48ACD6FCA4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첫 번째 아이디어는 미디어 쿼리</a:t>
            </a:r>
            <a:r>
              <a:rPr lang="en-US" altLang="ko-KR" dirty="0"/>
              <a:t>(media query)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미디어 쿼리를 사용하면 장치가 가지고 있는 실제 화면의 크기를 알아낼 수 있고</a:t>
            </a:r>
            <a:r>
              <a:rPr lang="en-US" altLang="ko-KR" dirty="0"/>
              <a:t>, </a:t>
            </a:r>
            <a:r>
              <a:rPr lang="ko-KR" altLang="en-US" dirty="0"/>
              <a:t>화면 크기에 따라 화면의 레이아웃을 변경할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두 번째 아이디어는 유동 레이아웃</a:t>
            </a:r>
            <a:r>
              <a:rPr lang="en-US" altLang="ko-KR" dirty="0"/>
              <a:t>(fluid layout)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기본적인 개념은 화면의 레이아웃을 설계할 때 픽셀과 같은 절대적인 수치보다는 퍼센트</a:t>
            </a:r>
            <a:r>
              <a:rPr lang="en-US" altLang="ko-KR" dirty="0"/>
              <a:t>(%)</a:t>
            </a:r>
            <a:r>
              <a:rPr lang="ko-KR" altLang="en-US" dirty="0"/>
              <a:t>와 같은 상대적인 수치를 사용하는 것이다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세 번째 아이디어는 유동 이미지</a:t>
            </a:r>
            <a:r>
              <a:rPr lang="en-US" altLang="ko-KR" dirty="0"/>
              <a:t>(fluid image)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이미지를 장치의 크기에 맞추는 기술이다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99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2C96121-B6B6-FFBB-4ACD-CC0B351E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반응형이 아니면 어떤 문제점이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BA799AB5-BA0A-0E50-2A00-E1E4E857DA7F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200"/>
            <a:ext cx="8212138" cy="512652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lang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en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algn="l"/>
            <a:endParaRPr lang="ko-KR" altLang="en-US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pt-BR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pt-BR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</a:t>
            </a:r>
            <a:r>
              <a:rPr lang="pt-BR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pt-BR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1.2em</a:t>
            </a:r>
            <a:r>
              <a:rPr lang="pt-BR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Helvetica</a:t>
            </a:r>
            <a:r>
              <a:rPr lang="pt-BR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pt-BR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Arial</a:t>
            </a:r>
            <a:r>
              <a:rPr lang="pt-BR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pt-BR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sans-serif</a:t>
            </a:r>
            <a:r>
              <a:rPr lang="pt-BR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233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225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225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960px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2em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537199" y="6159812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rwd1.html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676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2C96121-B6B6-FFBB-4ACD-CC0B351E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반응형이 아니면 어떤 문제점이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BA799AB5-BA0A-0E50-2A00-E1E4E857DA7F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200"/>
            <a:ext cx="8212138" cy="42483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.column2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"column1"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이것은 고정된 크기를 사용하는  레이아웃의 예입니다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브라우저 윈도우를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좁게하면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어떤 일이 발생할까요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?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"column2"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Alice was beginning to get very tired of ...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So she was considering in her own mind ...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208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2C96121-B6B6-FFBB-4ACD-CC0B351E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반응형이 아니면 어떤 문제점이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="" xmlns:a16="http://schemas.microsoft.com/office/drawing/2014/main" id="{D6E1E851-793F-8416-69E1-DC5105CCA6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윈도우를 좁게 하면 오른쪽 컬럼은 잘리게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7D49BB9-203A-73ED-D3FA-9EF247AFF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442577424">
            <a:extLst>
              <a:ext uri="{FF2B5EF4-FFF2-40B4-BE49-F238E27FC236}">
                <a16:creationId xmlns="" xmlns:a16="http://schemas.microsoft.com/office/drawing/2014/main" id="{6FD411B7-1CC8-7535-93FC-3B36C9103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153" y="2123168"/>
            <a:ext cx="4277683" cy="443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2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19EDEAD-B9E1-0943-C19F-ADABC771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퍼센트로 요소의 크기를 지정해보자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A16802A4-E2C8-9AFF-AD9B-9911A4467190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200"/>
            <a:ext cx="8212138" cy="42483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90%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2em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25%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.column2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70%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  <a:endParaRPr lang="ko-KR" altLang="en-US" sz="14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09EAF4D6-7234-55EB-BAA9-88F830FE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442576704">
            <a:extLst>
              <a:ext uri="{FF2B5EF4-FFF2-40B4-BE49-F238E27FC236}">
                <a16:creationId xmlns="" xmlns:a16="http://schemas.microsoft.com/office/drawing/2014/main" id="{83F79F7B-CF2C-3282-AB5B-29F999641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272" y="1600200"/>
            <a:ext cx="3732514" cy="386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32888195-5E02-236E-69E7-1F20C8149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9" name="_x442575264">
            <a:extLst>
              <a:ext uri="{FF2B5EF4-FFF2-40B4-BE49-F238E27FC236}">
                <a16:creationId xmlns="" xmlns:a16="http://schemas.microsoft.com/office/drawing/2014/main" id="{467F7905-4BCD-29B7-5B99-823E89866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" y="5653673"/>
            <a:ext cx="8955024" cy="105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714486" y="5306668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rwd2.html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89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D5F91A9-A382-6FBF-EF42-9C43A1A7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</a:t>
            </a:r>
            <a:r>
              <a:rPr lang="ko-KR" altLang="en-US" dirty="0" err="1"/>
              <a:t>뷰포트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1A29379-A601-60C5-1D4D-713056616D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웹페이지를 스마트폰으로 확인하는 방법</a:t>
            </a:r>
            <a:r>
              <a:rPr lang="en-US" altLang="ko-KR" dirty="0"/>
              <a:t>-&gt; VS Code</a:t>
            </a:r>
            <a:r>
              <a:rPr lang="ko-KR" altLang="en-US" dirty="0"/>
              <a:t>의 라이브 서버만 있으면 된다</a:t>
            </a:r>
            <a:r>
              <a:rPr lang="en-US" altLang="ko-KR" dirty="0"/>
              <a:t>. </a:t>
            </a:r>
            <a:r>
              <a:rPr lang="ko-KR" altLang="en-US" dirty="0"/>
              <a:t>다만 로컬 컴퓨터와 스마트폰이 동일한 공유기를 사용하고 있어야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스마트폰의 </a:t>
            </a:r>
            <a:r>
              <a:rPr lang="ko-KR" altLang="en-US" dirty="0" err="1"/>
              <a:t>웹브라우저에서</a:t>
            </a:r>
            <a:r>
              <a:rPr lang="ko-KR" altLang="en-US" dirty="0"/>
              <a:t> </a:t>
            </a:r>
            <a:r>
              <a:rPr lang="en-US" altLang="ko-KR" dirty="0"/>
              <a:t>http://192.168.0.15:5500/chap13/rwd1.html </a:t>
            </a:r>
            <a:r>
              <a:rPr lang="ko-KR" altLang="en-US" dirty="0"/>
              <a:t>주소로 연결한다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VS Code</a:t>
            </a:r>
            <a:r>
              <a:rPr lang="ko-KR" altLang="en-US" dirty="0"/>
              <a:t>와 라이브 서버는 동작 중이어야 한다</a:t>
            </a:r>
            <a:r>
              <a:rPr lang="en-US" altLang="ko-KR" dirty="0"/>
              <a:t>. </a:t>
            </a:r>
            <a:r>
              <a:rPr lang="ko-KR" altLang="en-US" dirty="0"/>
              <a:t>포트 번호로 </a:t>
            </a:r>
            <a:r>
              <a:rPr lang="en-US" altLang="ko-KR" dirty="0"/>
              <a:t>5500</a:t>
            </a:r>
            <a:r>
              <a:rPr lang="ko-KR" altLang="en-US" dirty="0"/>
              <a:t>을 입력하여야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121" name="_x442561368">
            <a:extLst>
              <a:ext uri="{FF2B5EF4-FFF2-40B4-BE49-F238E27FC236}">
                <a16:creationId xmlns="" xmlns:a16="http://schemas.microsoft.com/office/drawing/2014/main" id="{1F3E4D9C-B674-7BAE-6C39-7EFB85FF4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45"/>
          <a:stretch>
            <a:fillRect/>
          </a:stretch>
        </p:blipFill>
        <p:spPr bwMode="auto">
          <a:xfrm>
            <a:off x="5015620" y="3246245"/>
            <a:ext cx="2679826" cy="323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681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13FDD3C-DF42-8A8D-D8CC-5DE09B3E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크롬의 개발자 도구 사용하기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0D85089-C66B-6932-C616-D5CF52EE0E2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만약 어떤 이유로 실제 스마트폰으로 보는 것이 불가능하다면 어떻게 하는 것이 좋을까</a:t>
            </a:r>
            <a:r>
              <a:rPr lang="en-US" altLang="ko-KR" dirty="0"/>
              <a:t>? </a:t>
            </a:r>
            <a:r>
              <a:rPr lang="ko-KR" altLang="en-US" dirty="0"/>
              <a:t>이때 편리하게 사용할 수 있는 도구가 크롬의 개발자 도구에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7E658BA-70FF-7AE2-C994-EDECCF929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442618896">
            <a:extLst>
              <a:ext uri="{FF2B5EF4-FFF2-40B4-BE49-F238E27FC236}">
                <a16:creationId xmlns="" xmlns:a16="http://schemas.microsoft.com/office/drawing/2014/main" id="{61302781-F39F-B165-857D-61A53607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60" y="2710451"/>
            <a:ext cx="7709132" cy="337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4">
            <a:extLst>
              <a:ext uri="{FF2B5EF4-FFF2-40B4-BE49-F238E27FC236}">
                <a16:creationId xmlns="" xmlns:a16="http://schemas.microsoft.com/office/drawing/2014/main" id="{2C8633EA-70FB-EECD-E98A-2036192A14E6}"/>
              </a:ext>
            </a:extLst>
          </p:cNvPr>
          <p:cNvSpPr/>
          <p:nvPr/>
        </p:nvSpPr>
        <p:spPr>
          <a:xfrm>
            <a:off x="977774" y="3023857"/>
            <a:ext cx="3467477" cy="5613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2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350C118-457E-EAC4-BD67-671E674E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애플사의 가상 </a:t>
            </a:r>
            <a:r>
              <a:rPr lang="ko-KR" altLang="en-US" dirty="0" err="1"/>
              <a:t>뷰포트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0F79902-2546-1160-8509-1248D3DDA0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스마트폰이 처음으로 등장했을 때는 화면의 해상도가 너무 낮아서</a:t>
            </a:r>
            <a:r>
              <a:rPr lang="en-US" altLang="ko-KR" dirty="0"/>
              <a:t>(</a:t>
            </a:r>
            <a:r>
              <a:rPr lang="ko-KR" altLang="en-US" dirty="0"/>
              <a:t>아이폰 </a:t>
            </a:r>
            <a:r>
              <a:rPr lang="en-US" altLang="ko-KR" dirty="0"/>
              <a:t>3GS</a:t>
            </a:r>
            <a:r>
              <a:rPr lang="ko-KR" altLang="en-US" dirty="0"/>
              <a:t>의 경우</a:t>
            </a:r>
            <a:r>
              <a:rPr lang="en-US" altLang="ko-KR" dirty="0"/>
              <a:t>, 320×480), PC</a:t>
            </a:r>
            <a:r>
              <a:rPr lang="ko-KR" altLang="en-US" dirty="0"/>
              <a:t>용으로 제작된 웹페이지들이 한 화면에 담기지 못하고 넘쳐 버렸다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애플은 이 문제를 해결하기 위하여 웹페이지를 실제 스마트폰 해상도로 렌더링하지 않았고</a:t>
            </a:r>
            <a:r>
              <a:rPr lang="en-US" altLang="ko-KR" dirty="0"/>
              <a:t>, 980</a:t>
            </a:r>
            <a:r>
              <a:rPr lang="ko-KR" altLang="en-US" dirty="0"/>
              <a:t>픽셀 크기의 화면이라고 가정하고 웹페이지를 렌더링한 후에</a:t>
            </a:r>
            <a:r>
              <a:rPr lang="en-US" altLang="ko-KR" dirty="0"/>
              <a:t>, </a:t>
            </a:r>
            <a:r>
              <a:rPr lang="ko-KR" altLang="en-US" dirty="0"/>
              <a:t>이를 축소하여 </a:t>
            </a:r>
            <a:r>
              <a:rPr lang="en-US" altLang="ko-KR" dirty="0"/>
              <a:t>320</a:t>
            </a:r>
            <a:r>
              <a:rPr lang="ko-KR" altLang="en-US" dirty="0"/>
              <a:t>픽셀의 화면에 보여주었다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사용자는 터치를 이용하여 원하는 부분을 확대하여 볼 수 있었다</a:t>
            </a:r>
            <a:r>
              <a:rPr lang="en-US" altLang="ko-KR" dirty="0"/>
              <a:t>. </a:t>
            </a:r>
            <a:r>
              <a:rPr lang="ko-KR" altLang="en-US" dirty="0"/>
              <a:t>이것이 바로 가상 </a:t>
            </a:r>
            <a:r>
              <a:rPr lang="ko-KR" altLang="en-US" dirty="0" err="1"/>
              <a:t>뷰포트의</a:t>
            </a:r>
            <a:r>
              <a:rPr lang="ko-KR" altLang="en-US" dirty="0"/>
              <a:t> 시작이었다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24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350C118-457E-EAC4-BD67-671E674E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애플사의 가상 </a:t>
            </a:r>
            <a:r>
              <a:rPr lang="ko-KR" altLang="en-US" dirty="0" err="1"/>
              <a:t>뷰포트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EFB5D68F-A2C4-D906-AD64-1D0E7D9F2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442594488">
            <a:extLst>
              <a:ext uri="{FF2B5EF4-FFF2-40B4-BE49-F238E27FC236}">
                <a16:creationId xmlns="" xmlns:a16="http://schemas.microsoft.com/office/drawing/2014/main" id="{360AC1DD-9FBB-44A2-F59A-CFCC2B36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948" y="1635617"/>
            <a:ext cx="4676563" cy="497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929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BD4E107-05F8-9D73-FB78-AB2B5DA0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뷰포트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769E45A-407B-73CE-FE27-3363B360FA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뷰포트</a:t>
            </a:r>
            <a:r>
              <a:rPr lang="en-US" altLang="ko-KR" dirty="0"/>
              <a:t>(viewport)</a:t>
            </a:r>
            <a:r>
              <a:rPr lang="ko-KR" altLang="en-US" dirty="0"/>
              <a:t>는 </a:t>
            </a:r>
            <a:r>
              <a:rPr lang="ko-KR" altLang="en-US" dirty="0" err="1"/>
              <a:t>모바일</a:t>
            </a:r>
            <a:r>
              <a:rPr lang="ko-KR" altLang="en-US" dirty="0"/>
              <a:t> </a:t>
            </a:r>
            <a:r>
              <a:rPr lang="ko-KR" altLang="en-US" dirty="0" smtClean="0"/>
              <a:t>브라우저가 </a:t>
            </a:r>
            <a:r>
              <a:rPr lang="ko-KR" altLang="en-US" dirty="0" err="1" smtClean="0"/>
              <a:t>웹페이지를</a:t>
            </a:r>
            <a:r>
              <a:rPr lang="ko-KR" altLang="en-US" dirty="0" smtClean="0"/>
              <a:t> 표시할 때 기준으로 삼는 화면의 너비이다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ko-KR" altLang="en-US" dirty="0"/>
              <a:t>아이폰은 기본적으로 </a:t>
            </a:r>
            <a:r>
              <a:rPr lang="en-US" altLang="ko-KR" dirty="0"/>
              <a:t>980px </a:t>
            </a:r>
            <a:r>
              <a:rPr lang="ko-KR" altLang="en-US" dirty="0"/>
              <a:t>크기의 </a:t>
            </a:r>
            <a:r>
              <a:rPr lang="ko-KR" altLang="en-US" dirty="0" err="1"/>
              <a:t>뷰포트를</a:t>
            </a:r>
            <a:r>
              <a:rPr lang="ko-KR" altLang="en-US" dirty="0"/>
              <a:t> 가정하므로 </a:t>
            </a:r>
            <a:r>
              <a:rPr lang="en-US" altLang="ko-KR" dirty="0"/>
              <a:t>980px </a:t>
            </a:r>
            <a:r>
              <a:rPr lang="ko-KR" altLang="en-US" dirty="0"/>
              <a:t>크기로 표시하려고 하는 것이다</a:t>
            </a:r>
            <a:r>
              <a:rPr lang="en-US" altLang="ko-KR" dirty="0"/>
              <a:t>. </a:t>
            </a:r>
            <a:r>
              <a:rPr lang="ko-KR" altLang="en-US" dirty="0"/>
              <a:t>이것을 방지하려면 개발자가 웹페이지에 장치의 해상도로 </a:t>
            </a:r>
            <a:r>
              <a:rPr lang="ko-KR" altLang="en-US" dirty="0" err="1"/>
              <a:t>뷰포트를</a:t>
            </a:r>
            <a:r>
              <a:rPr lang="ko-KR" altLang="en-US" dirty="0"/>
              <a:t> 지정하는 문장을 추가해야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EC045E5-51FF-C5B1-B9B3-5FCCC394D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96" y="3497404"/>
            <a:ext cx="4484144" cy="297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63393A1-AFBE-19AD-F528-845296ACD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뷰포트</a:t>
            </a:r>
            <a:r>
              <a:rPr lang="ko-KR" altLang="en-US" dirty="0"/>
              <a:t> 지정하기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B8CC9C1-C2B3-17C1-5A7E-495DFF9F63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뷰포트는</a:t>
            </a:r>
            <a:r>
              <a:rPr lang="ko-KR" altLang="en-US" dirty="0"/>
              <a:t> 다음과 같은 형식으로 </a:t>
            </a:r>
            <a:r>
              <a:rPr lang="en-US" altLang="ko-KR" dirty="0"/>
              <a:t>&lt;meta&gt; </a:t>
            </a:r>
            <a:r>
              <a:rPr lang="ko-KR" altLang="en-US" dirty="0"/>
              <a:t>태그를 이용하여 웹페이지의 헤드 부분에서 지정한다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95D83883-9252-2504-A809-0F1D752D8C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83" y="2701181"/>
            <a:ext cx="7164234" cy="12823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335E663-FB7E-8B42-18EA-7D3D4513D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35" y="4264216"/>
            <a:ext cx="7007382" cy="19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61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82870D1-2406-531F-BAF1-CBA9C41F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가상 </a:t>
            </a:r>
            <a:r>
              <a:rPr lang="ko-KR" altLang="en-US" dirty="0" err="1"/>
              <a:t>뷰포트</a:t>
            </a:r>
            <a:r>
              <a:rPr lang="ko-KR" altLang="en-US" dirty="0"/>
              <a:t>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56B278C-5EFE-A7E7-B7F7-691034246A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rwd1.html </a:t>
            </a:r>
            <a:r>
              <a:rPr lang="ko-KR" altLang="en-US" dirty="0"/>
              <a:t>파일에서 모든 수치를 </a:t>
            </a:r>
            <a:r>
              <a:rPr lang="en-US" altLang="ko-KR" dirty="0"/>
              <a:t>iPhone SE </a:t>
            </a:r>
            <a:r>
              <a:rPr lang="ko-KR" altLang="en-US" dirty="0"/>
              <a:t>화면의 해상도 </a:t>
            </a:r>
            <a:r>
              <a:rPr lang="en-US" altLang="ko-KR" dirty="0"/>
              <a:t>375×667</a:t>
            </a:r>
            <a:r>
              <a:rPr lang="ko-KR" altLang="en-US" dirty="0"/>
              <a:t>에 맞추고 </a:t>
            </a:r>
            <a:r>
              <a:rPr lang="en-US" altLang="ko-KR" dirty="0"/>
              <a:t>iPhone SE</a:t>
            </a:r>
            <a:r>
              <a:rPr lang="ko-KR" altLang="en-US" dirty="0"/>
              <a:t>에서 실행해보자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A1805C9F-686D-0DFB-6637-CE8C0CBBD305}"/>
              </a:ext>
            </a:extLst>
          </p:cNvPr>
          <p:cNvSpPr txBox="1">
            <a:spLocks/>
          </p:cNvSpPr>
          <p:nvPr/>
        </p:nvSpPr>
        <p:spPr bwMode="auto">
          <a:xfrm>
            <a:off x="465931" y="2381061"/>
            <a:ext cx="8212138" cy="42483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lang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en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...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375px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2em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.column2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150px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  <a:endParaRPr lang="ko-KR" altLang="en-US" sz="14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D643F3A1-E518-3435-A6F8-0F3DC2600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442583760">
            <a:extLst>
              <a:ext uri="{FF2B5EF4-FFF2-40B4-BE49-F238E27FC236}">
                <a16:creationId xmlns="" xmlns:a16="http://schemas.microsoft.com/office/drawing/2014/main" id="{1C60A055-D34B-6576-7EC8-EBA616734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736" y="3143061"/>
            <a:ext cx="484505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65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82870D1-2406-531F-BAF1-CBA9C41F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가상 </a:t>
            </a:r>
            <a:r>
              <a:rPr lang="ko-KR" altLang="en-US" dirty="0" err="1"/>
              <a:t>뷰포트</a:t>
            </a:r>
            <a:r>
              <a:rPr lang="ko-KR" altLang="en-US" dirty="0"/>
              <a:t>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56B278C-5EFE-A7E7-B7F7-691034246A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이번에는 헤드 부분에 다음과 같이 </a:t>
            </a:r>
            <a:r>
              <a:rPr lang="ko-KR" altLang="en-US" dirty="0" err="1"/>
              <a:t>뷰포트를</a:t>
            </a:r>
            <a:r>
              <a:rPr lang="ko-KR" altLang="en-US" dirty="0"/>
              <a:t> 지정하는 한 줄을 추가해보자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A1805C9F-686D-0DFB-6637-CE8C0CBBD305}"/>
              </a:ext>
            </a:extLst>
          </p:cNvPr>
          <p:cNvSpPr txBox="1">
            <a:spLocks/>
          </p:cNvSpPr>
          <p:nvPr/>
        </p:nvSpPr>
        <p:spPr bwMode="auto">
          <a:xfrm>
            <a:off x="465931" y="2381062"/>
            <a:ext cx="8212138" cy="129464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...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D643F3A1-E518-3435-A6F8-0F3DC2600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A89DCCFA-F1FE-EF1F-5DF7-5614C462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442576920">
            <a:extLst>
              <a:ext uri="{FF2B5EF4-FFF2-40B4-BE49-F238E27FC236}">
                <a16:creationId xmlns="" xmlns:a16="http://schemas.microsoft.com/office/drawing/2014/main" id="{6FAF1AAA-A3BE-706C-C50D-58AF03AE8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19" y="3848100"/>
            <a:ext cx="484505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821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6907894-4D35-3A9D-481E-A3E3791A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미디어 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7ED51F63-773B-36A9-5AB8-3E5008A857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 smtClean="0"/>
              <a:t>뷰포트의</a:t>
            </a:r>
            <a:r>
              <a:rPr lang="ko-KR" altLang="en-US" dirty="0" smtClean="0"/>
              <a:t> 크기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너비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높이 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기준으로 </a:t>
            </a:r>
            <a:r>
              <a:rPr lang="en-US" altLang="ko-KR" dirty="0" smtClean="0"/>
              <a:t>CSS</a:t>
            </a:r>
            <a:r>
              <a:rPr lang="ko-KR" altLang="en-US" dirty="0" smtClean="0"/>
              <a:t>를 다르게 적용하는 기능임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2009</a:t>
            </a:r>
            <a:r>
              <a:rPr lang="ko-KR" altLang="en-US" dirty="0"/>
              <a:t>년에 도입된 미디어 쿼리를 이용하여 우리는 장치의 해상도를 파악할 수 있다</a:t>
            </a:r>
            <a:r>
              <a:rPr lang="en-US" altLang="ko-KR" dirty="0"/>
              <a:t>. </a:t>
            </a:r>
            <a:r>
              <a:rPr lang="ko-KR" altLang="en-US" dirty="0"/>
              <a:t>장치의 해상도에 따라서 서로 다른 스타일 시트를 적용하는 것이 핵심이다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18F84921-DA27-4463-BAD1-0EC38DA3E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914" y="3392324"/>
            <a:ext cx="6626429" cy="198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4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1F55CC1-BE61-2702-14F4-CBCE6323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미디어 쿼리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="" xmlns:a16="http://schemas.microsoft.com/office/drawing/2014/main" id="{34C6BFC1-BFF6-E79C-40CB-ADB9DE23A83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57" y="1685120"/>
            <a:ext cx="6645885" cy="2197800"/>
          </a:xfrm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A7FAFE9-8E6D-BB74-D213-EFAEC1411D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57" y="3831808"/>
            <a:ext cx="6645885" cy="219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98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8303709-B6C5-0385-A82F-D5EB2615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화면의 방향 알아내기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2A1509A-E777-4501-227F-E0FD0DE42C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화면의 방향에 따라서 서로 다른 스타일을 적용하는 것도 가능하다</a:t>
            </a:r>
            <a:r>
              <a:rPr lang="en-US" altLang="ko-KR" dirty="0"/>
              <a:t>. </a:t>
            </a:r>
            <a:r>
              <a:rPr lang="ko-KR" altLang="en-US" dirty="0"/>
              <a:t>이것은 미디어 쿼리의 </a:t>
            </a:r>
            <a:r>
              <a:rPr lang="en-US" altLang="ko-KR" dirty="0"/>
              <a:t>orientation </a:t>
            </a:r>
            <a:r>
              <a:rPr lang="ko-KR" altLang="en-US" dirty="0"/>
              <a:t>속성을 이용한다</a:t>
            </a:r>
            <a:r>
              <a:rPr lang="en-US" altLang="ko-KR" dirty="0"/>
              <a:t>. </a:t>
            </a:r>
            <a:r>
              <a:rPr lang="en-US" altLang="ko-KR" dirty="0" err="1"/>
              <a:t>oritentation</a:t>
            </a:r>
            <a:r>
              <a:rPr lang="en-US" altLang="ko-KR" dirty="0"/>
              <a:t> </a:t>
            </a:r>
            <a:r>
              <a:rPr lang="ko-KR" altLang="en-US" dirty="0"/>
              <a:t>속성이 </a:t>
            </a:r>
            <a:r>
              <a:rPr lang="en-US" altLang="ko-KR" dirty="0"/>
              <a:t>portrait</a:t>
            </a:r>
            <a:r>
              <a:rPr lang="ko-KR" altLang="en-US" dirty="0"/>
              <a:t>이면 세로 모드이다</a:t>
            </a:r>
            <a:r>
              <a:rPr lang="en-US" altLang="ko-KR" dirty="0"/>
              <a:t>. landscape</a:t>
            </a:r>
            <a:r>
              <a:rPr lang="ko-KR" altLang="en-US" dirty="0"/>
              <a:t>이면 가로 모드이다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34F6137F-AD66-C003-9649-5CD17DC3285D}"/>
              </a:ext>
            </a:extLst>
          </p:cNvPr>
          <p:cNvSpPr txBox="1">
            <a:spLocks/>
          </p:cNvSpPr>
          <p:nvPr/>
        </p:nvSpPr>
        <p:spPr bwMode="auto">
          <a:xfrm>
            <a:off x="931862" y="2781677"/>
            <a:ext cx="7677984" cy="105699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@media screen and (min-device-width: 375px) and (orientation: landscape)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		...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	}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="" xmlns:a16="http://schemas.microsoft.com/office/drawing/2014/main" id="{34F6137F-AD66-C003-9649-5CD17DC3285D}"/>
              </a:ext>
            </a:extLst>
          </p:cNvPr>
          <p:cNvSpPr txBox="1">
            <a:spLocks/>
          </p:cNvSpPr>
          <p:nvPr/>
        </p:nvSpPr>
        <p:spPr bwMode="auto">
          <a:xfrm>
            <a:off x="931862" y="3991069"/>
            <a:ext cx="7677984" cy="78315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algn="just"/>
            <a:r>
              <a:rPr lang="ko-KR" altLang="en-US" dirty="0"/>
              <a:t>이 </a:t>
            </a:r>
            <a:r>
              <a:rPr lang="en-US" altLang="ko-KR" dirty="0"/>
              <a:t>CSS </a:t>
            </a:r>
            <a:r>
              <a:rPr lang="ko-KR" altLang="en-US" dirty="0"/>
              <a:t>미디어 쿼리는 **가로 모드</a:t>
            </a:r>
            <a:r>
              <a:rPr lang="en-US" altLang="ko-KR" dirty="0"/>
              <a:t>(landscape)**</a:t>
            </a:r>
            <a:r>
              <a:rPr lang="ko-KR" altLang="en-US" dirty="0"/>
              <a:t>이면서 </a:t>
            </a:r>
            <a:r>
              <a:rPr lang="ko-KR" altLang="en-US" b="1" dirty="0"/>
              <a:t>기기 너비</a:t>
            </a:r>
            <a:r>
              <a:rPr lang="en-US" altLang="ko-KR" b="1" dirty="0"/>
              <a:t>(device width)</a:t>
            </a:r>
            <a:r>
              <a:rPr lang="ko-KR" altLang="en-US" b="1" dirty="0"/>
              <a:t>가 </a:t>
            </a:r>
            <a:r>
              <a:rPr lang="en-US" altLang="ko-KR" b="1" dirty="0"/>
              <a:t>375px </a:t>
            </a:r>
            <a:r>
              <a:rPr lang="ko-KR" altLang="en-US" b="1" dirty="0"/>
              <a:t>이상</a:t>
            </a:r>
            <a:r>
              <a:rPr lang="ko-KR" altLang="en-US" dirty="0"/>
              <a:t>인 화면에서만 스타일을 적용합니다</a:t>
            </a:r>
            <a:r>
              <a:rPr lang="en-US" altLang="ko-KR" dirty="0"/>
              <a:t>.</a:t>
            </a:r>
            <a:endParaRPr lang="en-US" altLang="ko-KR" b="0" i="0" u="none" strike="noStrike" baseline="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90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EE912A4-5AFF-9580-F5D8-83FDC804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04FB5AD-9131-8D78-92A0-68E9788BED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에 여러 미디어 쿼리를 추가하여 화면 크기에 맞는 여러 개의 레이아웃을 지정할 수 있다</a:t>
            </a:r>
            <a:r>
              <a:rPr lang="en-US" altLang="ko-KR" dirty="0"/>
              <a:t>. </a:t>
            </a:r>
            <a:r>
              <a:rPr lang="ko-KR" altLang="en-US" dirty="0"/>
              <a:t>화면의 크기에 따라 스타일이 달라지는 분기점을 중단점</a:t>
            </a:r>
            <a:r>
              <a:rPr lang="en-US" altLang="ko-KR" dirty="0"/>
              <a:t>(breakpoint)</a:t>
            </a:r>
            <a:r>
              <a:rPr lang="ko-KR" altLang="en-US" dirty="0"/>
              <a:t>이라고 한다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7D9518B-A88B-8E6E-18E3-F8FCCF207C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10" y="2818540"/>
            <a:ext cx="6464075" cy="32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13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F8AA845-8A6F-D672-DDAB-5DA3DF2F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모바일 퍼스트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E71E1DA-002A-D4DA-B162-EDEEBBAFBF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미디어 쿼리를 사용할 때 일반적인 접근법은 일단 스마트폰과 같이</a:t>
            </a:r>
            <a:r>
              <a:rPr lang="en-US" altLang="ko-KR" dirty="0"/>
              <a:t>, </a:t>
            </a:r>
            <a:r>
              <a:rPr lang="ko-KR" altLang="en-US" dirty="0"/>
              <a:t>좁은 화면을 가지는 장치에 대하여 단일 열 레이아웃을 만든 후에</a:t>
            </a:r>
            <a:r>
              <a:rPr lang="en-US" altLang="ko-KR" dirty="0"/>
              <a:t>, </a:t>
            </a:r>
            <a:r>
              <a:rPr lang="ko-KR" altLang="en-US" dirty="0"/>
              <a:t>화면이 충분히 크면 다단 레이아웃을 구현하는 경우가 많다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즉 스마트폰에 대한 레이아웃이 기본이 된다</a:t>
            </a:r>
            <a:r>
              <a:rPr lang="en-US" altLang="ko-KR" dirty="0"/>
              <a:t>. </a:t>
            </a:r>
            <a:r>
              <a:rPr lang="ko-KR" altLang="en-US" dirty="0"/>
              <a:t>이것을 흔히 모바일 퍼스트</a:t>
            </a:r>
            <a:r>
              <a:rPr lang="en-US" altLang="ko-KR" dirty="0"/>
              <a:t>(mobile first) </a:t>
            </a:r>
            <a:r>
              <a:rPr lang="ko-KR" altLang="en-US" dirty="0"/>
              <a:t>디자인이라고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모바일을 </a:t>
            </a:r>
            <a:r>
              <a:rPr lang="en-US" altLang="ko-KR" dirty="0"/>
              <a:t>PC</a:t>
            </a:r>
            <a:r>
              <a:rPr lang="ko-KR" altLang="en-US" dirty="0"/>
              <a:t>보다 우선시 하겠다는 정책이다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63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중단점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10693"/>
            <a:ext cx="8212138" cy="474401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0451A5"/>
                </a:solidFill>
                <a:latin typeface="Century Schoolbook" panose="02040604050505020304" pitchFamily="18" charset="0"/>
              </a:rPr>
              <a:t>lightgreen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1024px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241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232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99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768px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177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210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6898576" y="6370043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rwd3.html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102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39A9A88-743A-4DA1-0D6E-9F8BBA25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pic>
        <p:nvPicPr>
          <p:cNvPr id="10247" name="_x443425656">
            <a:extLst>
              <a:ext uri="{FF2B5EF4-FFF2-40B4-BE49-F238E27FC236}">
                <a16:creationId xmlns="" xmlns:a16="http://schemas.microsoft.com/office/drawing/2014/main" id="{4A175365-542A-B7BB-6538-B81278213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" y="1876330"/>
            <a:ext cx="2956897" cy="136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_x96943064">
            <a:extLst>
              <a:ext uri="{FF2B5EF4-FFF2-40B4-BE49-F238E27FC236}">
                <a16:creationId xmlns="" xmlns:a16="http://schemas.microsoft.com/office/drawing/2014/main" id="{F9435026-1990-B188-8862-3387C5385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27" y="2328768"/>
            <a:ext cx="4563863" cy="136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_x96830296">
            <a:extLst>
              <a:ext uri="{FF2B5EF4-FFF2-40B4-BE49-F238E27FC236}">
                <a16:creationId xmlns="" xmlns:a16="http://schemas.microsoft.com/office/drawing/2014/main" id="{13591F48-26EA-23DA-766D-72EC2EC94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215" y="2835180"/>
            <a:ext cx="6055065" cy="136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586791" y="4721442"/>
            <a:ext cx="678262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기본 </a:t>
            </a:r>
            <a:r>
              <a:rPr lang="ko-KR" altLang="en-US" dirty="0" smtClean="0"/>
              <a:t>스타일은     </a:t>
            </a:r>
            <a:r>
              <a:rPr lang="en-US" altLang="ko-KR" dirty="0" smtClean="0"/>
              <a:t>body </a:t>
            </a:r>
            <a:r>
              <a:rPr lang="en-US" altLang="ko-KR" dirty="0"/>
              <a:t>{ background-color: </a:t>
            </a:r>
            <a:r>
              <a:rPr lang="en-US" altLang="ko-KR" dirty="0" err="1"/>
              <a:t>lightgreen</a:t>
            </a:r>
            <a:r>
              <a:rPr lang="en-US" altLang="ko-KR" dirty="0"/>
              <a:t>; </a:t>
            </a:r>
            <a:r>
              <a:rPr lang="en-US" altLang="ko-KR" dirty="0" smtClean="0"/>
              <a:t>}</a:t>
            </a:r>
            <a:r>
              <a:rPr lang="ko-KR" altLang="en-US" dirty="0"/>
              <a:t> 이지만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en-US" altLang="ko-KR" dirty="0"/>
              <a:t>@media screen and (max-width: 1024px</a:t>
            </a:r>
            <a:r>
              <a:rPr lang="en-US" altLang="ko-KR" dirty="0" smtClean="0"/>
              <a:t>)</a:t>
            </a:r>
            <a:r>
              <a:rPr lang="ko-KR" altLang="en-US" dirty="0"/>
              <a:t> 조건을 만족하면 노란색으로 </a:t>
            </a:r>
            <a:r>
              <a:rPr lang="ko-KR" altLang="en-US" dirty="0" smtClean="0"/>
              <a:t>바뀐다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672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8449F9-0EC9-99E5-33BC-A0A338C3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중단점에서 레이아웃을 변경해보자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F2BCB4E-6C9E-A6C0-014A-AC48B42B6D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563986"/>
            <a:ext cx="8153400" cy="4495800"/>
          </a:xfrm>
        </p:spPr>
        <p:txBody>
          <a:bodyPr/>
          <a:lstStyle/>
          <a:p>
            <a:r>
              <a:rPr lang="ko-KR" altLang="en-US" dirty="0"/>
              <a:t>더 과격한 조작도 가능하다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예를 </a:t>
            </a:r>
            <a:r>
              <a:rPr lang="ko-KR" altLang="en-US" dirty="0"/>
              <a:t>들어서 브라우저 창의 크기를 조정하여 아래의 세 </a:t>
            </a:r>
            <a:r>
              <a:rPr lang="en-US" altLang="ko-KR" dirty="0"/>
              <a:t>div </a:t>
            </a:r>
            <a:r>
              <a:rPr lang="ko-KR" altLang="en-US" dirty="0"/>
              <a:t>요소가</a:t>
            </a:r>
            <a:r>
              <a:rPr lang="en-US" altLang="ko-KR" dirty="0"/>
              <a:t>, </a:t>
            </a:r>
            <a:r>
              <a:rPr lang="ko-KR" altLang="en-US" dirty="0"/>
              <a:t>큰 화면에서는 가로로 표시되고</a:t>
            </a:r>
            <a:r>
              <a:rPr lang="en-US" altLang="ko-KR" dirty="0"/>
              <a:t>, </a:t>
            </a:r>
            <a:r>
              <a:rPr lang="ko-KR" altLang="en-US" dirty="0"/>
              <a:t>작은 화면에서는 세로로 쌓이도록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13314" name="_x96943280">
            <a:extLst>
              <a:ext uri="{FF2B5EF4-FFF2-40B4-BE49-F238E27FC236}">
                <a16:creationId xmlns="" xmlns:a16="http://schemas.microsoft.com/office/drawing/2014/main" id="{C986864E-1320-7395-B312-E79AEE9D5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1" y="3201880"/>
            <a:ext cx="3572527" cy="195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_x168814936">
            <a:extLst>
              <a:ext uri="{FF2B5EF4-FFF2-40B4-BE49-F238E27FC236}">
                <a16:creationId xmlns="" xmlns:a16="http://schemas.microsoft.com/office/drawing/2014/main" id="{F13D65FA-3C74-4BBE-B856-A2A20247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01880"/>
            <a:ext cx="4177036" cy="195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FD84E49-A8F7-4D1B-45B9-90656A74F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79530" y="5433618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rwd4.html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912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8449F9-0EC9-99E5-33BC-A0A338C3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중단점에서 레이아웃을 변경해보자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FD84E49-A8F7-4D1B-45B9-90656A74F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80" y="1169377"/>
            <a:ext cx="4538296" cy="550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876" y="1274883"/>
            <a:ext cx="4392123" cy="550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53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10693"/>
            <a:ext cx="8212138" cy="474401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*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box-sizing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border-box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#1012b6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#c3cf14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#b91a1a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514038" y="6093042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rwd4.html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023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10693"/>
            <a:ext cx="8212138" cy="334072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      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"left"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왼쪽 메뉴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"main"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메인 컨텐츠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"right"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오른쪽 메뉴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&lt;/body&gt;&lt;/html&gt;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519562" y="4695064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rwd4.html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019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현대적 표현방식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494692"/>
            <a:ext cx="8212138" cy="536330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*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box-sizing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border-box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r>
              <a:rPr lang="en-US" altLang="ko-KR" sz="1400" dirty="0" smtClean="0"/>
              <a:t>      .</a:t>
            </a:r>
            <a:r>
              <a:rPr lang="en-US" altLang="ko-KR" sz="1400" dirty="0"/>
              <a:t>container {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smtClean="0"/>
              <a:t>                        display</a:t>
            </a:r>
            <a:r>
              <a:rPr lang="en-US" altLang="ko-KR" sz="1400" dirty="0"/>
              <a:t>: flex;</a:t>
            </a:r>
          </a:p>
          <a:p>
            <a:r>
              <a:rPr lang="en-US" altLang="ko-KR" sz="1400" dirty="0" smtClean="0"/>
              <a:t>         </a:t>
            </a:r>
            <a:r>
              <a:rPr lang="en-US" altLang="ko-KR" sz="1400" dirty="0"/>
              <a:t>} </a:t>
            </a:r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#1012b6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#c3cf14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#b91a1a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6971443" y="6057873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rwd4_flex.html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8787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10693"/>
            <a:ext cx="8212138" cy="334072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      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algn="just"/>
            <a:r>
              <a:rPr lang="en-US" altLang="ko-KR" sz="1400" dirty="0"/>
              <a:t>            .container {   flex-direction: column</a:t>
            </a:r>
            <a:r>
              <a:rPr lang="en-US" altLang="ko-KR" sz="1400" dirty="0" smtClean="0"/>
              <a:t>; }</a:t>
            </a:r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"left"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왼쪽 메뉴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"main"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메인 컨텐츠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"right"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오른쪽 메뉴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&lt;/body&gt;&lt;/html&gt;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006612" y="5433619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rwd4_flex.html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469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714A35-DDC6-513E-3E12-2CBA3AB9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/>
              <a:t>반응형</a:t>
            </a:r>
            <a:r>
              <a:rPr lang="en-US" altLang="ko-KR" dirty="0"/>
              <a:t> </a:t>
            </a:r>
            <a:r>
              <a:rPr lang="ko-KR" altLang="en-US" dirty="0"/>
              <a:t>웹 만들기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9A1F0405-ECEF-A557-8AC5-D0B4AB4F3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37" name="_x443830440">
            <a:extLst>
              <a:ext uri="{FF2B5EF4-FFF2-40B4-BE49-F238E27FC236}">
                <a16:creationId xmlns="" xmlns:a16="http://schemas.microsoft.com/office/drawing/2014/main" id="{0C9C593E-1C0F-EA90-5E7F-DFCEA94C9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89" y="1709736"/>
            <a:ext cx="5400675" cy="213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_x446539952">
            <a:extLst>
              <a:ext uri="{FF2B5EF4-FFF2-40B4-BE49-F238E27FC236}">
                <a16:creationId xmlns="" xmlns:a16="http://schemas.microsoft.com/office/drawing/2014/main" id="{11BE9491-1390-6B65-34F1-F3CA57AB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81" y="4096693"/>
            <a:ext cx="5400675" cy="243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634807" y="3736126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rwd5.html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954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197322"/>
            <a:ext cx="8212138" cy="54796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Responsive Web Design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&lt;/title&gt;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#page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20px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94%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65%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left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#sidebar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float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#footer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clear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both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4988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197322"/>
            <a:ext cx="8212138" cy="54796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480px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#header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margin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20px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#sidebar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    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#header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#sidebar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#footer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border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solid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 1px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red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#header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yellow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#sidebar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0451A5"/>
                </a:solidFill>
                <a:latin typeface="Century Schoolbook" panose="02040604050505020304" pitchFamily="18" charset="0"/>
              </a:rPr>
              <a:t>aliceblue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#main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aqua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#footer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coral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"page"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"header"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&lt;h2&gt;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&lt;/h2&gt;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"main"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&lt;h2&gt;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Main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&lt;/h2&gt;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19481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74067"/>
            <a:ext cx="8212138" cy="38115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          데스크탑을 위하여 디자인된 웹페이지는 모바일에서는 문제점을 나타내기도 한다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... 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         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에단이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기고한 글은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http://alistapart.com/article/responsive-web-design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에서 볼 수 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"sidebar"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&lt;h2&gt;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Sidebar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&lt;/h2&gt;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ul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&lt;li&gt;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Fluid Grids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&lt;/li&gt;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&lt;li&gt;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Media Queries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&lt;/li&gt;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ul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"footer"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&lt;h2&gt;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Footer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&lt;/h2&gt;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11119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1E27013-C153-9213-2559-E6A62500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유동</a:t>
            </a:r>
            <a:r>
              <a:rPr lang="en-US" altLang="ko-KR" dirty="0"/>
              <a:t> </a:t>
            </a:r>
            <a:r>
              <a:rPr lang="ko-KR" altLang="en-US" dirty="0"/>
              <a:t>레이아웃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D745874-433C-FF56-AC5A-3D3BD76475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RWD</a:t>
            </a:r>
            <a:r>
              <a:rPr lang="ko-KR" altLang="en-US" dirty="0"/>
              <a:t>는 일반적으로 화면의 크기에 따라 레이아웃만 변경하는 것이 아니라</a:t>
            </a:r>
            <a:r>
              <a:rPr lang="en-US" altLang="ko-KR" dirty="0"/>
              <a:t>, </a:t>
            </a:r>
            <a:r>
              <a:rPr lang="ko-KR" altLang="en-US" dirty="0"/>
              <a:t>유동 레이아웃</a:t>
            </a:r>
            <a:r>
              <a:rPr lang="en-US" altLang="ko-KR" dirty="0"/>
              <a:t>(fluid layout, liquid layout)</a:t>
            </a:r>
            <a:r>
              <a:rPr lang="ko-KR" altLang="en-US" dirty="0"/>
              <a:t>을 기반으로 구축된다</a:t>
            </a:r>
            <a:r>
              <a:rPr lang="en-US" altLang="ko-KR" dirty="0"/>
              <a:t>. 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유동 레이아웃은 </a:t>
            </a:r>
            <a:r>
              <a:rPr lang="ko-KR" altLang="en-US" dirty="0" err="1">
                <a:solidFill>
                  <a:srgbClr val="FF0000"/>
                </a:solidFill>
              </a:rPr>
              <a:t>레이아웃할</a:t>
            </a:r>
            <a:r>
              <a:rPr lang="ko-KR" altLang="en-US" dirty="0">
                <a:solidFill>
                  <a:srgbClr val="FF0000"/>
                </a:solidFill>
              </a:rPr>
              <a:t> 때 고정된 크기를 사용하는 것이 아니고 백분율과 같은 상대적인 단위를 사용하는 레이아웃 방법이다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7FF938D-A28C-2FFE-1A4A-64855458BE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44" y="3087011"/>
            <a:ext cx="7250607" cy="307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27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3F8FF1-97D7-2F88-05ED-D6DBB9FD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유동 레이아웃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4921E09-6F99-06B6-49DE-9E64B14082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RWD</a:t>
            </a:r>
            <a:r>
              <a:rPr lang="ko-KR" altLang="en-US" dirty="0"/>
              <a:t>의 초기에 유동 레이아웃을 수행하는 유일한 옵션은 </a:t>
            </a:r>
            <a:r>
              <a:rPr lang="en-US" altLang="ko-KR" dirty="0"/>
              <a:t>float</a:t>
            </a:r>
            <a:r>
              <a:rPr lang="ko-KR" altLang="en-US" dirty="0"/>
              <a:t>를 사용하는 것이었다</a:t>
            </a:r>
            <a:r>
              <a:rPr lang="en-US" altLang="ko-KR" dirty="0"/>
              <a:t>. </a:t>
            </a:r>
            <a:r>
              <a:rPr lang="ko-KR" altLang="en-US" dirty="0"/>
              <a:t>유동 레이아웃은 각 요소에 백분율 너비를 부여하고</a:t>
            </a:r>
            <a:r>
              <a:rPr lang="en-US" altLang="ko-KR" dirty="0"/>
              <a:t>, </a:t>
            </a:r>
            <a:r>
              <a:rPr lang="ko-KR" altLang="en-US" dirty="0"/>
              <a:t>레이아웃 전체에서 합계가 </a:t>
            </a:r>
            <a:r>
              <a:rPr lang="en-US" altLang="ko-KR" dirty="0"/>
              <a:t>100%</a:t>
            </a:r>
            <a:r>
              <a:rPr lang="ko-KR" altLang="en-US" dirty="0"/>
              <a:t>를 넘지 않도록 함으로써 달성되었다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하지만 현대적인 레이아웃 방법인 </a:t>
            </a:r>
            <a:r>
              <a:rPr lang="en-US" altLang="ko-KR" dirty="0"/>
              <a:t>flexbox</a:t>
            </a:r>
            <a:r>
              <a:rPr lang="ko-KR" altLang="en-US" dirty="0"/>
              <a:t>나 </a:t>
            </a:r>
            <a:r>
              <a:rPr lang="en-US" altLang="ko-KR" dirty="0"/>
              <a:t>grid </a:t>
            </a:r>
            <a:r>
              <a:rPr lang="ko-KR" altLang="en-US" dirty="0"/>
              <a:t>레이아웃은 기본적으로 반응적이다</a:t>
            </a:r>
            <a:r>
              <a:rPr lang="en-US" altLang="ko-KR" dirty="0"/>
              <a:t>. </a:t>
            </a:r>
            <a:r>
              <a:rPr lang="ko-KR" altLang="en-US" dirty="0"/>
              <a:t>이 방법을 사용하는 것이 </a:t>
            </a:r>
            <a:r>
              <a:rPr lang="en-US" altLang="ko-KR" dirty="0"/>
              <a:t>float </a:t>
            </a:r>
            <a:r>
              <a:rPr lang="ko-KR" altLang="en-US" dirty="0"/>
              <a:t>속성과 백분율 크기를 사용하는 방법보다 더 편리하다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294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E4BAA67-DC6E-30D4-C98F-5924C72B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r>
              <a:rPr lang="ko-KR" altLang="en-US" dirty="0"/>
              <a:t> 레이아웃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C064F20-FA20-4ECD-ACC0-A5A8A30E52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그리드 레이아웃은 가로 방향의 행</a:t>
            </a:r>
            <a:r>
              <a:rPr lang="en-US" altLang="ko-KR" dirty="0"/>
              <a:t>(row)</a:t>
            </a:r>
            <a:r>
              <a:rPr lang="ko-KR" altLang="en-US" dirty="0"/>
              <a:t>과 세로 방향의 행</a:t>
            </a:r>
            <a:r>
              <a:rPr lang="en-US" altLang="ko-KR" dirty="0"/>
              <a:t>(column)</a:t>
            </a:r>
            <a:r>
              <a:rPr lang="ko-KR" altLang="en-US" dirty="0"/>
              <a:t>으로 구성된다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각 그리드에 항목을 배치하여 원하는 형태의 레이아웃을 만든다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807BA0DE-6B6C-CD35-3019-F639FA89C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07" y="2857244"/>
            <a:ext cx="7182386" cy="306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8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4327E19-0E82-A574-CA54-D843B425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F84A9E1-0301-5CE7-45DF-A374FDBD94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그리드 레이아웃을 이용하여 다음과 같은 형태의 웹페이지를 표시하는 소스를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6E6DA64E-4A86-7E32-AF99-9E3DB9A9D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442585344">
            <a:extLst>
              <a:ext uri="{FF2B5EF4-FFF2-40B4-BE49-F238E27FC236}">
                <a16:creationId xmlns="" xmlns:a16="http://schemas.microsoft.com/office/drawing/2014/main" id="{606B8E97-A9A3-431F-0956-CD2CF2FD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179" y="2502967"/>
            <a:ext cx="6803523" cy="251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383976" y="5117096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rwd6.html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452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74067"/>
            <a:ext cx="8212138" cy="436377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grid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// ①</a:t>
            </a:r>
          </a:p>
          <a:p>
            <a:pPr algn="just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grid-template-columns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auto </a:t>
            </a:r>
            <a:r>
              <a:rPr lang="en-US" altLang="ko-KR" sz="1400" b="0" i="0" u="none" strike="noStrike" baseline="0" dirty="0" err="1">
                <a:solidFill>
                  <a:srgbClr val="0451A5"/>
                </a:solidFill>
                <a:latin typeface="Century Schoolbook" panose="02040604050505020304" pitchFamily="18" charset="0"/>
              </a:rPr>
              <a:t>auto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dirty="0" err="1">
                <a:solidFill>
                  <a:srgbClr val="0451A5"/>
                </a:solidFill>
              </a:rPr>
              <a:t>auto</a:t>
            </a:r>
            <a:r>
              <a:rPr lang="en-US" altLang="ko-KR" sz="1400" dirty="0">
                <a:solidFill>
                  <a:srgbClr val="0451A5"/>
                </a:solidFill>
              </a:rPr>
              <a:t> </a:t>
            </a:r>
            <a:r>
              <a:rPr lang="en-US" altLang="ko-KR" sz="1400" dirty="0" err="1">
                <a:solidFill>
                  <a:srgbClr val="0451A5"/>
                </a:solidFill>
              </a:rPr>
              <a:t>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	//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② 3</a:t>
            </a:r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열 생성</a:t>
            </a:r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#f7ef7e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.item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255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255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255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border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1px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solid</a:t>
            </a:r>
            <a:r>
              <a:rPr lang="en-US" altLang="ko-KR" sz="1400" b="0" i="0" u="none" strike="noStrike" baseline="0" dirty="0">
                <a:solidFill>
                  <a:srgbClr val="795E26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font-size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text-align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center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5359922" y="6246658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rwd6.html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462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874067"/>
            <a:ext cx="8212138" cy="436377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1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2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3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4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5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6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0098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EF98AC-6FE1-0B1B-7546-A7D809C0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</a:t>
            </a:r>
            <a:r>
              <a:rPr lang="en-US" altLang="ko-KR" dirty="0"/>
              <a:t> </a:t>
            </a:r>
            <a:r>
              <a:rPr lang="ko-KR" altLang="en-US" dirty="0"/>
              <a:t>단위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DD76200-4533-9044-F2F9-FB1A9FCD43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그리드 레이아웃에서 많이 사용하는 크기 단위에 </a:t>
            </a:r>
            <a:r>
              <a:rPr lang="en-US" altLang="ko-KR" dirty="0" err="1"/>
              <a:t>fr</a:t>
            </a:r>
            <a:r>
              <a:rPr lang="en-US" altLang="ko-KR" dirty="0"/>
              <a:t>(fraction)</a:t>
            </a:r>
            <a:r>
              <a:rPr lang="ko-KR" altLang="en-US" dirty="0"/>
              <a:t>이 있다</a:t>
            </a:r>
            <a:r>
              <a:rPr lang="en-US" altLang="ko-KR" dirty="0"/>
              <a:t>. </a:t>
            </a:r>
            <a:r>
              <a:rPr lang="ko-KR" altLang="en-US" dirty="0"/>
              <a:t>이것은 각 열의 너비를 상대적으로 정의할 때 편리하다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D16928B7-734D-C356-A5D5-56B367E608ED}"/>
              </a:ext>
            </a:extLst>
          </p:cNvPr>
          <p:cNvSpPr txBox="1">
            <a:spLocks/>
          </p:cNvSpPr>
          <p:nvPr/>
        </p:nvSpPr>
        <p:spPr bwMode="auto">
          <a:xfrm>
            <a:off x="553910" y="2498755"/>
            <a:ext cx="8212138" cy="371740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display: grid;</a:t>
            </a:r>
          </a:p>
          <a:p>
            <a:pPr algn="just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grid-template-columns: 1fr 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; /* </a:t>
            </a:r>
            <a:r>
              <a:rPr lang="ko-KR" altLang="en-US" sz="1400" dirty="0"/>
              <a:t>전체 공간을 </a:t>
            </a:r>
            <a:r>
              <a:rPr lang="en-US" altLang="ko-KR" sz="1400" dirty="0"/>
              <a:t>3</a:t>
            </a:r>
            <a:r>
              <a:rPr lang="ko-KR" altLang="en-US" sz="1400" dirty="0" smtClean="0"/>
              <a:t>등분 </a:t>
            </a:r>
            <a:r>
              <a:rPr lang="en-US" altLang="ko-KR" sz="1400" dirty="0" smtClean="0"/>
              <a:t>–</a:t>
            </a:r>
            <a:r>
              <a:rPr lang="ko-KR" altLang="en-US" sz="1400" dirty="0" smtClean="0"/>
              <a:t>동일한 크기</a:t>
            </a:r>
            <a:r>
              <a:rPr lang="en-US" altLang="ko-KR" sz="1400" dirty="0" smtClean="0"/>
              <a:t>*/</a:t>
            </a:r>
          </a:p>
          <a:p>
            <a:pPr algn="just"/>
            <a:r>
              <a:rPr lang="en-US" altLang="ko-KR" sz="1400" dirty="0">
                <a:solidFill>
                  <a:srgbClr val="800000"/>
                </a:solidFill>
              </a:rPr>
              <a:t>            grid-template-columns: repeat(3, 1fr</a:t>
            </a:r>
            <a:r>
              <a:rPr lang="en-US" altLang="ko-KR" sz="1400" dirty="0" smtClean="0">
                <a:solidFill>
                  <a:srgbClr val="800000"/>
                </a:solidFill>
              </a:rPr>
              <a:t>);</a:t>
            </a:r>
            <a:endParaRPr lang="en-US" altLang="ko-KR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}</a:t>
            </a:r>
          </a:p>
          <a:p>
            <a:pPr marR="0" algn="just" rtl="0"/>
            <a:endParaRPr lang="en-US" altLang="ko-KR" sz="1400" b="0" i="0" u="none" strike="noStrike" baseline="0" dirty="0" smtClean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endParaRPr lang="en-US" altLang="ko-KR" sz="1400" b="0" i="0" u="none" strike="noStrike" baseline="0" dirty="0" smtClean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endParaRPr lang="en-US" altLang="ko-KR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display: grid;</a:t>
            </a:r>
          </a:p>
          <a:p>
            <a:pPr algn="just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grid-template-columns: 1fr 2fr 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2fr</a:t>
            </a:r>
            <a:r>
              <a:rPr lang="en-US" altLang="ko-KR" sz="1400" dirty="0">
                <a:solidFill>
                  <a:srgbClr val="800000"/>
                </a:solidFill>
              </a:rPr>
              <a:t>; ; /* </a:t>
            </a:r>
            <a:r>
              <a:rPr lang="ko-KR" altLang="en-US" sz="1400" dirty="0"/>
              <a:t>전체 공간을 </a:t>
            </a:r>
            <a:r>
              <a:rPr lang="en-US" altLang="ko-KR" sz="1400" dirty="0"/>
              <a:t>3</a:t>
            </a:r>
            <a:r>
              <a:rPr lang="ko-KR" altLang="en-US" sz="1400" dirty="0"/>
              <a:t>등분 </a:t>
            </a:r>
            <a:r>
              <a:rPr lang="en-US" altLang="ko-KR" sz="1400" dirty="0" smtClean="0"/>
              <a:t>–1</a:t>
            </a:r>
            <a:r>
              <a:rPr lang="ko-KR" altLang="en-US" sz="1400" dirty="0" smtClean="0"/>
              <a:t>칸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칸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칸</a:t>
            </a:r>
            <a:r>
              <a:rPr lang="en-US" altLang="ko-KR" sz="1400" dirty="0" smtClean="0"/>
              <a:t>*/</a:t>
            </a:r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endParaRPr lang="en-US" altLang="ko-KR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}</a:t>
            </a:r>
            <a:endParaRPr lang="ko-KR" alt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55" y="3490883"/>
            <a:ext cx="3256324" cy="939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76386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D16928B7-734D-C356-A5D5-56B367E608ED}"/>
              </a:ext>
            </a:extLst>
          </p:cNvPr>
          <p:cNvSpPr txBox="1">
            <a:spLocks/>
          </p:cNvSpPr>
          <p:nvPr/>
        </p:nvSpPr>
        <p:spPr bwMode="auto">
          <a:xfrm>
            <a:off x="351687" y="1549185"/>
            <a:ext cx="8212138" cy="388446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display: grid;</a:t>
            </a:r>
          </a:p>
          <a:p>
            <a:pPr algn="just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grid-template-columns: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100px 200px 300px;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/*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 </a:t>
            </a:r>
            <a:r>
              <a:rPr lang="ko-KR" altLang="en-US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각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 </a:t>
            </a:r>
            <a:r>
              <a:rPr lang="ko-KR" altLang="en-US" sz="1400" dirty="0" smtClean="0">
                <a:solidFill>
                  <a:srgbClr val="800000"/>
                </a:solidFill>
              </a:rPr>
              <a:t>열의 너비를 고정</a:t>
            </a:r>
            <a:r>
              <a:rPr lang="en-US" altLang="ko-KR" sz="1400" dirty="0" smtClean="0"/>
              <a:t>*/</a:t>
            </a:r>
            <a:endParaRPr lang="en-US" altLang="ko-KR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}</a:t>
            </a:r>
          </a:p>
          <a:p>
            <a:pPr marR="0" algn="just" rtl="0"/>
            <a:endParaRPr lang="en-US" altLang="ko-KR" sz="1400" b="0" i="0" u="none" strike="noStrike" baseline="0" dirty="0" smtClean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endParaRPr lang="en-US" altLang="ko-KR" sz="1400" b="0" i="0" u="none" strike="noStrike" baseline="0" dirty="0" smtClean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container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display: grid;</a:t>
            </a:r>
          </a:p>
          <a:p>
            <a:pPr algn="just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    grid-template-columns: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20% 30% 50%</a:t>
            </a:r>
            <a:r>
              <a:rPr lang="en-US" altLang="ko-KR" sz="1400" dirty="0" smtClean="0">
                <a:solidFill>
                  <a:srgbClr val="800000"/>
                </a:solidFill>
              </a:rPr>
              <a:t> </a:t>
            </a:r>
            <a:r>
              <a:rPr lang="en-US" altLang="ko-KR" sz="1400" dirty="0">
                <a:solidFill>
                  <a:srgbClr val="800000"/>
                </a:solidFill>
              </a:rPr>
              <a:t>; /* </a:t>
            </a:r>
            <a:r>
              <a:rPr lang="ko-KR" altLang="en-US" sz="1400" dirty="0" smtClean="0">
                <a:solidFill>
                  <a:srgbClr val="800000"/>
                </a:solidFill>
              </a:rPr>
              <a:t>부모요소의 너비를 기준으로 비율을 지정</a:t>
            </a:r>
            <a:r>
              <a:rPr lang="en-US" altLang="ko-KR" sz="1400" dirty="0" smtClean="0"/>
              <a:t>*/</a:t>
            </a:r>
            <a:endParaRPr lang="en-US" altLang="ko-KR" sz="1400" dirty="0">
              <a:solidFill>
                <a:srgbClr val="800000"/>
              </a:solidFill>
            </a:endParaRPr>
          </a:p>
          <a:p>
            <a:pPr marR="0" algn="just" rtl="0"/>
            <a:endParaRPr lang="en-US" altLang="ko-KR" sz="14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        }</a:t>
            </a:r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2400300"/>
            <a:ext cx="3467100" cy="51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210" y="4074137"/>
            <a:ext cx="3562350" cy="550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874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9C05672-C0CF-9261-ABC8-D81453C1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그리드 항목에 이름 붙여서 배치하기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869DDEE-8490-C7C9-196D-B96CD572E3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9254"/>
            <a:ext cx="8153400" cy="4495800"/>
          </a:xfrm>
        </p:spPr>
        <p:txBody>
          <a:bodyPr/>
          <a:lstStyle/>
          <a:p>
            <a:r>
              <a:rPr lang="en-US" altLang="ko-KR" dirty="0"/>
              <a:t>grid-area </a:t>
            </a:r>
            <a:r>
              <a:rPr lang="ko-KR" altLang="en-US" dirty="0"/>
              <a:t>속성을 이용하여 각 항목에 이름을 붙인 후에  컨테이너의 </a:t>
            </a:r>
            <a:r>
              <a:rPr lang="en-US" altLang="ko-KR" dirty="0"/>
              <a:t>grid-template-areas </a:t>
            </a:r>
            <a:r>
              <a:rPr lang="ko-KR" altLang="en-US" dirty="0"/>
              <a:t>속성에 이름을 나열하는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47EF0E06-EB0D-2327-82BE-5E0168433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448853584">
            <a:extLst>
              <a:ext uri="{FF2B5EF4-FFF2-40B4-BE49-F238E27FC236}">
                <a16:creationId xmlns="" xmlns:a16="http://schemas.microsoft.com/office/drawing/2014/main" id="{398895B1-77A9-B97E-BD3D-0EE3A32D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339" y="2702457"/>
            <a:ext cx="6161531" cy="301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7399738" y="5794103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rwd7.html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79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439501"/>
            <a:ext cx="8212138" cy="518989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algn="l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algn="l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.item1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grid-area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header;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#2ea155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.item2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grid-area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menu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#605ece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.item3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grid-area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article;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#ee79b4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.item4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grid-area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sidebar;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#bff35e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.item5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grid-area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footer;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#f3db72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039253" y="4034450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rwd7.html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7622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439501"/>
            <a:ext cx="8212138" cy="518989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grid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grid-template-columns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1fr </a:t>
            </a:r>
            <a:r>
              <a:rPr lang="en-US" altLang="ko-KR" sz="1400" b="0" i="0" u="none" strike="noStrike" baseline="0" dirty="0" err="1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1fr </a:t>
            </a:r>
            <a:r>
              <a:rPr lang="en-US" altLang="ko-KR" sz="1400" b="0" i="0" u="none" strike="noStrike" baseline="0" dirty="0" err="1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grid-template-areas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'header </a:t>
            </a:r>
            <a:r>
              <a:rPr lang="en-US" altLang="ko-KR" sz="14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'menu article  sidebar'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'menu footer </a:t>
            </a:r>
            <a:r>
              <a:rPr lang="en-US" altLang="ko-KR" sz="14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footer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gap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#ece6af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"item1"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"item2"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Menu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"item3"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Main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"item4"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SideBar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"item5"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Footer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267853" y="5468787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rwd7.html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216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3B2C32-0984-48E6-0DFF-B1AABC1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 </a:t>
            </a:r>
            <a:r>
              <a:rPr lang="ko-KR" altLang="en-US" dirty="0"/>
              <a:t>레이아웃을 이용한 반응형 웹디자인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0B72C5B-6835-F87F-F018-8CF1379F13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573040"/>
            <a:ext cx="8153400" cy="4495800"/>
          </a:xfrm>
        </p:spPr>
        <p:txBody>
          <a:bodyPr/>
          <a:lstStyle/>
          <a:p>
            <a:r>
              <a:rPr lang="en-US" altLang="ko-KR" dirty="0"/>
              <a:t>grid </a:t>
            </a:r>
            <a:r>
              <a:rPr lang="ko-KR" altLang="en-US" dirty="0"/>
              <a:t>레이아웃에서도 미디어 쿼리의 결과에 따라서 그리드의 열이나 행의 수를 변경할 수 있다</a:t>
            </a:r>
            <a:r>
              <a:rPr lang="en-US" altLang="ko-KR" dirty="0"/>
              <a:t>. </a:t>
            </a:r>
            <a:r>
              <a:rPr lang="ko-KR" altLang="en-US" dirty="0"/>
              <a:t>기본 레이아웃은 </a:t>
            </a:r>
            <a:r>
              <a:rPr lang="ko-KR" altLang="en-US" dirty="0" err="1"/>
              <a:t>모바일용</a:t>
            </a:r>
            <a:r>
              <a:rPr lang="en-US" altLang="ko-KR" dirty="0"/>
              <a:t>(1</a:t>
            </a:r>
            <a:r>
              <a:rPr lang="ko-KR" altLang="en-US" dirty="0"/>
              <a:t>열</a:t>
            </a:r>
            <a:r>
              <a:rPr lang="en-US" altLang="ko-KR" dirty="0"/>
              <a:t>)**</a:t>
            </a:r>
            <a:r>
              <a:rPr lang="ko-KR" altLang="en-US" dirty="0"/>
              <a:t>이고</a:t>
            </a:r>
            <a:r>
              <a:rPr lang="en-US" altLang="ko-KR" dirty="0"/>
              <a:t>, </a:t>
            </a:r>
            <a:r>
              <a:rPr lang="ko-KR" altLang="en-US" b="1" dirty="0"/>
              <a:t>화면이 </a:t>
            </a:r>
            <a:r>
              <a:rPr lang="en-US" altLang="ko-KR" b="1" dirty="0"/>
              <a:t>800px </a:t>
            </a:r>
            <a:r>
              <a:rPr lang="ko-KR" altLang="en-US" b="1" dirty="0"/>
              <a:t>이상이면 </a:t>
            </a:r>
            <a:r>
              <a:rPr lang="en-US" altLang="ko-KR" b="1" dirty="0"/>
              <a:t>3</a:t>
            </a:r>
            <a:r>
              <a:rPr lang="ko-KR" altLang="en-US" b="1" dirty="0"/>
              <a:t>열 레이아웃으로 변경</a:t>
            </a:r>
            <a:r>
              <a:rPr lang="ko-KR" altLang="en-US" dirty="0" smtClean="0"/>
              <a:t> </a:t>
            </a:r>
            <a:r>
              <a:rPr lang="ko-KR" altLang="en-US" dirty="0"/>
              <a:t>앞의 소스를 변경해보자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18434" name="_x448853224">
            <a:extLst>
              <a:ext uri="{FF2B5EF4-FFF2-40B4-BE49-F238E27FC236}">
                <a16:creationId xmlns="" xmlns:a16="http://schemas.microsoft.com/office/drawing/2014/main" id="{85BCC3E3-E993-6122-1125-2B84F05C9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913" y="2891169"/>
            <a:ext cx="3096285" cy="254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3" name="_x448854520">
            <a:extLst>
              <a:ext uri="{FF2B5EF4-FFF2-40B4-BE49-F238E27FC236}">
                <a16:creationId xmlns="" xmlns:a16="http://schemas.microsoft.com/office/drawing/2014/main" id="{55532BAA-2F60-188F-4FE7-C695828DB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70" y="2891169"/>
            <a:ext cx="5035221" cy="255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3771A6-87CE-612C-5EC0-52C54DB14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463107" y="5943572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rwd8.html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5781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600AD1-4C9B-BE3F-5F75-033E2223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527E87F0-1CF4-7052-1C99-DD70BA479F40}"/>
              </a:ext>
            </a:extLst>
          </p:cNvPr>
          <p:cNvSpPr txBox="1">
            <a:spLocks/>
          </p:cNvSpPr>
          <p:nvPr/>
        </p:nvSpPr>
        <p:spPr bwMode="auto">
          <a:xfrm>
            <a:off x="553910" y="1439501"/>
            <a:ext cx="8212138" cy="518989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...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grid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gap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#ece6af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grid-template-columns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grid-template-areas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'header'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'menu'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‘</a:t>
            </a:r>
            <a:r>
              <a:rPr lang="en-US" altLang="ko-KR" sz="1400" dirty="0" smtClean="0">
                <a:solidFill>
                  <a:srgbClr val="A31515"/>
                </a:solidFill>
              </a:rPr>
              <a:t>main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‘right'</a:t>
            </a:r>
          </a:p>
          <a:p>
            <a:pPr algn="l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'footer'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300px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padding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5px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algn="l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 smtClean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min-width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800px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grid-template-columns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 </a:t>
            </a:r>
            <a:r>
              <a:rPr lang="en-US" altLang="ko-KR" sz="1400" b="0" i="0" u="none" strike="noStrike" baseline="0" dirty="0" err="1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grid-template-rows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 </a:t>
            </a:r>
            <a:r>
              <a:rPr lang="en-US" altLang="ko-KR" sz="1400" b="0" i="0" u="none" strike="noStrike" baseline="0" dirty="0" err="1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 smtClean="0">
                <a:solidFill>
                  <a:srgbClr val="098658"/>
                </a:solidFill>
                <a:latin typeface="Century Schoolbook" panose="02040604050505020304" pitchFamily="18" charset="0"/>
              </a:rPr>
              <a:t>1fr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grid-template-areas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'header </a:t>
            </a:r>
            <a:r>
              <a:rPr lang="en-US" altLang="ko-KR" sz="1400" b="0" i="0" u="none" strike="noStrike" baseline="0" dirty="0" err="1" smtClean="0">
                <a:solidFill>
                  <a:srgbClr val="A31515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 smtClean="0">
                <a:solidFill>
                  <a:srgbClr val="A31515"/>
                </a:solidFill>
                <a:latin typeface="Century Schoolbook" panose="02040604050505020304" pitchFamily="18" charset="0"/>
              </a:rPr>
              <a:t>header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'menu main  right'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    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'menu footer </a:t>
            </a:r>
            <a:r>
              <a:rPr lang="en-US" altLang="ko-KR" sz="1400" b="0" i="0" u="none" strike="noStrike" baseline="0" dirty="0" err="1" smtClean="0">
                <a:solidFill>
                  <a:srgbClr val="A31515"/>
                </a:solidFill>
                <a:latin typeface="Century Schoolbook" panose="02040604050505020304" pitchFamily="18" charset="0"/>
              </a:rPr>
              <a:t>footer</a:t>
            </a:r>
            <a:r>
              <a:rPr lang="en-US" altLang="ko-KR" sz="14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&lt;/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style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...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311815" y="6189757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rwd8.html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5988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5BFC0B7-FC39-55C0-B336-67B9EEB8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</a:t>
            </a:r>
            <a:r>
              <a:rPr lang="en-US" altLang="ko-KR" dirty="0"/>
              <a:t> </a:t>
            </a:r>
            <a:r>
              <a:rPr lang="ko-KR" altLang="en-US" dirty="0"/>
              <a:t>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B43022-B01D-5BFA-5813-A9FDD46299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RWD</a:t>
            </a:r>
            <a:r>
              <a:rPr lang="ko-KR" altLang="en-US" dirty="0"/>
              <a:t>에서는 이미지를 표시할 때도 주의하여야 한다</a:t>
            </a:r>
            <a:r>
              <a:rPr lang="en-US" altLang="ko-KR" dirty="0"/>
              <a:t>. </a:t>
            </a:r>
            <a:r>
              <a:rPr lang="ko-KR" altLang="en-US" dirty="0"/>
              <a:t>예를 들어 그림과 텍스트가 들어 있는 </a:t>
            </a:r>
            <a:r>
              <a:rPr lang="en-US" altLang="ko-KR" dirty="0"/>
              <a:t>HTML </a:t>
            </a:r>
            <a:r>
              <a:rPr lang="ko-KR" altLang="en-US" dirty="0"/>
              <a:t>문서가 있다고 하자</a:t>
            </a:r>
            <a:r>
              <a:rPr lang="en-US" altLang="ko-KR" dirty="0"/>
              <a:t>. </a:t>
            </a:r>
            <a:r>
              <a:rPr lang="ko-KR" altLang="en-US" dirty="0"/>
              <a:t>일단 이미지의 크기를 고정시키면 어떤 문제가 발생하는지 살펴보자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EB0F4AE3-EC5E-B19D-96CD-C38E8CD6AA92}"/>
              </a:ext>
            </a:extLst>
          </p:cNvPr>
          <p:cNvSpPr txBox="1">
            <a:spLocks/>
          </p:cNvSpPr>
          <p:nvPr/>
        </p:nvSpPr>
        <p:spPr bwMode="auto">
          <a:xfrm>
            <a:off x="553910" y="2534970"/>
            <a:ext cx="8212138" cy="409443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lang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"ko"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Document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&lt;/title&gt;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640px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img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src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"forest.jpg"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alt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alice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"500px"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 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Alice was beginning to get very tired of sitting by her sister on the bank, and of having nothing to do: ...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034105" y="6180964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image1.html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514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0185BA4-B4C2-4FA0-0157-9428D9F3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3A34147-4200-CE6A-AA3D-4AA9395974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그림이나 컨테이너의 크기를 </a:t>
            </a:r>
            <a:r>
              <a:rPr lang="en-US" altLang="ko-KR" dirty="0"/>
              <a:t>640px</a:t>
            </a:r>
            <a:r>
              <a:rPr lang="ko-KR" altLang="en-US" dirty="0"/>
              <a:t>와 같이 고정 크기로 설정하면 브라우저의 너비가 작아지면 그림이나 텍스트가 잘리기도 하고</a:t>
            </a:r>
            <a:r>
              <a:rPr lang="en-US" altLang="ko-KR" dirty="0"/>
              <a:t>, </a:t>
            </a:r>
            <a:r>
              <a:rPr lang="ko-KR" altLang="en-US" dirty="0"/>
              <a:t>반대로 브라우저의 너비가 커지면 빈 공간이 많이 발생한다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19458" name="_x96853320">
            <a:extLst>
              <a:ext uri="{FF2B5EF4-FFF2-40B4-BE49-F238E27FC236}">
                <a16:creationId xmlns="" xmlns:a16="http://schemas.microsoft.com/office/drawing/2014/main" id="{B3BBF625-F406-4E1B-FEEE-2BB495B2C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74" y="2842686"/>
            <a:ext cx="2288924" cy="259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7" name="_x96853824">
            <a:extLst>
              <a:ext uri="{FF2B5EF4-FFF2-40B4-BE49-F238E27FC236}">
                <a16:creationId xmlns="" xmlns:a16="http://schemas.microsoft.com/office/drawing/2014/main" id="{1DC7CA3D-69D6-9AD8-6784-1A26E7152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087" y="2842686"/>
            <a:ext cx="5480961" cy="259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67C61F-DF95-E07D-5F73-D7276481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037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5BFC0B7-FC39-55C0-B336-67B9EEB8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</a:t>
            </a:r>
            <a:r>
              <a:rPr lang="en-US" altLang="ko-KR" dirty="0"/>
              <a:t> </a:t>
            </a:r>
            <a:r>
              <a:rPr lang="ko-KR" altLang="en-US" dirty="0"/>
              <a:t>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B43022-B01D-5BFA-5813-A9FDD46299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그림이나 컨테이너의 크기를 자동으로 변경하려면 컨테이너나 그림의 크기를 퍼센트 단위로 설정하는 것이 좋다</a:t>
            </a:r>
            <a:r>
              <a:rPr lang="en-US" altLang="ko-KR" dirty="0"/>
              <a:t>.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EB0F4AE3-EC5E-B19D-96CD-C38E8CD6AA92}"/>
              </a:ext>
            </a:extLst>
          </p:cNvPr>
          <p:cNvSpPr txBox="1">
            <a:spLocks/>
          </p:cNvSpPr>
          <p:nvPr/>
        </p:nvSpPr>
        <p:spPr bwMode="auto">
          <a:xfrm>
            <a:off x="553910" y="2534970"/>
            <a:ext cx="8212138" cy="394203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...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 charset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 smtClean="0">
                <a:solidFill>
                  <a:srgbClr val="0000FF"/>
                </a:solidFill>
                <a:latin typeface="Century Schoolbook" panose="02040604050505020304" pitchFamily="18" charset="0"/>
              </a:rPr>
              <a:t>"UTF-8"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Document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&lt;/title&gt;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.container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80%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    }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altLang="ko-KR" sz="1400" b="0" i="0" u="none" strike="noStrike" baseline="0" dirty="0" err="1" smtClean="0">
                <a:solidFill>
                  <a:srgbClr val="800000"/>
                </a:solidFill>
                <a:latin typeface="Century Schoolbook" panose="02040604050505020304" pitchFamily="18" charset="0"/>
              </a:rPr>
              <a:t>img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98658"/>
                </a:solidFill>
                <a:latin typeface="Century Schoolbook" panose="02040604050505020304" pitchFamily="18" charset="0"/>
              </a:rPr>
              <a:t>80%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smtClean="0">
                <a:solidFill>
                  <a:srgbClr val="0451A5"/>
                </a:solidFill>
                <a:latin typeface="Century Schoolbook" panose="02040604050505020304" pitchFamily="18" charset="0"/>
              </a:rPr>
              <a:t>auto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endParaRPr lang="ko-KR" altLang="en-US" sz="1400" b="0" i="0" u="none" strike="noStrike" baseline="0" dirty="0" smtClean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da-DK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da-DK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&lt;img</a:t>
            </a:r>
            <a:r>
              <a:rPr lang="da-DK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 src</a:t>
            </a:r>
            <a:r>
              <a:rPr lang="da-DK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da-DK" altLang="ko-KR" sz="1400" b="0" i="0" u="none" strike="noStrike" baseline="0" dirty="0" smtClean="0">
                <a:solidFill>
                  <a:srgbClr val="0000FF"/>
                </a:solidFill>
                <a:latin typeface="Century Schoolbook" panose="02040604050505020304" pitchFamily="18" charset="0"/>
              </a:rPr>
              <a:t>"forest.jpg" </a:t>
            </a:r>
            <a:r>
              <a:rPr lang="da-DK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alt</a:t>
            </a:r>
            <a:r>
              <a:rPr lang="da-DK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da-DK" altLang="ko-KR" sz="1400" b="0" i="0" u="none" strike="noStrike" baseline="0" dirty="0" smtClean="0">
                <a:solidFill>
                  <a:srgbClr val="0000FF"/>
                </a:solidFill>
                <a:latin typeface="Century Schoolbook" panose="02040604050505020304" pitchFamily="18" charset="0"/>
              </a:rPr>
              <a:t>"alice"</a:t>
            </a:r>
            <a:r>
              <a:rPr lang="da-DK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400" b="0" i="0" u="none" strike="noStrike" baseline="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 class</a:t>
            </a:r>
            <a:r>
              <a:rPr lang="en-US" altLang="ko-KR" sz="14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 smtClean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 smtClean="0">
                <a:solidFill>
                  <a:srgbClr val="800000"/>
                </a:solidFill>
                <a:latin typeface="Century Schoolbook" panose="02040604050505020304" pitchFamily="18" charset="0"/>
              </a:rPr>
              <a:t>...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6884636" y="5600673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image2.html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8593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0185BA4-B4C2-4FA0-0157-9428D9F3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3A34147-4200-CE6A-AA3D-4AA9395974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하지만 위와 같이 설정하면</a:t>
            </a:r>
            <a:r>
              <a:rPr lang="en-US" altLang="ko-KR" dirty="0"/>
              <a:t>, </a:t>
            </a:r>
            <a:r>
              <a:rPr lang="ko-KR" altLang="en-US" dirty="0"/>
              <a:t>이미지는 원래 크기보다 크게 확대될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67C61F-DF95-E07D-5F73-D7276481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2" name="_x442430768">
            <a:extLst>
              <a:ext uri="{FF2B5EF4-FFF2-40B4-BE49-F238E27FC236}">
                <a16:creationId xmlns="" xmlns:a16="http://schemas.microsoft.com/office/drawing/2014/main" id="{A0503B19-1B41-57B4-D191-5AC2856DA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869" y="3075915"/>
            <a:ext cx="2166758" cy="182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1" name="_x442430912">
            <a:extLst>
              <a:ext uri="{FF2B5EF4-FFF2-40B4-BE49-F238E27FC236}">
                <a16:creationId xmlns="" xmlns:a16="http://schemas.microsoft.com/office/drawing/2014/main" id="{00F63505-CAAC-3764-71D5-97E032607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412" y="3075915"/>
            <a:ext cx="401713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77000755-BD24-684B-2C0C-9686F131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4971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5BFC0B7-FC39-55C0-B336-67B9EEB8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반응형</a:t>
            </a:r>
            <a:r>
              <a:rPr lang="en-US" altLang="ko-KR" dirty="0"/>
              <a:t> </a:t>
            </a:r>
            <a:r>
              <a:rPr lang="ko-KR" altLang="en-US" dirty="0"/>
              <a:t>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B43022-B01D-5BFA-5813-A9FDD46299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더 나은 솔루션은 </a:t>
            </a:r>
            <a:r>
              <a:rPr lang="en-US" altLang="ko-KR" dirty="0"/>
              <a:t>max-width </a:t>
            </a:r>
            <a:r>
              <a:rPr lang="ko-KR" altLang="en-US" dirty="0"/>
              <a:t>속성을 사용하는 것이다</a:t>
            </a:r>
            <a:r>
              <a:rPr lang="en-US" altLang="ko-KR" dirty="0"/>
              <a:t>. max-width </a:t>
            </a:r>
            <a:r>
              <a:rPr lang="ko-KR" altLang="en-US" dirty="0"/>
              <a:t>속성이 </a:t>
            </a:r>
            <a:r>
              <a:rPr lang="en-US" altLang="ko-KR" dirty="0"/>
              <a:t>80%</a:t>
            </a:r>
            <a:r>
              <a:rPr lang="ko-KR" altLang="en-US" dirty="0"/>
              <a:t>로 설정된 경우</a:t>
            </a:r>
            <a:r>
              <a:rPr lang="en-US" altLang="ko-KR" dirty="0"/>
              <a:t>, </a:t>
            </a:r>
            <a:r>
              <a:rPr lang="ko-KR" altLang="en-US" dirty="0"/>
              <a:t>이미지는 원래 크기의 </a:t>
            </a:r>
            <a:r>
              <a:rPr lang="en-US" altLang="ko-KR" dirty="0"/>
              <a:t>80%</a:t>
            </a:r>
            <a:r>
              <a:rPr lang="ko-KR" altLang="en-US" dirty="0"/>
              <a:t>보다 확대되지는 않는다</a:t>
            </a:r>
            <a:r>
              <a:rPr lang="en-US" altLang="ko-KR" dirty="0"/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EB0F4AE3-EC5E-B19D-96CD-C38E8CD6AA92}"/>
              </a:ext>
            </a:extLst>
          </p:cNvPr>
          <p:cNvSpPr txBox="1">
            <a:spLocks/>
          </p:cNvSpPr>
          <p:nvPr/>
        </p:nvSpPr>
        <p:spPr bwMode="auto">
          <a:xfrm>
            <a:off x="553910" y="2534970"/>
            <a:ext cx="8212138" cy="1222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img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max-width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80%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auto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FF4783D4-EBFD-89F4-1E28-65F8545E0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1505" name="_x446533792">
            <a:extLst>
              <a:ext uri="{FF2B5EF4-FFF2-40B4-BE49-F238E27FC236}">
                <a16:creationId xmlns="" xmlns:a16="http://schemas.microsoft.com/office/drawing/2014/main" id="{324472B7-240A-914C-5126-BC630DECB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587" y="3949071"/>
            <a:ext cx="4460461" cy="195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523651" y="4264242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image2.html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882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832BD70-6203-7324-27C4-05569F4C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장치에 맞는 이미지 제공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515C73-B8E4-3DB9-494B-BA2CCBA947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큰 이미지를 </a:t>
            </a:r>
            <a:r>
              <a:rPr lang="ko-KR" altLang="en-US" dirty="0" err="1"/>
              <a:t>로딩하는</a:t>
            </a:r>
            <a:r>
              <a:rPr lang="ko-KR" altLang="en-US" dirty="0"/>
              <a:t> 것은 통신 대역폭을 낭비하는 것이다</a:t>
            </a:r>
            <a:r>
              <a:rPr lang="en-US" altLang="ko-KR" dirty="0"/>
              <a:t>. </a:t>
            </a:r>
            <a:r>
              <a:rPr lang="ko-KR" altLang="en-US" dirty="0"/>
              <a:t>이 문제를 미디어 쿼리로 해결할 수 있다</a:t>
            </a:r>
            <a:r>
              <a:rPr lang="en-US" altLang="ko-KR" dirty="0"/>
              <a:t>. </a:t>
            </a:r>
            <a:r>
              <a:rPr lang="ko-KR" altLang="en-US" dirty="0"/>
              <a:t>미디어 쿼리를 통하여 장치의 특성을 파악하여 적절한 이미지를 지정할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E603FF4B-F8AA-FBE7-1860-FDEAA36D2851}"/>
              </a:ext>
            </a:extLst>
          </p:cNvPr>
          <p:cNvSpPr txBox="1">
            <a:spLocks/>
          </p:cNvSpPr>
          <p:nvPr/>
        </p:nvSpPr>
        <p:spPr bwMode="auto">
          <a:xfrm>
            <a:off x="553910" y="2534970"/>
            <a:ext cx="8212138" cy="42460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background-repeat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no-repeat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background-image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url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'small.png'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algn="l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AF00DB"/>
                </a:solidFill>
                <a:latin typeface="Century Schoolbook" panose="02040604050505020304" pitchFamily="18" charset="0"/>
              </a:rPr>
              <a:t>@media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screen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and (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min-width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600px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background-image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url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'normal.jpg'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브라우저의 너비를 조절하면 이미지가 변경됩니다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113237" y="619855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image3.html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06336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832BD70-6203-7324-27C4-05569F4C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장치에 맞는 이미지 제공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515C73-B8E4-3DB9-494B-BA2CCBA947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그림의 크기에 따라 다른 이미지를 </a:t>
            </a:r>
            <a:r>
              <a:rPr lang="ko-KR" altLang="en-US" dirty="0" err="1"/>
              <a:t>로딩할</a:t>
            </a:r>
            <a:r>
              <a:rPr lang="ko-KR" altLang="en-US" dirty="0"/>
              <a:t>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22545" name="_x446535376">
            <a:extLst>
              <a:ext uri="{FF2B5EF4-FFF2-40B4-BE49-F238E27FC236}">
                <a16:creationId xmlns="" xmlns:a16="http://schemas.microsoft.com/office/drawing/2014/main" id="{82C4C3CE-4508-FF3F-0848-0CE2EEAC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77" y="2286190"/>
            <a:ext cx="4300762" cy="203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4" name="_x446533792">
            <a:extLst>
              <a:ext uri="{FF2B5EF4-FFF2-40B4-BE49-F238E27FC236}">
                <a16:creationId xmlns="" xmlns:a16="http://schemas.microsoft.com/office/drawing/2014/main" id="{A05F4FB2-BB51-3D2D-E14B-4CF22E9E8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16" y="2293379"/>
            <a:ext cx="3296850" cy="202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8">
            <a:extLst>
              <a:ext uri="{FF2B5EF4-FFF2-40B4-BE49-F238E27FC236}">
                <a16:creationId xmlns="" xmlns:a16="http://schemas.microsoft.com/office/drawing/2014/main" id="{BE0CF397-3516-3B32-250F-BDA965860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5839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ko-KR" altLang="en-US" dirty="0" smtClean="0"/>
              <a:t>요소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 err="1" smtClean="0"/>
              <a:t>반응형</a:t>
            </a:r>
            <a:r>
              <a:rPr lang="ko-KR" altLang="en-US" b="1" dirty="0" smtClean="0"/>
              <a:t> </a:t>
            </a:r>
            <a:r>
              <a:rPr lang="ko-KR" altLang="en-US" b="1" dirty="0"/>
              <a:t>이미지</a:t>
            </a:r>
            <a:r>
              <a:rPr lang="ko-KR" altLang="en-US" dirty="0"/>
              <a:t>나 </a:t>
            </a:r>
            <a:r>
              <a:rPr lang="ko-KR" altLang="en-US" b="1" dirty="0" err="1"/>
              <a:t>브라우저별로</a:t>
            </a:r>
            <a:r>
              <a:rPr lang="ko-KR" altLang="en-US" b="1" dirty="0"/>
              <a:t> 다른 이미지 형식</a:t>
            </a:r>
            <a:r>
              <a:rPr lang="ko-KR" altLang="en-US" dirty="0"/>
              <a:t>을 제공하기 위해 사용하는 </a:t>
            </a:r>
            <a:r>
              <a:rPr lang="ko-KR" altLang="en-US" dirty="0" smtClean="0"/>
              <a:t>요소이다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ko-KR" altLang="en-US" dirty="0" smtClean="0"/>
              <a:t>브라우저가 </a:t>
            </a:r>
            <a:r>
              <a:rPr lang="ko-KR" altLang="en-US" dirty="0"/>
              <a:t>조건에 맞는 이미지를 자동으로 </a:t>
            </a:r>
            <a:r>
              <a:rPr lang="ko-KR" altLang="en-US" dirty="0" smtClean="0"/>
              <a:t>선택한다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HTML </a:t>
            </a:r>
            <a:r>
              <a:rPr lang="en-US" altLang="ko-KR" dirty="0"/>
              <a:t>&lt;picture&gt;</a:t>
            </a:r>
            <a:r>
              <a:rPr lang="ko-KR" altLang="en-US" dirty="0"/>
              <a:t>요소를 사용하면 웹 개발자가 이미지 리소스를 보다 유연하게 지정할 수 있다</a:t>
            </a:r>
            <a:r>
              <a:rPr lang="en-US" altLang="ko-KR" dirty="0"/>
              <a:t>. &lt;picture&gt; </a:t>
            </a:r>
            <a:r>
              <a:rPr lang="ko-KR" altLang="en-US" dirty="0"/>
              <a:t>요소의 가장 일반적인 용도는 반응형 디자인에 사용되는 이미지에 사용된다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45534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ko-KR" altLang="en-US" dirty="0" smtClean="0"/>
              <a:t>요소 예</a:t>
            </a:r>
            <a:r>
              <a:rPr lang="en-US" altLang="ko-KR" dirty="0" smtClean="0"/>
              <a:t>1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:</a:t>
            </a:r>
          </a:p>
          <a:p>
            <a:pPr marL="0" indent="0">
              <a:buNone/>
            </a:pPr>
            <a:r>
              <a:rPr lang="en-US" altLang="ko-KR" dirty="0"/>
              <a:t>&lt;picture&gt;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  &lt;</a:t>
            </a:r>
            <a:r>
              <a:rPr lang="en-US" altLang="ko-KR" dirty="0"/>
              <a:t>source </a:t>
            </a:r>
            <a:r>
              <a:rPr lang="en-US" altLang="ko-KR" dirty="0" err="1"/>
              <a:t>srcset</a:t>
            </a:r>
            <a:r>
              <a:rPr lang="en-US" altLang="ko-KR" dirty="0"/>
              <a:t>="</a:t>
            </a:r>
            <a:r>
              <a:rPr lang="en-US" altLang="ko-KR" dirty="0" err="1"/>
              <a:t>image.webp</a:t>
            </a:r>
            <a:r>
              <a:rPr lang="en-US" altLang="ko-KR" dirty="0"/>
              <a:t>" type="image/</a:t>
            </a:r>
            <a:r>
              <a:rPr lang="en-US" altLang="ko-KR" dirty="0" err="1"/>
              <a:t>webp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/>
              <a:t>&lt;source </a:t>
            </a:r>
            <a:r>
              <a:rPr lang="en-US" altLang="ko-KR" dirty="0" err="1"/>
              <a:t>srcset</a:t>
            </a:r>
            <a:r>
              <a:rPr lang="en-US" altLang="ko-KR" dirty="0"/>
              <a:t>="image.jpg" type="image/jpeg"&gt;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  &lt;</a:t>
            </a:r>
            <a:r>
              <a:rPr lang="en-US" altLang="ko-KR" dirty="0" err="1"/>
              <a:t>img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="image.jpg" alt="</a:t>
            </a:r>
            <a:r>
              <a:rPr lang="ko-KR" altLang="en-US" dirty="0"/>
              <a:t>설명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&lt;/picture</a:t>
            </a:r>
            <a:r>
              <a:rPr lang="en-US" altLang="ko-KR" dirty="0" smtClean="0"/>
              <a:t>&gt;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&lt;picture&gt;: </a:t>
            </a:r>
            <a:r>
              <a:rPr lang="ko-KR" altLang="en-US" dirty="0" smtClean="0"/>
              <a:t>여러 이미지 소스를 묶는 컨테이너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&lt;source&gt;: </a:t>
            </a:r>
            <a:r>
              <a:rPr lang="ko-KR" altLang="en-US" dirty="0" smtClean="0"/>
              <a:t>조건에 맞는 이미지 파일을 지정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 </a:t>
            </a:r>
            <a:r>
              <a:rPr lang="en-US" altLang="ko-KR" dirty="0" err="1" smtClean="0"/>
              <a:t>srcset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사용할 이미지 경로 </a:t>
            </a:r>
          </a:p>
          <a:p>
            <a:pPr marL="0" indent="0">
              <a:buNone/>
            </a:pPr>
            <a:r>
              <a:rPr lang="en-US" altLang="ko-KR" dirty="0" smtClean="0"/>
              <a:t>type: </a:t>
            </a:r>
            <a:r>
              <a:rPr lang="ko-KR" altLang="en-US" dirty="0" smtClean="0"/>
              <a:t>이미지 형식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WebP</a:t>
            </a:r>
            <a:r>
              <a:rPr lang="en-US" altLang="ko-KR" dirty="0" smtClean="0"/>
              <a:t>, AVIF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 </a:t>
            </a:r>
          </a:p>
          <a:p>
            <a:pPr marL="0" indent="0">
              <a:buNone/>
            </a:pPr>
            <a:r>
              <a:rPr lang="en-US" altLang="ko-KR" dirty="0" smtClean="0"/>
              <a:t>media: </a:t>
            </a:r>
            <a:r>
              <a:rPr lang="ko-KR" altLang="en-US" dirty="0" smtClean="0"/>
              <a:t>화면 크기 등의 조건 </a:t>
            </a:r>
          </a:p>
          <a:p>
            <a:pPr marL="0" indent="0">
              <a:buNone/>
            </a:pPr>
            <a:r>
              <a:rPr lang="en-US" altLang="ko-KR" dirty="0" smtClean="0"/>
              <a:t>&lt;</a:t>
            </a:r>
            <a:r>
              <a:rPr lang="en-US" altLang="ko-KR" dirty="0" err="1" smtClean="0"/>
              <a:t>img</a:t>
            </a:r>
            <a:r>
              <a:rPr lang="en-US" altLang="ko-KR" dirty="0" smtClean="0"/>
              <a:t>&gt;: </a:t>
            </a:r>
            <a:r>
              <a:rPr lang="ko-KR" altLang="en-US" dirty="0" smtClean="0"/>
              <a:t>조건에 맞는 </a:t>
            </a:r>
            <a:r>
              <a:rPr lang="en-US" altLang="ko-KR" dirty="0" smtClean="0"/>
              <a:t>&lt;source&gt;</a:t>
            </a:r>
            <a:r>
              <a:rPr lang="ko-KR" altLang="en-US" dirty="0" smtClean="0"/>
              <a:t>가 없을 때 사용하는 </a:t>
            </a:r>
            <a:r>
              <a:rPr lang="ko-KR" altLang="en-US" b="1" dirty="0" smtClean="0"/>
              <a:t>필수 대체 이미지</a:t>
            </a:r>
            <a:r>
              <a:rPr lang="en-US" altLang="ko-KR" b="1" dirty="0" smtClean="0"/>
              <a:t>(fallback)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591625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ko-KR" altLang="en-US" dirty="0" smtClean="0"/>
              <a:t>요소 예</a:t>
            </a:r>
            <a:r>
              <a:rPr lang="en-US" altLang="ko-KR" dirty="0" smtClean="0"/>
              <a:t>2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:</a:t>
            </a:r>
          </a:p>
          <a:p>
            <a:pPr marL="0" indent="0">
              <a:buNone/>
            </a:pPr>
            <a:r>
              <a:rPr lang="en-US" altLang="ko-KR" dirty="0"/>
              <a:t>&lt;picture&gt;</a:t>
            </a:r>
          </a:p>
          <a:p>
            <a:pPr marL="0" indent="0">
              <a:buNone/>
            </a:pPr>
            <a:r>
              <a:rPr lang="en-US" altLang="ko-KR" dirty="0"/>
              <a:t>  &lt;source </a:t>
            </a:r>
            <a:r>
              <a:rPr lang="en-US" altLang="ko-KR" dirty="0" err="1"/>
              <a:t>srcset</a:t>
            </a:r>
            <a:r>
              <a:rPr lang="en-US" altLang="ko-KR" dirty="0"/>
              <a:t>="</a:t>
            </a:r>
            <a:r>
              <a:rPr lang="en-US" altLang="ko-KR" dirty="0" err="1"/>
              <a:t>photo.webp</a:t>
            </a:r>
            <a:r>
              <a:rPr lang="en-US" altLang="ko-KR" dirty="0"/>
              <a:t>" type="image/</a:t>
            </a:r>
            <a:r>
              <a:rPr lang="en-US" altLang="ko-KR" dirty="0" err="1"/>
              <a:t>webp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  &lt;</a:t>
            </a:r>
            <a:r>
              <a:rPr lang="en-US" altLang="ko-KR" dirty="0" err="1"/>
              <a:t>img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="photo.jpg" alt="</a:t>
            </a:r>
            <a:r>
              <a:rPr lang="ko-KR" altLang="en-US" dirty="0"/>
              <a:t>풍경 사진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&lt;/picture</a:t>
            </a:r>
            <a:r>
              <a:rPr lang="en-US" altLang="ko-KR" dirty="0" smtClean="0"/>
              <a:t>&gt;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WebP</a:t>
            </a:r>
            <a:r>
              <a:rPr lang="ko-KR" altLang="en-US" dirty="0"/>
              <a:t>를 지원하면 </a:t>
            </a:r>
            <a:r>
              <a:rPr lang="en-US" altLang="ko-KR" dirty="0" err="1"/>
              <a:t>photo.webp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r>
              <a:rPr lang="ko-KR" altLang="en-US" dirty="0" smtClean="0"/>
              <a:t>지원하지 </a:t>
            </a:r>
            <a:r>
              <a:rPr lang="ko-KR" altLang="en-US" dirty="0"/>
              <a:t>않으면 </a:t>
            </a:r>
            <a:r>
              <a:rPr lang="en-US" altLang="ko-KR" dirty="0"/>
              <a:t>photo.jpg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592772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ko-KR" altLang="en-US" dirty="0" smtClean="0"/>
              <a:t>요소 예</a:t>
            </a:r>
            <a:r>
              <a:rPr lang="en-US" altLang="ko-KR" dirty="0" smtClean="0"/>
              <a:t>3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:</a:t>
            </a:r>
          </a:p>
          <a:p>
            <a:pPr marL="0" indent="0">
              <a:buNone/>
            </a:pPr>
            <a:r>
              <a:rPr lang="en-US" altLang="ko-KR" dirty="0"/>
              <a:t>&lt;picture&gt;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/>
              <a:t>&lt;source media="(min-width: 1024px)" </a:t>
            </a:r>
            <a:r>
              <a:rPr lang="en-US" altLang="ko-KR" dirty="0" err="1"/>
              <a:t>srcset</a:t>
            </a:r>
            <a:r>
              <a:rPr lang="en-US" altLang="ko-KR" dirty="0"/>
              <a:t>="desktop.jpg"&gt;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   &lt;</a:t>
            </a:r>
            <a:r>
              <a:rPr lang="en-US" altLang="ko-KR" dirty="0"/>
              <a:t>source media="(min-width: 768px)" </a:t>
            </a:r>
            <a:r>
              <a:rPr lang="en-US" altLang="ko-KR" dirty="0" err="1"/>
              <a:t>srcset</a:t>
            </a:r>
            <a:r>
              <a:rPr lang="en-US" altLang="ko-KR" dirty="0"/>
              <a:t>="tablet.jpg"&gt;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   &lt;</a:t>
            </a:r>
            <a:r>
              <a:rPr lang="en-US" altLang="ko-KR" dirty="0" err="1"/>
              <a:t>img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="mobile.jpg" alt="</a:t>
            </a:r>
            <a:r>
              <a:rPr lang="ko-KR" altLang="en-US" dirty="0"/>
              <a:t>배너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&lt;/picture</a:t>
            </a:r>
            <a:r>
              <a:rPr lang="en-US" altLang="ko-KR" dirty="0" smtClean="0"/>
              <a:t>&gt;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화면 너비가 </a:t>
            </a:r>
            <a:r>
              <a:rPr lang="en-US" altLang="ko-KR" dirty="0"/>
              <a:t>1024px </a:t>
            </a:r>
            <a:r>
              <a:rPr lang="ko-KR" altLang="en-US" dirty="0"/>
              <a:t>이상 → </a:t>
            </a:r>
            <a:r>
              <a:rPr lang="en-US" altLang="ko-KR" dirty="0"/>
              <a:t>desktop.jpg </a:t>
            </a:r>
            <a:endParaRPr lang="en-US" altLang="ko-KR" dirty="0" smtClean="0"/>
          </a:p>
          <a:p>
            <a:r>
              <a:rPr lang="en-US" altLang="ko-KR" dirty="0" smtClean="0"/>
              <a:t>768px </a:t>
            </a:r>
            <a:r>
              <a:rPr lang="ko-KR" altLang="en-US" dirty="0"/>
              <a:t>이상 </a:t>
            </a:r>
            <a:r>
              <a:rPr lang="en-US" altLang="ko-KR" dirty="0"/>
              <a:t>1023px </a:t>
            </a:r>
            <a:r>
              <a:rPr lang="ko-KR" altLang="en-US" dirty="0"/>
              <a:t>이하 → </a:t>
            </a:r>
            <a:r>
              <a:rPr lang="en-US" altLang="ko-KR" dirty="0"/>
              <a:t>tablet.jpg </a:t>
            </a:r>
            <a:endParaRPr lang="en-US" altLang="ko-KR" dirty="0" smtClean="0"/>
          </a:p>
          <a:p>
            <a:r>
              <a:rPr lang="ko-KR" altLang="en-US" dirty="0" smtClean="0"/>
              <a:t>그 </a:t>
            </a:r>
            <a:r>
              <a:rPr lang="ko-KR" altLang="en-US" dirty="0"/>
              <a:t>외 → </a:t>
            </a:r>
            <a:r>
              <a:rPr lang="en-US" altLang="ko-KR" dirty="0"/>
              <a:t>mobile.jpg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8920888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en-US" altLang="ko-KR" dirty="0" smtClean="0"/>
              <a:t>+</a:t>
            </a:r>
            <a:r>
              <a:rPr lang="ko-KR" altLang="en-US" dirty="0" err="1" smtClean="0"/>
              <a:t>반응형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함께사용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906598" cy="4495800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:</a:t>
            </a:r>
          </a:p>
          <a:p>
            <a:pPr marL="0" indent="0">
              <a:buNone/>
            </a:pPr>
            <a:r>
              <a:rPr lang="en-US" altLang="ko-KR" dirty="0"/>
              <a:t>&lt;picture&gt;</a:t>
            </a:r>
          </a:p>
          <a:p>
            <a:pPr marL="0" indent="0">
              <a:buNone/>
            </a:pPr>
            <a:r>
              <a:rPr lang="en-US" altLang="ko-KR" dirty="0"/>
              <a:t>  &lt;source</a:t>
            </a:r>
          </a:p>
          <a:p>
            <a:pPr marL="0" indent="0">
              <a:buNone/>
            </a:pPr>
            <a:r>
              <a:rPr lang="en-US" altLang="ko-KR" dirty="0"/>
              <a:t>    media="(min-width: 768px)"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srcset</a:t>
            </a:r>
            <a:r>
              <a:rPr lang="en-US" altLang="ko-KR" dirty="0"/>
              <a:t>="banner-</a:t>
            </a:r>
            <a:r>
              <a:rPr lang="en-US" altLang="ko-KR" dirty="0" err="1"/>
              <a:t>desktop.webp</a:t>
            </a:r>
            <a:r>
              <a:rPr lang="en-US" altLang="ko-KR" dirty="0"/>
              <a:t>"</a:t>
            </a:r>
          </a:p>
          <a:p>
            <a:pPr marL="0" indent="0">
              <a:buNone/>
            </a:pPr>
            <a:r>
              <a:rPr lang="en-US" altLang="ko-KR" dirty="0"/>
              <a:t>    type="image/</a:t>
            </a:r>
            <a:r>
              <a:rPr lang="en-US" altLang="ko-KR" dirty="0" err="1"/>
              <a:t>webp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&lt;source</a:t>
            </a:r>
          </a:p>
          <a:p>
            <a:pPr marL="0" indent="0">
              <a:buNone/>
            </a:pPr>
            <a:r>
              <a:rPr lang="en-US" altLang="ko-KR" dirty="0"/>
              <a:t>    media="(min-width: 768px)"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srcset</a:t>
            </a:r>
            <a:r>
              <a:rPr lang="en-US" altLang="ko-KR" dirty="0"/>
              <a:t>="banner-desktop.jpg"</a:t>
            </a:r>
          </a:p>
          <a:p>
            <a:pPr marL="0" indent="0">
              <a:buNone/>
            </a:pPr>
            <a:r>
              <a:rPr lang="en-US" altLang="ko-KR" dirty="0"/>
              <a:t>    type="image/jpeg"&gt;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&lt;source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srcset</a:t>
            </a:r>
            <a:r>
              <a:rPr lang="en-US" altLang="ko-KR" dirty="0"/>
              <a:t>="banner-</a:t>
            </a:r>
            <a:r>
              <a:rPr lang="en-US" altLang="ko-KR" dirty="0" err="1"/>
              <a:t>mobile.webp</a:t>
            </a:r>
            <a:r>
              <a:rPr lang="en-US" altLang="ko-KR" dirty="0"/>
              <a:t>"</a:t>
            </a:r>
          </a:p>
          <a:p>
            <a:pPr marL="0" indent="0">
              <a:buNone/>
            </a:pPr>
            <a:r>
              <a:rPr lang="en-US" altLang="ko-KR" dirty="0"/>
              <a:t>    type="image/</a:t>
            </a:r>
            <a:r>
              <a:rPr lang="en-US" altLang="ko-KR" dirty="0" err="1"/>
              <a:t>webp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&lt;</a:t>
            </a:r>
            <a:r>
              <a:rPr lang="en-US" altLang="ko-KR" dirty="0" err="1"/>
              <a:t>img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src</a:t>
            </a:r>
            <a:r>
              <a:rPr lang="en-US" altLang="ko-KR" dirty="0"/>
              <a:t>="banner-mobile.jpg"</a:t>
            </a:r>
          </a:p>
          <a:p>
            <a:pPr marL="0" indent="0">
              <a:buNone/>
            </a:pPr>
            <a:r>
              <a:rPr lang="en-US" altLang="ko-KR" dirty="0"/>
              <a:t>    alt="</a:t>
            </a:r>
            <a:r>
              <a:rPr lang="ko-KR" altLang="en-US" dirty="0"/>
              <a:t>메인 배너</a:t>
            </a:r>
            <a:r>
              <a:rPr lang="en-US" altLang="ko-KR" dirty="0"/>
              <a:t>"&gt;</a:t>
            </a:r>
          </a:p>
          <a:p>
            <a:pPr marL="0" indent="0">
              <a:buNone/>
            </a:pPr>
            <a:r>
              <a:rPr lang="en-US" altLang="ko-KR" dirty="0"/>
              <a:t>&lt;/picture&gt;</a:t>
            </a:r>
            <a:endParaRPr lang="en-US" altLang="ko-KR" dirty="0" smtClean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 txBox="1">
            <a:spLocks/>
          </p:cNvSpPr>
          <p:nvPr/>
        </p:nvSpPr>
        <p:spPr>
          <a:xfrm>
            <a:off x="4771410" y="1626577"/>
            <a:ext cx="3906598" cy="4495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</p:txBody>
      </p:sp>
      <p:sp>
        <p:nvSpPr>
          <p:cNvPr id="5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 txBox="1">
            <a:spLocks/>
          </p:cNvSpPr>
          <p:nvPr/>
        </p:nvSpPr>
        <p:spPr>
          <a:xfrm>
            <a:off x="4885710" y="1626577"/>
            <a:ext cx="3906598" cy="4495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100" dirty="0"/>
              <a:t>화면 너비가 </a:t>
            </a:r>
            <a:r>
              <a:rPr lang="en-US" altLang="ko-KR" sz="1100" dirty="0"/>
              <a:t>768px </a:t>
            </a:r>
            <a:r>
              <a:rPr lang="ko-KR" altLang="en-US" sz="1100" dirty="0" smtClean="0"/>
              <a:t>이상</a:t>
            </a:r>
            <a:r>
              <a:rPr lang="en-US" altLang="ko-KR" sz="1100" dirty="0" smtClean="0"/>
              <a:t>,  </a:t>
            </a:r>
            <a:r>
              <a:rPr lang="ko-KR" altLang="en-US" sz="1100" dirty="0" smtClean="0"/>
              <a:t>브라우저가 </a:t>
            </a:r>
            <a:r>
              <a:rPr lang="en-US" altLang="ko-KR" sz="1100" dirty="0" err="1"/>
              <a:t>WebP</a:t>
            </a:r>
            <a:r>
              <a:rPr lang="en-US" altLang="ko-KR" sz="1100" dirty="0"/>
              <a:t> </a:t>
            </a:r>
            <a:r>
              <a:rPr lang="ko-KR" altLang="en-US" sz="1100" dirty="0"/>
              <a:t>형식을 지원 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두 </a:t>
            </a:r>
            <a:r>
              <a:rPr lang="ko-KR" altLang="en-US" sz="1100" dirty="0"/>
              <a:t>조건을 모두 </a:t>
            </a:r>
            <a:r>
              <a:rPr lang="ko-KR" altLang="en-US" sz="1100" dirty="0" smtClean="0"/>
              <a:t>만족하면  </a:t>
            </a:r>
            <a:r>
              <a:rPr lang="en-US" altLang="ko-KR" sz="1100" dirty="0" smtClean="0"/>
              <a:t>banner-</a:t>
            </a:r>
            <a:r>
              <a:rPr lang="en-US" altLang="ko-KR" sz="1100" dirty="0" err="1" smtClean="0"/>
              <a:t>desktop.webp</a:t>
            </a:r>
            <a:endParaRPr lang="en-US" altLang="ko-KR" sz="1100" dirty="0" smtClean="0"/>
          </a:p>
          <a:p>
            <a:pPr>
              <a:lnSpc>
                <a:spcPct val="80000"/>
              </a:lnSpc>
            </a:pPr>
            <a:endParaRPr lang="en-US" altLang="ko-KR" sz="1100" dirty="0"/>
          </a:p>
          <a:p>
            <a:pPr>
              <a:lnSpc>
                <a:spcPct val="80000"/>
              </a:lnSpc>
            </a:pPr>
            <a:endParaRPr lang="en-US" altLang="ko-KR" sz="1100" dirty="0" smtClean="0"/>
          </a:p>
          <a:p>
            <a:pPr>
              <a:lnSpc>
                <a:spcPct val="80000"/>
              </a:lnSpc>
            </a:pPr>
            <a:endParaRPr lang="en-US" altLang="ko-KR" sz="1100" dirty="0"/>
          </a:p>
          <a:p>
            <a:pPr>
              <a:lnSpc>
                <a:spcPct val="80000"/>
              </a:lnSpc>
            </a:pPr>
            <a:endParaRPr lang="en-US" altLang="ko-KR" sz="1100" dirty="0" smtClean="0"/>
          </a:p>
          <a:p>
            <a:pPr>
              <a:lnSpc>
                <a:spcPct val="80000"/>
              </a:lnSpc>
            </a:pPr>
            <a:endParaRPr lang="en-US" altLang="ko-KR" sz="1100" dirty="0"/>
          </a:p>
          <a:p>
            <a:r>
              <a:rPr lang="ko-KR" altLang="en-US" sz="1100" dirty="0"/>
              <a:t>화면이 </a:t>
            </a:r>
            <a:r>
              <a:rPr lang="en-US" altLang="ko-KR" sz="1100" b="1" dirty="0"/>
              <a:t>768px </a:t>
            </a:r>
            <a:r>
              <a:rPr lang="ko-KR" altLang="en-US" sz="1100" b="1" dirty="0"/>
              <a:t>이상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첫 </a:t>
            </a:r>
            <a:r>
              <a:rPr lang="ko-KR" altLang="en-US" sz="1100" dirty="0"/>
              <a:t>번째</a:t>
            </a:r>
            <a:r>
              <a:rPr lang="en-US" altLang="ko-KR" sz="1100" dirty="0"/>
              <a:t>(</a:t>
            </a:r>
            <a:r>
              <a:rPr lang="en-US" altLang="ko-KR" sz="1100" dirty="0" err="1"/>
              <a:t>WebP</a:t>
            </a:r>
            <a:r>
              <a:rPr lang="en-US" altLang="ko-KR" sz="1100" dirty="0"/>
              <a:t>)</a:t>
            </a:r>
            <a:r>
              <a:rPr lang="ko-KR" altLang="en-US" sz="1100" dirty="0"/>
              <a:t>를 사용할 수 없는 경우 </a:t>
            </a:r>
            <a:r>
              <a:rPr lang="en-US" altLang="ko-KR" sz="1100" dirty="0" smtClean="0"/>
              <a:t>banner-desktop.jpg</a:t>
            </a:r>
            <a:r>
              <a:rPr lang="ko-KR" altLang="en-US" sz="1100" dirty="0" smtClean="0"/>
              <a:t>이미지를 사용한</a:t>
            </a:r>
            <a:r>
              <a:rPr lang="ko-KR" altLang="en-US" sz="1100" dirty="0"/>
              <a:t>다</a:t>
            </a:r>
            <a:r>
              <a:rPr lang="en-US" altLang="ko-KR" sz="1100" dirty="0" smtClean="0"/>
              <a:t>.</a:t>
            </a:r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r>
              <a:rPr lang="en-US" altLang="ko-KR" sz="1100" dirty="0"/>
              <a:t>media</a:t>
            </a:r>
            <a:r>
              <a:rPr lang="ko-KR" altLang="en-US" sz="1100" dirty="0"/>
              <a:t>가 </a:t>
            </a:r>
            <a:r>
              <a:rPr lang="ko-KR" altLang="en-US" sz="1100" dirty="0" smtClean="0"/>
              <a:t>없으므로  화면 </a:t>
            </a:r>
            <a:r>
              <a:rPr lang="ko-KR" altLang="en-US" sz="1100" dirty="0"/>
              <a:t>크기와 상관없이 사용할 수 있지만</a:t>
            </a:r>
            <a:r>
              <a:rPr lang="en-US" altLang="ko-KR" sz="1100" dirty="0" smtClean="0"/>
              <a:t>,  </a:t>
            </a:r>
            <a:r>
              <a:rPr lang="ko-KR" altLang="en-US" sz="1100" dirty="0" smtClean="0"/>
              <a:t>앞의 </a:t>
            </a:r>
            <a:r>
              <a:rPr lang="ko-KR" altLang="en-US" sz="1100" dirty="0"/>
              <a:t>두 </a:t>
            </a:r>
            <a:r>
              <a:rPr lang="en-US" altLang="ko-KR" sz="1100" dirty="0"/>
              <a:t>&lt;source&gt;</a:t>
            </a:r>
            <a:r>
              <a:rPr lang="ko-KR" altLang="en-US" sz="1100" dirty="0"/>
              <a:t>가 선택되지 않았을 때만 </a:t>
            </a:r>
            <a:r>
              <a:rPr lang="ko-KR" altLang="en-US" sz="1100" dirty="0" smtClean="0"/>
              <a:t>검사한다</a:t>
            </a:r>
            <a:r>
              <a:rPr lang="en-US" altLang="ko-KR" sz="1100" dirty="0" smtClean="0"/>
              <a:t>.  </a:t>
            </a:r>
            <a:r>
              <a:rPr lang="ko-KR" altLang="en-US" sz="1100" dirty="0" smtClean="0"/>
              <a:t>즉  화면이 </a:t>
            </a:r>
            <a:r>
              <a:rPr lang="en-US" altLang="ko-KR" sz="1100" dirty="0"/>
              <a:t>768px </a:t>
            </a:r>
            <a:r>
              <a:rPr lang="ko-KR" altLang="en-US" sz="1100" dirty="0"/>
              <a:t>미만 </a:t>
            </a:r>
            <a:r>
              <a:rPr lang="ko-KR" altLang="en-US" sz="1100" dirty="0" smtClean="0"/>
              <a:t>  </a:t>
            </a:r>
            <a:r>
              <a:rPr lang="en-US" altLang="ko-KR" sz="1100" dirty="0" err="1" smtClean="0"/>
              <a:t>WebP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지원 </a:t>
            </a:r>
            <a:r>
              <a:rPr lang="ko-KR" altLang="en-US" sz="1100" dirty="0" smtClean="0"/>
              <a:t> 이면 </a:t>
            </a:r>
            <a:r>
              <a:rPr lang="en-US" altLang="ko-KR" sz="1100" dirty="0" smtClean="0"/>
              <a:t>banner-</a:t>
            </a:r>
            <a:r>
              <a:rPr lang="en-US" altLang="ko-KR" sz="1100" dirty="0" err="1" smtClean="0"/>
              <a:t>mobile.webp</a:t>
            </a:r>
            <a:r>
              <a:rPr lang="ko-KR" altLang="en-US" sz="1100" dirty="0" smtClean="0"/>
              <a:t>를 사용</a:t>
            </a:r>
            <a:r>
              <a:rPr lang="en-US" altLang="ko-KR" sz="1100" dirty="0" smtClean="0"/>
              <a:t>.</a:t>
            </a:r>
          </a:p>
          <a:p>
            <a:endParaRPr lang="en-US" altLang="ko-KR" sz="1100" dirty="0"/>
          </a:p>
          <a:p>
            <a:pPr>
              <a:buFont typeface="Arial" pitchFamily="34" charset="0"/>
              <a:buChar char="•"/>
            </a:pPr>
            <a:r>
              <a:rPr lang="ko-KR" altLang="en-US" sz="1100" dirty="0"/>
              <a:t>앞의 </a:t>
            </a:r>
            <a:r>
              <a:rPr lang="en-US" altLang="ko-KR" sz="1100" dirty="0"/>
              <a:t>&lt;source&gt;</a:t>
            </a:r>
            <a:r>
              <a:rPr lang="ko-KR" altLang="en-US" sz="1100" dirty="0"/>
              <a:t>가 모두 조건에 맞지 않을 때 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브라우저가 </a:t>
            </a:r>
            <a:r>
              <a:rPr lang="en-US" altLang="ko-KR" sz="1100" dirty="0"/>
              <a:t>&lt;picture&gt;</a:t>
            </a:r>
            <a:r>
              <a:rPr lang="ko-KR" altLang="en-US" sz="1100" dirty="0"/>
              <a:t>나 </a:t>
            </a:r>
            <a:r>
              <a:rPr lang="en-US" altLang="ko-KR" sz="1100" dirty="0" err="1"/>
              <a:t>WebP</a:t>
            </a:r>
            <a:r>
              <a:rPr lang="ko-KR" altLang="en-US" sz="1100" dirty="0"/>
              <a:t>를 지원하지 않을 때 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최종적으로</a:t>
            </a:r>
            <a:endParaRPr lang="ko-KR" altLang="en-US" sz="1100" dirty="0"/>
          </a:p>
          <a:p>
            <a:pPr marL="0" indent="0">
              <a:buNone/>
            </a:pPr>
            <a:r>
              <a:rPr lang="en-US" altLang="ko-KR" sz="1100" dirty="0" smtClean="0"/>
              <a:t>         banner-mobile.jpg</a:t>
            </a:r>
            <a:r>
              <a:rPr lang="ko-KR" altLang="en-US" sz="1100" dirty="0" smtClean="0"/>
              <a:t>를 보여준다</a:t>
            </a:r>
            <a:r>
              <a:rPr lang="en-US" altLang="ko-KR" sz="1100" dirty="0" smtClean="0"/>
              <a:t>.</a:t>
            </a:r>
            <a:endParaRPr lang="en-US" altLang="ko-KR" sz="1100" dirty="0"/>
          </a:p>
          <a:p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endParaRPr lang="en-US" altLang="ko-KR" sz="1100" dirty="0"/>
          </a:p>
          <a:p>
            <a:pPr>
              <a:lnSpc>
                <a:spcPct val="80000"/>
              </a:lnSpc>
            </a:pPr>
            <a:endParaRPr lang="en-US" altLang="ko-KR" sz="1100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487893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D6068B3-8CE4-93DB-6EBF-13D4E0F6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</a:t>
            </a:r>
            <a:endParaRPr lang="ko-KR" altLang="en-US" dirty="0"/>
          </a:p>
        </p:txBody>
      </p:sp>
      <p:pic>
        <p:nvPicPr>
          <p:cNvPr id="24578" name="_x95629128">
            <a:extLst>
              <a:ext uri="{FF2B5EF4-FFF2-40B4-BE49-F238E27FC236}">
                <a16:creationId xmlns="" xmlns:a16="http://schemas.microsoft.com/office/drawing/2014/main" id="{12FF0BBC-56CF-6D66-735D-08285C310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454588"/>
            <a:ext cx="3565038" cy="213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7" name="_x95629560">
            <a:extLst>
              <a:ext uri="{FF2B5EF4-FFF2-40B4-BE49-F238E27FC236}">
                <a16:creationId xmlns="" xmlns:a16="http://schemas.microsoft.com/office/drawing/2014/main" id="{F38ED08D-292E-297A-708D-F34EB6EE0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44" y="1461404"/>
            <a:ext cx="2951552" cy="212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0AFFF8B-CBDE-90DB-3DFC-D204BF2E0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="" xmlns:a16="http://schemas.microsoft.com/office/drawing/2014/main" id="{55239BC3-3BD4-FD5D-5458-943CAF185CBB}"/>
              </a:ext>
            </a:extLst>
          </p:cNvPr>
          <p:cNvSpPr/>
          <p:nvPr/>
        </p:nvSpPr>
        <p:spPr>
          <a:xfrm>
            <a:off x="4409038" y="2107155"/>
            <a:ext cx="226336" cy="624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32303" y="3935095"/>
            <a:ext cx="82793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latinLnBrk="1" hangingPunct="1"/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다음과 같이 두 개의 이미지 파일이 준비되어 있다</a:t>
            </a:r>
            <a:r>
              <a:rPr kumimoji="1" lang="ko-KR" altLang="ko-KR" sz="1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.</a:t>
            </a:r>
            <a:endParaRPr kumimoji="1" lang="ko-KR" altLang="ko-KR" sz="1400" dirty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>
              <a:buFontTx/>
              <a:buChar char="•"/>
            </a:pPr>
            <a:r>
              <a:rPr kumimoji="1" lang="ko-KR" altLang="ko-KR" sz="1400" b="1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small.png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 : </a:t>
            </a:r>
            <a:r>
              <a:rPr kumimoji="1" lang="ko-KR" altLang="ko-KR" sz="1400" dirty="0" err="1">
                <a:latin typeface="굴림" pitchFamily="50" charset="-127"/>
                <a:ea typeface="굴림" pitchFamily="50" charset="-127"/>
                <a:cs typeface="굴림" pitchFamily="50" charset="-127"/>
              </a:rPr>
              <a:t>모바일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 화면에서 사용할 이미지 </a:t>
            </a:r>
          </a:p>
          <a:p>
            <a:pPr lvl="0">
              <a:buFontTx/>
              <a:buChar char="•"/>
            </a:pPr>
            <a:r>
              <a:rPr kumimoji="1" lang="ko-KR" altLang="ko-KR" sz="1400" b="1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normal.jpg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 : 데스크톱 화면에서 사용할 이미지 </a:t>
            </a:r>
            <a:endParaRPr kumimoji="1" lang="en-US" altLang="ko-KR" sz="1400" dirty="0" smtClean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/>
            <a:endParaRPr kumimoji="1" lang="ko-KR" altLang="ko-KR" sz="1400" dirty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/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웹 페이지를 실행했을 때 다음과 같은 결과가 나타나도록 HTML 코드를 작성하시오.</a:t>
            </a:r>
          </a:p>
          <a:p>
            <a:pPr lvl="0">
              <a:buFontTx/>
              <a:buChar char="•"/>
            </a:pP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브라우저의 너비가 </a:t>
            </a:r>
            <a:r>
              <a:rPr kumimoji="1" lang="ko-KR" altLang="ko-KR" sz="1400" b="1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600px 이하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이면 </a:t>
            </a:r>
            <a:r>
              <a:rPr kumimoji="1" lang="ko-KR" altLang="ko-KR" sz="1400" dirty="0">
                <a:latin typeface="Arial Unicode MS" pitchFamily="50" charset="-127"/>
                <a:ea typeface="굴림" pitchFamily="50" charset="-127"/>
                <a:cs typeface="굴림" pitchFamily="50" charset="-127"/>
              </a:rPr>
              <a:t>small.png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가 표시된다. </a:t>
            </a:r>
          </a:p>
          <a:p>
            <a:pPr lvl="0">
              <a:buFontTx/>
              <a:buChar char="•"/>
            </a:pP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브라우저의 너비가 </a:t>
            </a:r>
            <a:r>
              <a:rPr kumimoji="1" lang="ko-KR" altLang="ko-KR" sz="1400" b="1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601px 이상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이면 </a:t>
            </a:r>
            <a:r>
              <a:rPr kumimoji="1" lang="ko-KR" altLang="ko-KR" sz="1400" dirty="0">
                <a:latin typeface="Arial Unicode MS" pitchFamily="50" charset="-127"/>
                <a:ea typeface="굴림" pitchFamily="50" charset="-127"/>
                <a:cs typeface="굴림" pitchFamily="50" charset="-127"/>
              </a:rPr>
              <a:t>normal.jpg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가 표시된다</a:t>
            </a:r>
            <a:r>
              <a:rPr kumimoji="1" lang="ko-KR" altLang="ko-KR" sz="1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.</a:t>
            </a:r>
            <a:endParaRPr kumimoji="1" lang="en-US" altLang="ko-KR" sz="1400" dirty="0" smtClean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>
              <a:buFontTx/>
              <a:buChar char="•"/>
            </a:pPr>
            <a:r>
              <a:rPr kumimoji="1" lang="ko-KR" altLang="ko-KR" sz="1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ko-KR" altLang="ko-KR" sz="1400" dirty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/>
            <a:r>
              <a:rPr kumimoji="1" lang="ko-KR" altLang="ko-KR" sz="1400" dirty="0" smtClean="0">
                <a:latin typeface="Arial Unicode MS" pitchFamily="50" charset="-127"/>
                <a:ea typeface="굴림" pitchFamily="50" charset="-127"/>
                <a:cs typeface="굴림" pitchFamily="50" charset="-127"/>
              </a:rPr>
              <a:t>&lt;</a:t>
            </a:r>
            <a:r>
              <a:rPr kumimoji="1" lang="ko-KR" altLang="ko-KR" sz="1400" dirty="0">
                <a:latin typeface="Arial Unicode MS" pitchFamily="50" charset="-127"/>
                <a:ea typeface="굴림" pitchFamily="50" charset="-127"/>
                <a:cs typeface="굴림" pitchFamily="50" charset="-127"/>
              </a:rPr>
              <a:t>picture&gt;</a:t>
            </a:r>
            <a:r>
              <a:rPr kumimoji="1" lang="ko-KR" altLang="ko-KR" sz="1400" dirty="0"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r>
              <a:rPr kumimoji="1" lang="ko-KR" altLang="ko-KR" sz="1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태그 사용.</a:t>
            </a:r>
            <a:endParaRPr kumimoji="1" lang="ko-KR" altLang="ko-KR" sz="1400" dirty="0"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6454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9560737-765E-9D9B-AE0A-339F785F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&lt;picture&gt; </a:t>
            </a:r>
            <a:r>
              <a:rPr lang="ko-KR" altLang="en-US" dirty="0" smtClean="0"/>
              <a:t>요소</a:t>
            </a:r>
            <a:endParaRPr lang="ko-KR" altLang="en-US" sz="2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62239F09-EB90-D116-474B-8A4C5009F9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 &lt;picture&gt;</a:t>
            </a:r>
            <a:r>
              <a:rPr lang="ko-KR" altLang="en-US" dirty="0"/>
              <a:t>요소를 사용하면 웹 개발자가 이미지 리소스를 보다 유연하게 지정할 수 있다</a:t>
            </a:r>
            <a:r>
              <a:rPr lang="en-US" altLang="ko-KR" dirty="0"/>
              <a:t>. &lt;picture&gt; </a:t>
            </a:r>
            <a:r>
              <a:rPr lang="ko-KR" altLang="en-US" dirty="0"/>
              <a:t>요소의 가장 일반적인 용도는 반응형 디자인에 사용되는 이미지에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="" xmlns:a16="http://schemas.microsoft.com/office/drawing/2014/main" id="{3F048AFA-2BBD-C0A8-D762-4C8A76AF3B51}"/>
              </a:ext>
            </a:extLst>
          </p:cNvPr>
          <p:cNvSpPr txBox="1">
            <a:spLocks/>
          </p:cNvSpPr>
          <p:nvPr/>
        </p:nvSpPr>
        <p:spPr bwMode="auto">
          <a:xfrm>
            <a:off x="553910" y="2534970"/>
            <a:ext cx="8212138" cy="394203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&lt;meta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"viewport"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"width=device-width, initial-scale=1.0"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&lt;picture&gt;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&lt;source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srcset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"small.png"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media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"(max-width: 600px)"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&lt;source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srcset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"normal.jpg"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img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src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"normal.jpg"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style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width:auto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;"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&lt;/picture&gt;</a:t>
            </a:r>
          </a:p>
          <a:p>
            <a:pPr marR="0" algn="just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브라우저 너비를 변경해보세요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042898" y="5890818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image4.html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684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EAE0958-B645-FFA3-1BE7-44626876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71D836E-7D18-15C0-ACE2-D0291D94EF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HTML5</a:t>
            </a:r>
            <a:r>
              <a:rPr lang="ko-KR" altLang="en-US" dirty="0"/>
              <a:t>과 </a:t>
            </a:r>
            <a:r>
              <a:rPr lang="en-US" altLang="ko-KR" dirty="0"/>
              <a:t>CSS, </a:t>
            </a:r>
            <a:r>
              <a:rPr lang="ko-KR" altLang="en-US" dirty="0"/>
              <a:t>자바스크립트를 이용하면 웬만한 애플리케이션의 기능은 흉내 낼 수 있다</a:t>
            </a:r>
            <a:r>
              <a:rPr lang="en-US" altLang="ko-KR" dirty="0"/>
              <a:t>. </a:t>
            </a:r>
            <a:r>
              <a:rPr lang="ko-KR" altLang="en-US" dirty="0"/>
              <a:t>모바일 장치에서는 웹 페이지로 앱을 제작하기도 한다</a:t>
            </a:r>
            <a:r>
              <a:rPr lang="en-US" altLang="ko-KR" dirty="0"/>
              <a:t>. </a:t>
            </a:r>
            <a:r>
              <a:rPr lang="ko-KR" altLang="en-US" dirty="0"/>
              <a:t>이것을 웹 앱</a:t>
            </a:r>
            <a:r>
              <a:rPr lang="en-US" altLang="ko-KR" dirty="0"/>
              <a:t>(Web App)</a:t>
            </a:r>
            <a:r>
              <a:rPr lang="ko-KR" altLang="en-US" dirty="0"/>
              <a:t>이라고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전통적인 프로그래밍 언어와 장치의 </a:t>
            </a:r>
            <a:r>
              <a:rPr lang="en-US" altLang="ko-KR" dirty="0"/>
              <a:t>SDK</a:t>
            </a:r>
            <a:r>
              <a:rPr lang="ko-KR" altLang="en-US" dirty="0"/>
              <a:t>를 이용하여 제작되는 앱을 네이티브 앱</a:t>
            </a:r>
            <a:r>
              <a:rPr lang="en-US" altLang="ko-KR" dirty="0"/>
              <a:t>(Native App)</a:t>
            </a:r>
            <a:r>
              <a:rPr lang="ko-KR" altLang="en-US" dirty="0"/>
              <a:t>이라고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35ABE9DC-CBBF-6ED5-B524-69DE04FB1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5" name="_x168468064">
            <a:extLst>
              <a:ext uri="{FF2B5EF4-FFF2-40B4-BE49-F238E27FC236}">
                <a16:creationId xmlns="" xmlns:a16="http://schemas.microsoft.com/office/drawing/2014/main" id="{F1B227F9-47BD-E734-AA29-C7A26D57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48" y="3051915"/>
            <a:ext cx="3684760" cy="348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5822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BD792B-4FBB-1A7D-2873-4C97FE42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네이티브 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A760848-EEAA-A914-94F3-ABD2828BA4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네이티브 앱은 모바일 장치 안에 설치되며 특정 모바일 운영체제용으로 개발된 프로그램이다</a:t>
            </a:r>
            <a:r>
              <a:rPr lang="en-US" altLang="ko-KR" dirty="0"/>
              <a:t>. </a:t>
            </a:r>
            <a:r>
              <a:rPr lang="ko-KR" altLang="en-US" dirty="0"/>
              <a:t>이러한 앱은 </a:t>
            </a:r>
            <a:r>
              <a:rPr lang="en-US" altLang="ko-KR" dirty="0"/>
              <a:t>Apple App Store, Google Play Store </a:t>
            </a:r>
            <a:r>
              <a:rPr lang="ko-KR" altLang="en-US" dirty="0"/>
              <a:t>등과 같은 앱 스토어에서 다운로드한 후에 설치하여서 사용할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각 운영체제에 맞는 프로그램을 작성하려면 특정 언어를 사용하여야 하고 특정 플랫폼의 프로그래밍 기술을 학습하여야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FE55C06-328D-A541-1ED3-24950C72B9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9" y="3492094"/>
            <a:ext cx="6221357" cy="260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648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BD792B-4FBB-1A7D-2873-4C97FE42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A760848-EEAA-A914-94F3-ABD2828BA4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앱은 </a:t>
            </a:r>
            <a:r>
              <a:rPr lang="en-US" altLang="ko-KR" dirty="0"/>
              <a:t>HTML </a:t>
            </a:r>
            <a:r>
              <a:rPr lang="ko-KR" altLang="en-US" dirty="0"/>
              <a:t>및 </a:t>
            </a:r>
            <a:r>
              <a:rPr lang="en-US" altLang="ko-KR" dirty="0"/>
              <a:t>CSS</a:t>
            </a:r>
            <a:r>
              <a:rPr lang="ko-KR" altLang="en-US" dirty="0"/>
              <a:t>의 웹 페이지로 개발되고 대화형 부분은 자바스크립트 언어로 개발된다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웹 앱은 웹 </a:t>
            </a:r>
            <a:r>
              <a:rPr lang="ko-KR" altLang="en-US" dirty="0" err="1"/>
              <a:t>브라우징이</a:t>
            </a:r>
            <a:r>
              <a:rPr lang="ko-KR" altLang="en-US" dirty="0"/>
              <a:t> 가능한 대부분의 장치에서 사용할 수 있으며 사용하는 운영체제에 의존하지 않다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DF65BB6F-70E1-367D-9710-9E8096C6E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96" y="3272920"/>
            <a:ext cx="6237837" cy="261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735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웹앱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 err="1"/>
              <a:t>네이티브앱</a:t>
            </a:r>
            <a:endParaRPr lang="ko-KR" altLang="en-US" dirty="0"/>
          </a:p>
        </p:txBody>
      </p:sp>
      <p:pic>
        <p:nvPicPr>
          <p:cNvPr id="1025" name="_x275744000" descr="EMB000019945e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183" y="4335520"/>
            <a:ext cx="2717800" cy="229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4D84625A-33A6-1E86-8AEF-395FED9D2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17" y="1690169"/>
            <a:ext cx="7449966" cy="267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917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D5762F8-3218-EE87-6774-C28E1B5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앱의 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08622F1-996B-ACE0-24D5-B3336A2F75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작은 화면 크기 </a:t>
            </a:r>
            <a:r>
              <a:rPr lang="en-US" altLang="ko-KR" dirty="0"/>
              <a:t>- </a:t>
            </a:r>
            <a:r>
              <a:rPr lang="ko-KR" altLang="en-US" dirty="0"/>
              <a:t>일반적으로 모바일 장치의 화면은 데스크탑 컴퓨터 화면에 비하여 상당히 작다</a:t>
            </a:r>
            <a:r>
              <a:rPr lang="en-US" altLang="ko-KR" dirty="0"/>
              <a:t>. </a:t>
            </a:r>
            <a:r>
              <a:rPr lang="ko-KR" altLang="en-US" dirty="0"/>
              <a:t>따라서 텍스트와 그래픽을 보기 어렵게 하거나 불가능하게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윈도우 부족 </a:t>
            </a:r>
            <a:r>
              <a:rPr lang="en-US" altLang="ko-KR" dirty="0"/>
              <a:t>– </a:t>
            </a:r>
            <a:r>
              <a:rPr lang="ko-KR" altLang="en-US" dirty="0"/>
              <a:t>데스크탑 컴퓨터에서 한 번에 둘 이상의 창을 열 수 있는 기능은 </a:t>
            </a:r>
            <a:r>
              <a:rPr lang="ko-KR" altLang="en-US" dirty="0" err="1"/>
              <a:t>멀티태스킹을</a:t>
            </a:r>
            <a:r>
              <a:rPr lang="ko-KR" altLang="en-US" dirty="0"/>
              <a:t> 허용하고 이전 페이지로 쉽게 되돌릴 수 있다</a:t>
            </a:r>
            <a:r>
              <a:rPr lang="en-US" altLang="ko-KR" dirty="0"/>
              <a:t>. </a:t>
            </a:r>
            <a:r>
              <a:rPr lang="ko-KR" altLang="en-US" dirty="0"/>
              <a:t>하지만 예전의 모바일 웹에서는 한 번에 한 페이지만 표시할 수 있었고 페이지는 원래 액세스한 순서대로만 볼 수 있었다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속도 </a:t>
            </a:r>
            <a:r>
              <a:rPr lang="en-US" altLang="ko-KR" dirty="0"/>
              <a:t>– </a:t>
            </a:r>
            <a:r>
              <a:rPr lang="ko-KR" altLang="en-US" dirty="0"/>
              <a:t>대부분의 모바일 장치에서 서비스 속도는 데스크탑에 비하여 느리다</a:t>
            </a:r>
            <a:r>
              <a:rPr lang="en-US" altLang="ko-KR" dirty="0"/>
              <a:t>. </a:t>
            </a:r>
            <a:r>
              <a:rPr lang="ko-KR" altLang="en-US" dirty="0"/>
              <a:t>메모리와 </a:t>
            </a:r>
            <a:r>
              <a:rPr lang="en-US" altLang="ko-KR" dirty="0"/>
              <a:t>CPU</a:t>
            </a:r>
            <a:r>
              <a:rPr lang="ko-KR" altLang="en-US" dirty="0"/>
              <a:t>도 데스크탑에 느리다</a:t>
            </a:r>
            <a:r>
              <a:rPr lang="en-US" altLang="ko-KR" dirty="0"/>
              <a:t>. </a:t>
            </a:r>
            <a:r>
              <a:rPr lang="ko-KR" altLang="en-US" dirty="0"/>
              <a:t>키보드와 마우스를 사용할 수 없고 터치만 사용할 수 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38426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FC7402F-D366-1987-66C9-BC128E4D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하이브리드 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1978-EB83-85FC-F185-25D3340A0D3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하이브리드앱의</a:t>
            </a:r>
            <a:r>
              <a:rPr lang="ko-KR" altLang="en-US" dirty="0"/>
              <a:t> 내부 작동은 웹 앱과 유사하지만 네이티브 앱처럼 설치된다</a:t>
            </a:r>
            <a:r>
              <a:rPr lang="en-US" altLang="ko-KR" dirty="0"/>
              <a:t>. </a:t>
            </a:r>
            <a:r>
              <a:rPr lang="ko-KR" altLang="en-US" dirty="0" err="1"/>
              <a:t>하이브리드앱은</a:t>
            </a:r>
            <a:r>
              <a:rPr lang="ko-KR" altLang="en-US" dirty="0"/>
              <a:t> 모바일 장치 </a:t>
            </a:r>
            <a:r>
              <a:rPr lang="en-US" altLang="ko-KR" dirty="0"/>
              <a:t>API</a:t>
            </a:r>
            <a:r>
              <a:rPr lang="ko-KR" altLang="en-US" dirty="0"/>
              <a:t>에 액세스할 수 있으므로 카메라</a:t>
            </a:r>
            <a:r>
              <a:rPr lang="en-US" altLang="ko-KR" dirty="0"/>
              <a:t>, </a:t>
            </a:r>
            <a:r>
              <a:rPr lang="ko-KR" altLang="en-US" dirty="0"/>
              <a:t>저장장치</a:t>
            </a:r>
            <a:r>
              <a:rPr lang="en-US" altLang="ko-KR" dirty="0"/>
              <a:t>, GPS</a:t>
            </a:r>
            <a:r>
              <a:rPr lang="ko-KR" altLang="en-US" dirty="0"/>
              <a:t>와 같은 리소스를 사용할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2BC6315-5D52-CF4E-0361-AB26FCD4FA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81" y="2845150"/>
            <a:ext cx="5323438" cy="298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71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C4157E0-1806-E863-05AD-66D72F83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</a:t>
            </a:r>
            <a:r>
              <a:rPr lang="ko-KR" altLang="en-US" dirty="0"/>
              <a:t> </a:t>
            </a:r>
            <a:r>
              <a:rPr lang="en-US" altLang="ko-KR" dirty="0"/>
              <a:t>Project: </a:t>
            </a:r>
            <a:r>
              <a:rPr lang="ko-KR" altLang="en-US" dirty="0"/>
              <a:t>반응형 웹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B146541-3A24-114E-8BB3-EF4F9954BC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79575"/>
            <a:ext cx="8153400" cy="4495800"/>
          </a:xfrm>
        </p:spPr>
        <p:txBody>
          <a:bodyPr/>
          <a:lstStyle/>
          <a:p>
            <a:r>
              <a:rPr lang="ko-KR" altLang="en-US" dirty="0"/>
              <a:t>레이아웃이 다음과 같이 </a:t>
            </a:r>
            <a:r>
              <a:rPr lang="en-US" altLang="ko-KR" dirty="0"/>
              <a:t>3</a:t>
            </a:r>
            <a:r>
              <a:rPr lang="ko-KR" altLang="en-US" dirty="0"/>
              <a:t>가지로 변경되는 웹페이지를 제작해보자</a:t>
            </a:r>
            <a:r>
              <a:rPr lang="en-US" altLang="ko-KR" dirty="0"/>
              <a:t>. grid </a:t>
            </a:r>
            <a:r>
              <a:rPr lang="ko-KR" altLang="en-US" dirty="0"/>
              <a:t>레이아웃을 사용해보자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17CFB59-E257-6FE3-82DF-DA23EA7D0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7649" name="_x443425296">
            <a:extLst>
              <a:ext uri="{FF2B5EF4-FFF2-40B4-BE49-F238E27FC236}">
                <a16:creationId xmlns="" xmlns:a16="http://schemas.microsoft.com/office/drawing/2014/main" id="{C0CF2857-15EB-CCB4-6E91-12237A76E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" y="2581094"/>
            <a:ext cx="3541713" cy="222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69ACFC1-4AA4-BFFB-865E-1C24F4C3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7652" name="_x449209400">
            <a:extLst>
              <a:ext uri="{FF2B5EF4-FFF2-40B4-BE49-F238E27FC236}">
                <a16:creationId xmlns="" xmlns:a16="http://schemas.microsoft.com/office/drawing/2014/main" id="{25B576CD-6BFB-535A-62EA-D54DEFB5E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20" y="2581094"/>
            <a:ext cx="1817688" cy="339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1" name="_x449209472">
            <a:extLst>
              <a:ext uri="{FF2B5EF4-FFF2-40B4-BE49-F238E27FC236}">
                <a16:creationId xmlns="" xmlns:a16="http://schemas.microsoft.com/office/drawing/2014/main" id="{B6266736-F529-C117-097E-B6E5E093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844" y="2581094"/>
            <a:ext cx="2538413" cy="300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330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3899</TotalTime>
  <Words>2252</Words>
  <Application>Microsoft Office PowerPoint</Application>
  <PresentationFormat>화면 슬라이드 쇼(4:3)</PresentationFormat>
  <Paragraphs>693</Paragraphs>
  <Slides>68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69" baseType="lpstr">
      <vt:lpstr>가을</vt:lpstr>
      <vt:lpstr>제13장 모바일 웹페이지와  반응형 웹디자인</vt:lpstr>
      <vt:lpstr>반응형 웹 디자인</vt:lpstr>
      <vt:lpstr>모바일을 위한 2가지 방법</vt:lpstr>
      <vt:lpstr>반응형 웹 디자인의 역사</vt:lpstr>
      <vt:lpstr>반응형 웹디자인의 3가지 기법</vt:lpstr>
      <vt:lpstr>반응형이 아니면 어떤 문제점이 있는가?</vt:lpstr>
      <vt:lpstr>반응형이 아니면 어떤 문제점이 있는가?</vt:lpstr>
      <vt:lpstr>반응형이 아니면 어떤 문제점이 있는가?</vt:lpstr>
      <vt:lpstr>퍼센트로 요소의 크기를 지정해보자. </vt:lpstr>
      <vt:lpstr>가상 뷰포트</vt:lpstr>
      <vt:lpstr>크롬의 개발자 도구 사용하기</vt:lpstr>
      <vt:lpstr>애플사의 가상 뷰포트</vt:lpstr>
      <vt:lpstr>애플사의 가상 뷰포트</vt:lpstr>
      <vt:lpstr>뷰포트</vt:lpstr>
      <vt:lpstr>뷰포트 지정하기</vt:lpstr>
      <vt:lpstr>예제: 가상 뷰포트 예제</vt:lpstr>
      <vt:lpstr>예제: 가상 뷰포트 예제</vt:lpstr>
      <vt:lpstr>미디어 쿼리</vt:lpstr>
      <vt:lpstr>미디어 쿼리</vt:lpstr>
      <vt:lpstr>화면의 방향 알아내기</vt:lpstr>
      <vt:lpstr>중단점</vt:lpstr>
      <vt:lpstr>모바일 퍼스트</vt:lpstr>
      <vt:lpstr>예제: 중단점</vt:lpstr>
      <vt:lpstr>실행 결과</vt:lpstr>
      <vt:lpstr>예제: 중단점에서 레이아웃을 변경해보자. </vt:lpstr>
      <vt:lpstr>예제: 중단점에서 레이아웃을 변경해보자. </vt:lpstr>
      <vt:lpstr>예제: </vt:lpstr>
      <vt:lpstr>예제: </vt:lpstr>
      <vt:lpstr>현대적 표현방식 </vt:lpstr>
      <vt:lpstr> </vt:lpstr>
      <vt:lpstr>Lab: 반응형 웹 만들기</vt:lpstr>
      <vt:lpstr>Sol.</vt:lpstr>
      <vt:lpstr>Sol.</vt:lpstr>
      <vt:lpstr>Sol.</vt:lpstr>
      <vt:lpstr>유동 레이아웃</vt:lpstr>
      <vt:lpstr>유동 레이아웃</vt:lpstr>
      <vt:lpstr>grid 레이아웃 </vt:lpstr>
      <vt:lpstr>예제</vt:lpstr>
      <vt:lpstr>Sol.</vt:lpstr>
      <vt:lpstr>Sol.</vt:lpstr>
      <vt:lpstr>fr 단위</vt:lpstr>
      <vt:lpstr>PowerPoint 프레젠테이션</vt:lpstr>
      <vt:lpstr>그리드 항목에 이름 붙여서 배치하기</vt:lpstr>
      <vt:lpstr>Sol.</vt:lpstr>
      <vt:lpstr>Sol.</vt:lpstr>
      <vt:lpstr>grid 레이아웃을 이용한 반응형 웹디자인</vt:lpstr>
      <vt:lpstr>Sol.</vt:lpstr>
      <vt:lpstr>반응형 이미지</vt:lpstr>
      <vt:lpstr>실행 결과</vt:lpstr>
      <vt:lpstr>반응형 이미지</vt:lpstr>
      <vt:lpstr>실행 결과</vt:lpstr>
      <vt:lpstr>반응형 이미지</vt:lpstr>
      <vt:lpstr>장치에 맞는 이미지 제공</vt:lpstr>
      <vt:lpstr>장치에 맞는 이미지 제공</vt:lpstr>
      <vt:lpstr>&lt;picture&gt; 요소</vt:lpstr>
      <vt:lpstr>&lt;picture&gt; 요소 예1</vt:lpstr>
      <vt:lpstr>&lt;picture&gt; 요소 예2</vt:lpstr>
      <vt:lpstr>&lt;picture&gt; 요소 예3</vt:lpstr>
      <vt:lpstr>&lt;picture&gt; +반응형 함께사용</vt:lpstr>
      <vt:lpstr>문제</vt:lpstr>
      <vt:lpstr>&lt;picture&gt; 요소</vt:lpstr>
      <vt:lpstr>웹 앱</vt:lpstr>
      <vt:lpstr>네이티브 앱</vt:lpstr>
      <vt:lpstr>웹앱</vt:lpstr>
      <vt:lpstr>웹앱 vs 네이티브앱</vt:lpstr>
      <vt:lpstr>웹 앱의 단점</vt:lpstr>
      <vt:lpstr>하이브리드 앱</vt:lpstr>
      <vt:lpstr>Mini Project: 반응형 웹 만들기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Windows 사용자</cp:lastModifiedBy>
  <cp:revision>745</cp:revision>
  <dcterms:created xsi:type="dcterms:W3CDTF">2007-06-29T06:43:39Z</dcterms:created>
  <dcterms:modified xsi:type="dcterms:W3CDTF">2026-07-20T06:50:35Z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