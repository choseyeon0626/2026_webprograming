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1"/>
  </p:sldMasterIdLst>
  <p:notesMasterIdLst>
    <p:notesMasterId r:id="rId52"/>
  </p:notesMasterIdLst>
  <p:handoutMasterIdLst>
    <p:handoutMasterId r:id="rId53"/>
  </p:handoutMasterIdLst>
  <p:sldIdLst>
    <p:sldId id="702" r:id="rId2"/>
    <p:sldId id="678" r:id="rId3"/>
    <p:sldId id="679" r:id="rId4"/>
    <p:sldId id="677" r:id="rId5"/>
    <p:sldId id="703" r:id="rId6"/>
    <p:sldId id="704" r:id="rId7"/>
    <p:sldId id="705" r:id="rId8"/>
    <p:sldId id="706" r:id="rId9"/>
    <p:sldId id="707" r:id="rId10"/>
    <p:sldId id="708" r:id="rId11"/>
    <p:sldId id="683" r:id="rId12"/>
    <p:sldId id="684" r:id="rId13"/>
    <p:sldId id="709" r:id="rId14"/>
    <p:sldId id="710" r:id="rId15"/>
    <p:sldId id="711" r:id="rId16"/>
    <p:sldId id="712" r:id="rId17"/>
    <p:sldId id="713" r:id="rId18"/>
    <p:sldId id="714" r:id="rId19"/>
    <p:sldId id="685" r:id="rId20"/>
    <p:sldId id="686" r:id="rId21"/>
    <p:sldId id="715" r:id="rId22"/>
    <p:sldId id="716" r:id="rId23"/>
    <p:sldId id="687" r:id="rId24"/>
    <p:sldId id="688" r:id="rId25"/>
    <p:sldId id="717" r:id="rId26"/>
    <p:sldId id="718" r:id="rId27"/>
    <p:sldId id="719" r:id="rId28"/>
    <p:sldId id="720" r:id="rId29"/>
    <p:sldId id="721" r:id="rId30"/>
    <p:sldId id="690" r:id="rId31"/>
    <p:sldId id="691" r:id="rId32"/>
    <p:sldId id="722" r:id="rId33"/>
    <p:sldId id="723" r:id="rId34"/>
    <p:sldId id="692" r:id="rId35"/>
    <p:sldId id="724" r:id="rId36"/>
    <p:sldId id="725" r:id="rId37"/>
    <p:sldId id="726" r:id="rId38"/>
    <p:sldId id="727" r:id="rId39"/>
    <p:sldId id="729" r:id="rId40"/>
    <p:sldId id="728" r:id="rId41"/>
    <p:sldId id="698" r:id="rId42"/>
    <p:sldId id="699" r:id="rId43"/>
    <p:sldId id="730" r:id="rId44"/>
    <p:sldId id="731" r:id="rId45"/>
    <p:sldId id="732" r:id="rId46"/>
    <p:sldId id="733" r:id="rId47"/>
    <p:sldId id="734" r:id="rId48"/>
    <p:sldId id="735" r:id="rId49"/>
    <p:sldId id="852" r:id="rId50"/>
    <p:sldId id="325" r:id="rId51"/>
  </p:sldIdLst>
  <p:sldSz cx="9144000" cy="6858000" type="screen4x3"/>
  <p:notesSz cx="6934200" cy="9220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4">
          <p15:clr>
            <a:srgbClr val="A4A3A4"/>
          </p15:clr>
        </p15:guide>
        <p15:guide id="2" pos="218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0000FF"/>
    <a:srgbClr val="CCFFCC"/>
    <a:srgbClr val="6699FF"/>
    <a:srgbClr val="FF9999"/>
    <a:srgbClr val="FFFFFF"/>
    <a:srgbClr val="CCCCFF"/>
    <a:srgbClr val="009E00"/>
    <a:srgbClr val="FF9933"/>
    <a:srgbClr val="33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805" autoAdjust="0"/>
    <p:restoredTop sz="93514" autoAdjust="0"/>
  </p:normalViewPr>
  <p:slideViewPr>
    <p:cSldViewPr snapToGrid="0">
      <p:cViewPr varScale="1">
        <p:scale>
          <a:sx n="104" d="100"/>
          <a:sy n="104" d="100"/>
        </p:scale>
        <p:origin x="858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91" d="100"/>
          <a:sy n="91" d="100"/>
        </p:scale>
        <p:origin x="-3780" y="-108"/>
      </p:cViewPr>
      <p:guideLst>
        <p:guide orient="horz" pos="2904"/>
        <p:guide pos="218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5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880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27475" y="0"/>
            <a:ext cx="3005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880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758238"/>
            <a:ext cx="3005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880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27475" y="8758238"/>
            <a:ext cx="3005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굴림" pitchFamily="50" charset="-127"/>
              </a:defRPr>
            </a:lvl1pPr>
          </a:lstStyle>
          <a:p>
            <a:fld id="{176FFADF-79CB-4D72-852F-AAC670A3D037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618197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5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9" tIns="46154" rIns="92309" bIns="46154" numCol="1" anchor="t" anchorCtr="0" compatLnSpc="1">
            <a:prstTxWarp prst="textNoShape">
              <a:avLst/>
            </a:prstTxWarp>
          </a:bodyPr>
          <a:lstStyle>
            <a:lvl1pPr defTabSz="922338" eaLnBrk="1" hangingPunct="1">
              <a:defRPr sz="1200">
                <a:ea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27475" y="0"/>
            <a:ext cx="3005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9" tIns="46154" rIns="92309" bIns="46154" numCol="1" anchor="t" anchorCtr="0" compatLnSpc="1">
            <a:prstTxWarp prst="textNoShape">
              <a:avLst/>
            </a:prstTxWarp>
          </a:bodyPr>
          <a:lstStyle>
            <a:lvl1pPr algn="r" defTabSz="922338" eaLnBrk="1" hangingPunct="1">
              <a:defRPr sz="1200">
                <a:ea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655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62050" y="692150"/>
            <a:ext cx="4610100" cy="3457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55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93738" y="4379913"/>
            <a:ext cx="5546725" cy="4148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9" tIns="46154" rIns="92309" bIns="4615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</a:p>
        </p:txBody>
      </p:sp>
      <p:sp>
        <p:nvSpPr>
          <p:cNvPr id="655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58238"/>
            <a:ext cx="3005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9" tIns="46154" rIns="92309" bIns="46154" numCol="1" anchor="b" anchorCtr="0" compatLnSpc="1">
            <a:prstTxWarp prst="textNoShape">
              <a:avLst/>
            </a:prstTxWarp>
          </a:bodyPr>
          <a:lstStyle>
            <a:lvl1pPr defTabSz="922338" eaLnBrk="1" hangingPunct="1">
              <a:defRPr sz="1200">
                <a:ea typeface="굴림" pitchFamily="50" charset="-127"/>
              </a:defRPr>
            </a:lvl1pPr>
          </a:lstStyle>
          <a:p>
            <a:endParaRPr lang="en-US" altLang="ko-KR"/>
          </a:p>
        </p:txBody>
      </p:sp>
      <p:sp>
        <p:nvSpPr>
          <p:cNvPr id="655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27475" y="8758238"/>
            <a:ext cx="3005138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309" tIns="46154" rIns="92309" bIns="46154" numCol="1" anchor="b" anchorCtr="0" compatLnSpc="1">
            <a:prstTxWarp prst="textNoShape">
              <a:avLst/>
            </a:prstTxWarp>
          </a:bodyPr>
          <a:lstStyle>
            <a:lvl1pPr algn="r" defTabSz="922338" eaLnBrk="1" hangingPunct="1">
              <a:defRPr sz="1200">
                <a:ea typeface="굴림" pitchFamily="50" charset="-127"/>
              </a:defRPr>
            </a:lvl1pPr>
          </a:lstStyle>
          <a:p>
            <a:fld id="{949F3908-8432-46C2-9A97-2AAB410800A8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433862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b="1" cap="all" baseline="0">
                <a:solidFill>
                  <a:schemeClr val="tx2">
                    <a:lumMod val="25000"/>
                  </a:schemeClr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69F50F1-33F4-BC18-8205-E676EE85A4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8544" y="452984"/>
            <a:ext cx="4175418" cy="297601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145ED1F5-2617-92C8-CC06-990976B1DAD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8365" y="30156"/>
            <a:ext cx="2325757" cy="197409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29BC7D8A-F61E-3282-D986-E49B0F41962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9401" y="2322720"/>
            <a:ext cx="991299" cy="993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0249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916976-5D93-46E4-A98A-FAD63E4D0EA8}" type="datetimeFigureOut">
              <a:rPr lang="en-US" smtClean="0"/>
              <a:t>7/21/2026</a:t>
            </a:fld>
            <a:endParaRPr 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내용 개체 틀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>
            <a:normAutofit/>
          </a:bodyPr>
          <a:lstStyle>
            <a:lvl1pPr marL="320040" indent="-320040">
              <a:buSzPct val="80000"/>
              <a:buFont typeface="Wingdings" panose="05000000000000000000" pitchFamily="2" charset="2"/>
              <a:buChar char="l"/>
              <a:defRPr sz="18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1pPr>
            <a:lvl2pPr marL="640080" indent="-274320">
              <a:buFont typeface="Wingdings" panose="05000000000000000000" pitchFamily="2" charset="2"/>
              <a:buChar char="l"/>
              <a:defRPr sz="18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2pPr>
            <a:lvl3pPr marL="914400" indent="-228600">
              <a:buFont typeface="Wingdings" panose="05000000000000000000" pitchFamily="2" charset="2"/>
              <a:buChar char="l"/>
              <a:defRPr sz="18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3pPr>
            <a:lvl4pPr marL="1371600" indent="-228600">
              <a:buFont typeface="Wingdings" panose="05000000000000000000" pitchFamily="2" charset="2"/>
              <a:buChar char="l"/>
              <a:defRPr sz="18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4pPr>
            <a:lvl5pPr marL="1828800" indent="-228600">
              <a:buFont typeface="Wingdings" panose="05000000000000000000" pitchFamily="2" charset="2"/>
              <a:buChar char="l"/>
              <a:defRPr sz="1800">
                <a:latin typeface="Arial" panose="020B0604020202020204" pitchFamily="34" charset="0"/>
                <a:ea typeface="굴림" panose="020B0600000101010101" pitchFamily="50" charset="-127"/>
                <a:cs typeface="Arial" panose="020B0604020202020204" pitchFamily="34" charset="0"/>
              </a:defRPr>
            </a:lvl5pPr>
          </a:lstStyle>
          <a:p>
            <a:pPr lvl="0" eaLnBrk="1" latinLnBrk="0" hangingPunct="1"/>
            <a:r>
              <a:rPr lang="ko-KR" altLang="en-US"/>
              <a:t>마스터 텍스트 스타일을 편집하려면 클릭</a:t>
            </a:r>
          </a:p>
          <a:p>
            <a:pPr lvl="1" eaLnBrk="1" latinLnBrk="0" hangingPunct="1"/>
            <a:r>
              <a:rPr lang="ko-KR" altLang="en-US"/>
              <a:t>두 번째 수준</a:t>
            </a:r>
          </a:p>
          <a:p>
            <a:pPr lvl="2" eaLnBrk="1" latinLnBrk="0" hangingPunct="1"/>
            <a:r>
              <a:rPr lang="ko-KR" altLang="en-US"/>
              <a:t>세 번째 수준</a:t>
            </a:r>
          </a:p>
          <a:p>
            <a:pPr lvl="3" eaLnBrk="1" latinLnBrk="0" hangingPunct="1"/>
            <a:r>
              <a:rPr lang="ko-KR" altLang="en-US"/>
              <a:t>네 번째 수준</a:t>
            </a:r>
          </a:p>
          <a:p>
            <a:pPr lvl="4" eaLnBrk="1" latinLnBrk="0" hangingPunct="1"/>
            <a:r>
              <a:rPr lang="ko-KR" altLang="en-US"/>
              <a:t>다섯 번째 수준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975599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편집하려면 클릭</a:t>
            </a:r>
          </a:p>
        </p:txBody>
      </p:sp>
      <p:sp>
        <p:nvSpPr>
          <p:cNvPr id="7" name="직사각형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2" name="날짜 개체 틀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39F4F5-F4D2-4D2A-AB60-88D37ADCB869}" type="datetimeFigureOut">
              <a:rPr lang="en-US" smtClean="0"/>
              <a:t>7/21/2026</a:t>
            </a:fld>
            <a:endParaRPr lang="en-US" dirty="0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056D23D7-10E6-485D-80C1-8CCF7E24002C}" type="slidenum">
              <a:rPr lang="ko-KR" altLang="en-US" smtClean="0"/>
              <a:pPr/>
              <a:t>‹#›</a:t>
            </a:fld>
            <a:endParaRPr lang="en-US" altLang="ko-KR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8754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편집하려면 클릭</a:t>
            </a:r>
          </a:p>
          <a:p>
            <a:pPr lvl="1" eaLnBrk="1" latinLnBrk="0" hangingPunct="1"/>
            <a:r>
              <a:rPr lang="ko-KR" altLang="en-US"/>
              <a:t>두 번째 수준</a:t>
            </a:r>
          </a:p>
          <a:p>
            <a:pPr lvl="2" eaLnBrk="1" latinLnBrk="0" hangingPunct="1"/>
            <a:r>
              <a:rPr lang="ko-KR" altLang="en-US"/>
              <a:t>세 번째 수준</a:t>
            </a:r>
          </a:p>
          <a:p>
            <a:pPr lvl="3" eaLnBrk="1" latinLnBrk="0" hangingPunct="1"/>
            <a:r>
              <a:rPr lang="ko-KR" altLang="en-US"/>
              <a:t>네 번째 수준</a:t>
            </a:r>
          </a:p>
          <a:p>
            <a:pPr lvl="4" eaLnBrk="1" latinLnBrk="0" hangingPunct="1"/>
            <a:r>
              <a:rPr lang="ko-KR" altLang="en-US"/>
              <a:t>다섯 번째 수준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편집하려면 클릭</a:t>
            </a:r>
          </a:p>
          <a:p>
            <a:pPr lvl="1" eaLnBrk="1" latinLnBrk="0" hangingPunct="1"/>
            <a:r>
              <a:rPr lang="ko-KR" altLang="en-US"/>
              <a:t>두 번째 수준</a:t>
            </a:r>
          </a:p>
          <a:p>
            <a:pPr lvl="2" eaLnBrk="1" latinLnBrk="0" hangingPunct="1"/>
            <a:r>
              <a:rPr lang="ko-KR" altLang="en-US"/>
              <a:t>세 번째 수준</a:t>
            </a:r>
          </a:p>
          <a:p>
            <a:pPr lvl="3" eaLnBrk="1" latinLnBrk="0" hangingPunct="1"/>
            <a:r>
              <a:rPr lang="ko-KR" altLang="en-US"/>
              <a:t>네 번째 수준</a:t>
            </a:r>
          </a:p>
          <a:p>
            <a:pPr lvl="4" eaLnBrk="1" latinLnBrk="0" hangingPunct="1"/>
            <a:r>
              <a:rPr lang="ko-KR" altLang="en-US"/>
              <a:t>다섯 번째 수준</a:t>
            </a:r>
            <a:endParaRPr kumimoji="0" 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D23BC6CE-6D1E-47E5-8859-F31AC5380EB2}" type="datetimeFigureOut">
              <a:rPr lang="en-US" smtClean="0"/>
              <a:t>7/21/2026</a:t>
            </a:fld>
            <a:endParaRPr lang="en-US" dirty="0"/>
          </a:p>
        </p:txBody>
      </p:sp>
      <p:sp>
        <p:nvSpPr>
          <p:cNvPr id="10" name="슬라이드 번호 개체 틀 9"/>
          <p:cNvSpPr>
            <a:spLocks noGrp="1"/>
          </p:cNvSpPr>
          <p:nvPr>
            <p:ph type="sldNum" sz="quarter" idx="16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rtlCol="0"/>
          <a:lstStyle/>
          <a:p>
            <a:fld id="{056D23D7-10E6-485D-80C1-8CCF7E24002C}" type="slidenum">
              <a:rPr lang="ko-KR" altLang="en-US" smtClean="0"/>
              <a:pPr/>
              <a:t>‹#›</a:t>
            </a:fld>
            <a:endParaRPr lang="en-US" altLang="ko-KR"/>
          </a:p>
        </p:txBody>
      </p:sp>
      <p:sp>
        <p:nvSpPr>
          <p:cNvPr id="12" name="바닥글 개체 틀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074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1" name="내용 개체 틀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편집하려면 클릭</a:t>
            </a:r>
          </a:p>
          <a:p>
            <a:pPr lvl="1" eaLnBrk="1" latinLnBrk="0" hangingPunct="1"/>
            <a:r>
              <a:rPr lang="ko-KR" altLang="en-US"/>
              <a:t>두 번째 수준</a:t>
            </a:r>
          </a:p>
          <a:p>
            <a:pPr lvl="2" eaLnBrk="1" latinLnBrk="0" hangingPunct="1"/>
            <a:r>
              <a:rPr lang="ko-KR" altLang="en-US"/>
              <a:t>세 번째 수준</a:t>
            </a:r>
          </a:p>
          <a:p>
            <a:pPr lvl="3" eaLnBrk="1" latinLnBrk="0" hangingPunct="1"/>
            <a:r>
              <a:rPr lang="ko-KR" altLang="en-US"/>
              <a:t>네 번째 수준</a:t>
            </a:r>
          </a:p>
          <a:p>
            <a:pPr lvl="4" eaLnBrk="1" latinLnBrk="0" hangingPunct="1"/>
            <a:r>
              <a:rPr lang="ko-KR" altLang="en-US"/>
              <a:t>다섯 번째 수준</a:t>
            </a:r>
            <a:endParaRPr kumimoji="0" lang="en-US"/>
          </a:p>
        </p:txBody>
      </p:sp>
      <p:sp>
        <p:nvSpPr>
          <p:cNvPr id="13" name="내용 개체 틀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편집하려면 클릭</a:t>
            </a:r>
          </a:p>
          <a:p>
            <a:pPr lvl="1" eaLnBrk="1" latinLnBrk="0" hangingPunct="1"/>
            <a:r>
              <a:rPr lang="ko-KR" altLang="en-US"/>
              <a:t>두 번째 수준</a:t>
            </a:r>
          </a:p>
          <a:p>
            <a:pPr lvl="2" eaLnBrk="1" latinLnBrk="0" hangingPunct="1"/>
            <a:r>
              <a:rPr lang="ko-KR" altLang="en-US"/>
              <a:t>세 번째 수준</a:t>
            </a:r>
          </a:p>
          <a:p>
            <a:pPr lvl="3" eaLnBrk="1" latinLnBrk="0" hangingPunct="1"/>
            <a:r>
              <a:rPr lang="ko-KR" altLang="en-US"/>
              <a:t>네 번째 수준</a:t>
            </a:r>
          </a:p>
          <a:p>
            <a:pPr lvl="4" eaLnBrk="1" latinLnBrk="0" hangingPunct="1"/>
            <a:r>
              <a:rPr lang="ko-KR" altLang="en-US"/>
              <a:t>다섯 번째 수준</a:t>
            </a:r>
            <a:endParaRPr kumimoji="0" lang="en-US"/>
          </a:p>
        </p:txBody>
      </p:sp>
      <p:sp>
        <p:nvSpPr>
          <p:cNvPr id="10" name="날짜 개체 틀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B1B4E7C4-4DA4-404D-9965-B13F2DD7D8BF}" type="datetimeFigureOut">
              <a:rPr lang="en-US" smtClean="0"/>
              <a:t>7/21/2026</a:t>
            </a:fld>
            <a:endParaRPr lang="en-US" dirty="0"/>
          </a:p>
        </p:txBody>
      </p:sp>
      <p:sp>
        <p:nvSpPr>
          <p:cNvPr id="12" name="슬라이드 번호 개체 틀 11"/>
          <p:cNvSpPr>
            <a:spLocks noGrp="1"/>
          </p:cNvSpPr>
          <p:nvPr>
            <p:ph type="sldNum" sz="quarter" idx="16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rtlCol="0"/>
          <a:lstStyle/>
          <a:p>
            <a:fld id="{056D23D7-10E6-485D-80C1-8CCF7E24002C}" type="slidenum">
              <a:rPr lang="ko-KR" altLang="en-US" smtClean="0"/>
              <a:pPr/>
              <a:t>‹#›</a:t>
            </a:fld>
            <a:endParaRPr lang="en-US" altLang="ko-KR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 dirty="0"/>
          </a:p>
        </p:txBody>
      </p:sp>
      <p:sp>
        <p:nvSpPr>
          <p:cNvPr id="16" name="텍스트 개체 틀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/>
              <a:t>마스터 텍스트 스타일을 편집하려면 클릭</a:t>
            </a:r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ko-KR" altLang="en-US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36754347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FB7AA-4A53-424F-AD41-70827B6504BA}" type="datetimeFigureOut">
              <a:rPr lang="en-US" smtClean="0"/>
              <a:t>7/21/2026</a:t>
            </a:fld>
            <a:endParaRPr 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DEB8132-3E69-42D4-86FC-16113E9DD667}" type="slidenum">
              <a:rPr lang="ko-KR" altLang="en-US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0763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84882-FB12-4BC8-9960-9AD8104D7FAE}" type="datetimeFigureOut">
              <a:rPr lang="en-US" smtClean="0"/>
              <a:t>7/21/2026</a:t>
            </a:fld>
            <a:endParaRPr 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371E074-CA2B-4440-94E7-E49724C4F161}" type="slidenum">
              <a:rPr lang="ko-KR" altLang="en-US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53681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1BD23-6E54-4D9D-AD88-A2813C73CC25}" type="datetimeFigureOut">
              <a:rPr lang="en-US" smtClean="0"/>
              <a:t>7/21/2026</a:t>
            </a:fld>
            <a:endParaRPr 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056D23D7-10E6-485D-80C1-8CCF7E24002C}" type="slidenum">
              <a:rPr lang="ko-KR" altLang="en-US" smtClean="0"/>
              <a:pPr/>
              <a:t>‹#›</a:t>
            </a:fld>
            <a:endParaRPr lang="en-US" altLang="ko-KR"/>
          </a:p>
        </p:txBody>
      </p:sp>
      <p:sp>
        <p:nvSpPr>
          <p:cNvPr id="3" name="텍스트 개체 틀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편집하려면 클릭</a:t>
            </a:r>
          </a:p>
        </p:txBody>
      </p:sp>
      <p:sp>
        <p:nvSpPr>
          <p:cNvPr id="9" name="내용 개체 틀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ko-KR" altLang="en-US"/>
              <a:t>마스터 텍스트 스타일을 편집하려면 클릭</a:t>
            </a:r>
          </a:p>
          <a:p>
            <a:pPr lvl="1" eaLnBrk="1" latinLnBrk="0" hangingPunct="1"/>
            <a:r>
              <a:rPr lang="ko-KR" altLang="en-US"/>
              <a:t>두 번째 수준</a:t>
            </a:r>
          </a:p>
          <a:p>
            <a:pPr lvl="2" eaLnBrk="1" latinLnBrk="0" hangingPunct="1"/>
            <a:r>
              <a:rPr lang="ko-KR" altLang="en-US"/>
              <a:t>세 번째 수준</a:t>
            </a:r>
          </a:p>
          <a:p>
            <a:pPr lvl="3" eaLnBrk="1" latinLnBrk="0" hangingPunct="1"/>
            <a:r>
              <a:rPr lang="ko-KR" altLang="en-US"/>
              <a:t>네 번째 수준</a:t>
            </a:r>
          </a:p>
          <a:p>
            <a:pPr lvl="4" eaLnBrk="1" latinLnBrk="0" hangingPunct="1"/>
            <a:r>
              <a:rPr lang="ko-KR" altLang="en-US"/>
              <a:t>다섯 번째 수준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871537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ko-KR" altLang="en-US"/>
              <a:t>마스터 텍스트 스타일을 편집하려면 클릭</a:t>
            </a:r>
          </a:p>
        </p:txBody>
      </p:sp>
      <p:sp>
        <p:nvSpPr>
          <p:cNvPr id="8" name="직사각형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직사각형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1" name="직사각형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날짜 개체 틀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1471A834-4F3C-4AF9-9C74-05EC35A0F292}" type="datetimeFigureOut">
              <a:rPr lang="en-US" smtClean="0"/>
              <a:t>7/21/2026</a:t>
            </a:fld>
            <a:endParaRPr lang="en-US" dirty="0"/>
          </a:p>
        </p:txBody>
      </p:sp>
      <p:sp>
        <p:nvSpPr>
          <p:cNvPr id="13" name="슬라이드 번호 개체 틀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  <a:prstGeom prst="rect">
            <a:avLst/>
          </a:prstGeom>
        </p:spPr>
        <p:txBody>
          <a:bodyPr rtlCol="0"/>
          <a:lstStyle>
            <a:lvl1pPr>
              <a:defRPr sz="2800"/>
            </a:lvl1pPr>
          </a:lstStyle>
          <a:p>
            <a:fld id="{056D23D7-10E6-485D-80C1-8CCF7E24002C}" type="slidenum">
              <a:rPr lang="ko-KR" altLang="en-US" smtClean="0"/>
              <a:pPr/>
              <a:t>‹#›</a:t>
            </a:fld>
            <a:endParaRPr lang="en-US" altLang="ko-KR"/>
          </a:p>
        </p:txBody>
      </p:sp>
      <p:sp>
        <p:nvSpPr>
          <p:cNvPr id="14" name="바닥글 개체 틀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en-US" dirty="0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ko-KR" altLang="en-US"/>
              <a:t>그림을 추가하려면 아이콘을 클릭하십시오</a:t>
            </a:r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40646045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편집하려면 클릭</a:t>
            </a:r>
          </a:p>
          <a:p>
            <a:pPr lvl="1" eaLnBrk="1" latinLnBrk="0" hangingPunct="1"/>
            <a:r>
              <a:rPr lang="ko-KR" altLang="en-US"/>
              <a:t>두 번째 수준</a:t>
            </a:r>
          </a:p>
          <a:p>
            <a:pPr lvl="2" eaLnBrk="1" latinLnBrk="0" hangingPunct="1"/>
            <a:r>
              <a:rPr lang="ko-KR" altLang="en-US"/>
              <a:t>세 번째 수준</a:t>
            </a:r>
          </a:p>
          <a:p>
            <a:pPr lvl="3" eaLnBrk="1" latinLnBrk="0" hangingPunct="1"/>
            <a:r>
              <a:rPr lang="ko-KR" altLang="en-US"/>
              <a:t>네 번째 수준</a:t>
            </a:r>
          </a:p>
          <a:p>
            <a:pPr lvl="4" eaLnBrk="1" latinLnBrk="0" hangingPunct="1"/>
            <a:r>
              <a:rPr lang="ko-KR" altLang="en-US"/>
              <a:t>다섯 번째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D02AE-B9A4-47BD-AF8E-97E16144138B}" type="datetimeFigureOut">
              <a:rPr lang="en-US" smtClean="0"/>
              <a:t>7/21/2026</a:t>
            </a:fld>
            <a:endParaRPr 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/>
          <a:lstStyle/>
          <a:p>
            <a:fld id="{056D23D7-10E6-485D-80C1-8CCF7E24002C}" type="slidenum">
              <a:rPr lang="ko-KR" altLang="en-US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644881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ko-KR" altLang="en-US"/>
              <a:t>마스터 텍스트 스타일을 편집하려면 클릭</a:t>
            </a:r>
          </a:p>
          <a:p>
            <a:pPr lvl="1" eaLnBrk="1" latinLnBrk="0" hangingPunct="1"/>
            <a:r>
              <a:rPr lang="ko-KR" altLang="en-US"/>
              <a:t>두 번째 수준</a:t>
            </a:r>
          </a:p>
          <a:p>
            <a:pPr lvl="2" eaLnBrk="1" latinLnBrk="0" hangingPunct="1"/>
            <a:r>
              <a:rPr lang="ko-KR" altLang="en-US"/>
              <a:t>세 번째 수준</a:t>
            </a:r>
          </a:p>
          <a:p>
            <a:pPr lvl="3" eaLnBrk="1" latinLnBrk="0" hangingPunct="1"/>
            <a:r>
              <a:rPr lang="ko-KR" altLang="en-US"/>
              <a:t>네 번째 수준</a:t>
            </a:r>
          </a:p>
          <a:p>
            <a:pPr lvl="4" eaLnBrk="1" latinLnBrk="0" hangingPunct="1"/>
            <a:r>
              <a:rPr lang="ko-KR" altLang="en-US"/>
              <a:t>다섯 번째 수준</a:t>
            </a:r>
            <a:endParaRPr kumimoji="0" 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CF0FD78B-DB02-4362-BCDC-98A55456977C}" type="datetimeFigureOut">
              <a:rPr lang="en-US" smtClean="0"/>
              <a:t>7/21/2026</a:t>
            </a:fld>
            <a:endParaRPr 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직사각형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직사각형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직사각형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  <a:prstGeom prst="rect">
            <a:avLst/>
          </a:prstGeom>
        </p:spPr>
        <p:txBody>
          <a:bodyPr/>
          <a:lstStyle/>
          <a:p>
            <a:fld id="{056D23D7-10E6-485D-80C1-8CCF7E24002C}" type="slidenum">
              <a:rPr lang="ko-KR" altLang="en-US" smtClean="0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07985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제목 개체 틀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ko-KR" altLang="en-US"/>
              <a:t>마스터 제목 스타일 편집</a:t>
            </a:r>
            <a:endParaRPr kumimoji="0" lang="en-US"/>
          </a:p>
        </p:txBody>
      </p:sp>
      <p:sp>
        <p:nvSpPr>
          <p:cNvPr id="13" name="텍스트 개체 틀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ko-KR" altLang="en-US" dirty="0"/>
              <a:t>마스터 텍스트 스타일을 편집합니다</a:t>
            </a:r>
          </a:p>
          <a:p>
            <a:pPr lvl="1" eaLnBrk="1" latinLnBrk="0" hangingPunct="1"/>
            <a:r>
              <a:rPr kumimoji="0" lang="ko-KR" altLang="en-US" dirty="0"/>
              <a:t>둘째 수준</a:t>
            </a:r>
          </a:p>
          <a:p>
            <a:pPr lvl="2" eaLnBrk="1" latinLnBrk="0" hangingPunct="1"/>
            <a:r>
              <a:rPr kumimoji="0" lang="ko-KR" altLang="en-US" dirty="0"/>
              <a:t>셋째 수준</a:t>
            </a:r>
          </a:p>
          <a:p>
            <a:pPr lvl="3" eaLnBrk="1" latinLnBrk="0" hangingPunct="1"/>
            <a:r>
              <a:rPr kumimoji="0" lang="ko-KR" altLang="en-US" dirty="0"/>
              <a:t>넷째 수준</a:t>
            </a:r>
          </a:p>
          <a:p>
            <a:pPr lvl="4" eaLnBrk="1" latinLnBrk="0" hangingPunct="1"/>
            <a:r>
              <a:rPr kumimoji="0" lang="ko-KR" altLang="en-US" dirty="0"/>
              <a:t>다섯째 수준</a:t>
            </a:r>
            <a:endParaRPr kumimoji="0" lang="en-US" dirty="0"/>
          </a:p>
        </p:txBody>
      </p:sp>
      <p:sp>
        <p:nvSpPr>
          <p:cNvPr id="14" name="날짜 개체 틀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1B2AAEE-0ECC-4F9E-94C1-A5210D63F3AE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9F40897-EC4F-2E02-16E2-1AD53B42D14A}"/>
              </a:ext>
            </a:extLst>
          </p:cNvPr>
          <p:cNvSpPr/>
          <p:nvPr userDrawn="1"/>
        </p:nvSpPr>
        <p:spPr>
          <a:xfrm>
            <a:off x="2" y="1282709"/>
            <a:ext cx="8248648" cy="229197"/>
          </a:xfrm>
          <a:prstGeom prst="rect">
            <a:avLst/>
          </a:prstGeom>
          <a:solidFill>
            <a:srgbClr val="F68AA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115A71E-27D4-C485-AC7E-5330177D4D79}"/>
              </a:ext>
            </a:extLst>
          </p:cNvPr>
          <p:cNvSpPr/>
          <p:nvPr userDrawn="1"/>
        </p:nvSpPr>
        <p:spPr>
          <a:xfrm>
            <a:off x="7372350" y="1281596"/>
            <a:ext cx="1776412" cy="230310"/>
          </a:xfrm>
          <a:prstGeom prst="rect">
            <a:avLst/>
          </a:prstGeom>
          <a:solidFill>
            <a:srgbClr val="C5A7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1844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txStyles>
    <p:titleStyle>
      <a:lvl1pPr algn="l" rtl="0" eaLnBrk="1" latinLnBrk="1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1" hangingPunct="1">
        <a:spcBef>
          <a:spcPts val="700"/>
        </a:spcBef>
        <a:buClr>
          <a:schemeClr val="accent2"/>
        </a:buClr>
        <a:buSzPct val="90000"/>
        <a:buFont typeface="Wingdings" panose="05000000000000000000" pitchFamily="2" charset="2"/>
        <a:buChar char="l"/>
        <a:defRPr kumimoji="0" sz="1800" kern="120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1pPr>
      <a:lvl2pPr marL="640080" indent="-274320" algn="l" rtl="0" eaLnBrk="1" latinLnBrk="1" hangingPunct="1">
        <a:spcBef>
          <a:spcPts val="550"/>
        </a:spcBef>
        <a:buClr>
          <a:schemeClr val="accent1"/>
        </a:buClr>
        <a:buSzPct val="70000"/>
        <a:buFont typeface="Wingdings" panose="05000000000000000000" pitchFamily="2" charset="2"/>
        <a:buChar char="l"/>
        <a:defRPr kumimoji="0" sz="1800" kern="120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2pPr>
      <a:lvl3pPr marL="914400" indent="-228600" algn="l" rtl="0" eaLnBrk="1" latinLnBrk="1" hangingPunct="1">
        <a:spcBef>
          <a:spcPts val="500"/>
        </a:spcBef>
        <a:buClr>
          <a:schemeClr val="accent2"/>
        </a:buClr>
        <a:buSzPct val="75000"/>
        <a:buFont typeface="Wingdings" panose="05000000000000000000" pitchFamily="2" charset="2"/>
        <a:buChar char="l"/>
        <a:defRPr kumimoji="0" sz="1800" kern="120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3pPr>
      <a:lvl4pPr marL="1371600" indent="-228600" algn="l" rtl="0" eaLnBrk="1" latinLnBrk="1" hangingPunct="1">
        <a:spcBef>
          <a:spcPts val="400"/>
        </a:spcBef>
        <a:buClr>
          <a:schemeClr val="accent3"/>
        </a:buClr>
        <a:buSzPct val="75000"/>
        <a:buFont typeface="Wingdings" panose="05000000000000000000" pitchFamily="2" charset="2"/>
        <a:buChar char="l"/>
        <a:defRPr kumimoji="0" sz="1800" kern="120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4pPr>
      <a:lvl5pPr marL="1828800" indent="-228600" algn="l" rtl="0" eaLnBrk="1" latinLnBrk="1" hangingPunct="1">
        <a:spcBef>
          <a:spcPts val="400"/>
        </a:spcBef>
        <a:buClr>
          <a:schemeClr val="accent4"/>
        </a:buClr>
        <a:buSzPct val="65000"/>
        <a:buFont typeface="Wingdings" panose="05000000000000000000" pitchFamily="2" charset="2"/>
        <a:buChar char="l"/>
        <a:defRPr kumimoji="0" sz="1800" kern="1200">
          <a:solidFill>
            <a:schemeClr val="tx1"/>
          </a:solidFill>
          <a:latin typeface="굴림" panose="020B0600000101010101" pitchFamily="50" charset="-127"/>
          <a:ea typeface="굴림" panose="020B0600000101010101" pitchFamily="50" charset="-127"/>
          <a:cs typeface="+mn-cs"/>
        </a:defRPr>
      </a:lvl5pPr>
      <a:lvl6pPr marL="2103120" indent="-228600" algn="l" rtl="0" eaLnBrk="1" latinLnBrk="1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1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1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1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1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wmf"/><Relationship Id="rId2" Type="http://schemas.openxmlformats.org/officeDocument/2006/relationships/image" Target="../media/image40.w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79D5BA-11DA-C84C-1C0A-41435A9D5D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14</a:t>
            </a:r>
            <a:r>
              <a:rPr lang="ko-KR" altLang="en-US" dirty="0"/>
              <a:t>장 </a:t>
            </a:r>
            <a:r>
              <a:rPr lang="en-US" altLang="ko-KR" dirty="0"/>
              <a:t>HTML5 </a:t>
            </a:r>
            <a:r>
              <a:rPr lang="ko-KR" altLang="en-US" dirty="0"/>
              <a:t>위치정보와 </a:t>
            </a:r>
            <a:br>
              <a:rPr lang="en-US" altLang="ko-KR"/>
            </a:br>
            <a:r>
              <a:rPr lang="ko-KR" altLang="en-US"/>
              <a:t>드래그와 </a:t>
            </a:r>
            <a:r>
              <a:rPr lang="ko-KR" altLang="en-US" dirty="0"/>
              <a:t>드롭</a:t>
            </a:r>
          </a:p>
        </p:txBody>
      </p:sp>
    </p:spTree>
    <p:extLst>
      <p:ext uri="{BB962C8B-B14F-4D97-AF65-F5344CB8AC3E}">
        <p14:creationId xmlns:p14="http://schemas.microsoft.com/office/powerpoint/2010/main" val="3479104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b="1" dirty="0" err="1"/>
              <a:t>SVG</a:t>
            </a:r>
            <a:r>
              <a:rPr lang="en-US" altLang="ko-KR" b="1" dirty="0"/>
              <a:t>(Scalable Vector Graphics)</a:t>
            </a:r>
            <a:r>
              <a:rPr lang="ko-KR" altLang="en-US" dirty="0"/>
              <a:t>는 </a:t>
            </a:r>
            <a:r>
              <a:rPr lang="en-US" altLang="ko-KR" dirty="0"/>
              <a:t>XML-</a:t>
            </a:r>
            <a:r>
              <a:rPr lang="ko-KR" altLang="en-US" dirty="0"/>
              <a:t>기반의 벡터 이미지 포맷</a:t>
            </a:r>
            <a:endParaRPr lang="en-US" altLang="ko-KR" dirty="0"/>
          </a:p>
          <a:p>
            <a:r>
              <a:rPr lang="ko-KR" altLang="en-US" dirty="0"/>
              <a:t>웹에서 벡터</a:t>
            </a:r>
            <a:r>
              <a:rPr lang="en-US" altLang="ko-KR" dirty="0"/>
              <a:t>-</a:t>
            </a:r>
            <a:r>
              <a:rPr lang="ko-KR" altLang="en-US" dirty="0"/>
              <a:t>기반의 그래픽을 정의하는데 사용</a:t>
            </a:r>
            <a:endParaRPr lang="en-US" altLang="ko-KR" dirty="0"/>
          </a:p>
          <a:p>
            <a:r>
              <a:rPr lang="en-US" altLang="ko-KR" dirty="0"/>
              <a:t>1999</a:t>
            </a:r>
            <a:r>
              <a:rPr lang="ko-KR" altLang="en-US" dirty="0"/>
              <a:t>년부터 </a:t>
            </a:r>
            <a:r>
              <a:rPr lang="en-US" altLang="ko-KR" dirty="0" err="1"/>
              <a:t>W3C</a:t>
            </a:r>
            <a:r>
              <a:rPr lang="ko-KR" altLang="en-US" dirty="0"/>
              <a:t>에 의하여 표준</a:t>
            </a:r>
            <a:endParaRPr lang="en-US" altLang="ko-KR" dirty="0"/>
          </a:p>
        </p:txBody>
      </p:sp>
      <p:pic>
        <p:nvPicPr>
          <p:cNvPr id="5121" name="_x444299432" descr="EMB00001620447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3282950"/>
            <a:ext cx="5169231" cy="1717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제목 4">
            <a:extLst>
              <a:ext uri="{FF2B5EF4-FFF2-40B4-BE49-F238E27FC236}">
                <a16:creationId xmlns:a16="http://schemas.microsoft.com/office/drawing/2014/main" id="{428ED02F-A2A0-C741-C732-A0603F0AA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SVG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09644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en-US" altLang="ko-KR" dirty="0" err="1"/>
              <a:t>SVG</a:t>
            </a:r>
            <a:r>
              <a:rPr lang="en-US" altLang="ko-KR" dirty="0"/>
              <a:t> </a:t>
            </a:r>
            <a:r>
              <a:rPr lang="ko-KR" altLang="en-US" dirty="0"/>
              <a:t>그래픽은 확대되거나 크기가 변경되어도 품질이 손상되지 않는다</a:t>
            </a:r>
            <a:r>
              <a:rPr lang="en-US" altLang="ko-KR" dirty="0"/>
              <a:t>. </a:t>
            </a:r>
            <a:endParaRPr lang="ko-KR" altLang="en-US" dirty="0"/>
          </a:p>
          <a:p>
            <a:pPr lvl="0"/>
            <a:r>
              <a:rPr lang="en-US" altLang="ko-KR" dirty="0" err="1"/>
              <a:t>SVG</a:t>
            </a:r>
            <a:r>
              <a:rPr lang="en-US" altLang="ko-KR" dirty="0"/>
              <a:t> </a:t>
            </a:r>
            <a:r>
              <a:rPr lang="ko-KR" altLang="en-US" dirty="0"/>
              <a:t>파일에서 모든 요소와 속성은 애니메이션이 가능하다</a:t>
            </a:r>
            <a:r>
              <a:rPr lang="en-US" altLang="ko-KR" dirty="0"/>
              <a:t>. </a:t>
            </a:r>
            <a:endParaRPr lang="ko-KR" altLang="en-US" dirty="0"/>
          </a:p>
          <a:p>
            <a:pPr lvl="0"/>
            <a:r>
              <a:rPr lang="en-US" altLang="ko-KR" dirty="0" err="1"/>
              <a:t>SVG</a:t>
            </a:r>
            <a:r>
              <a:rPr lang="en-US" altLang="ko-KR" dirty="0"/>
              <a:t> </a:t>
            </a:r>
            <a:r>
              <a:rPr lang="ko-KR" altLang="en-US" dirty="0"/>
              <a:t>이미지는 어떤 텍스트 에디터로도 생성하고 편집할 수 있다</a:t>
            </a:r>
            <a:r>
              <a:rPr lang="en-US" altLang="ko-KR" dirty="0"/>
              <a:t>. </a:t>
            </a:r>
            <a:endParaRPr lang="ko-KR" altLang="en-US" dirty="0"/>
          </a:p>
          <a:p>
            <a:endParaRPr lang="ko-KR" altLang="en-US" dirty="0"/>
          </a:p>
        </p:txBody>
      </p:sp>
      <p:pic>
        <p:nvPicPr>
          <p:cNvPr id="6145" name="_x444298792" descr="EMB000016204478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6012" y="3105149"/>
            <a:ext cx="4105275" cy="2596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제목 4">
            <a:extLst>
              <a:ext uri="{FF2B5EF4-FFF2-40B4-BE49-F238E27FC236}">
                <a16:creationId xmlns:a16="http://schemas.microsoft.com/office/drawing/2014/main" id="{5A4440A9-D69A-DEEA-83A4-D3FC36CD3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SVG</a:t>
            </a:r>
            <a:r>
              <a:rPr lang="ko-KR" altLang="en-US" dirty="0"/>
              <a:t>의 장점</a:t>
            </a:r>
          </a:p>
        </p:txBody>
      </p:sp>
    </p:spTree>
    <p:extLst>
      <p:ext uri="{BB962C8B-B14F-4D97-AF65-F5344CB8AC3E}">
        <p14:creationId xmlns:p14="http://schemas.microsoft.com/office/powerpoint/2010/main" val="30182962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/>
          <p:cNvSpPr txBox="1">
            <a:spLocks/>
          </p:cNvSpPr>
          <p:nvPr/>
        </p:nvSpPr>
        <p:spPr bwMode="auto">
          <a:xfrm>
            <a:off x="465931" y="1832949"/>
            <a:ext cx="8212138" cy="2152651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27000" indent="0" latinLnBrk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Font typeface="Symbol" pitchFamily="18" charset="2"/>
              <a:buNone/>
              <a:tabLst>
                <a:tab pos="254000" algn="l"/>
                <a:tab pos="254000" algn="l"/>
              </a:tabLst>
              <a:defRPr kumimoji="1" sz="1600">
                <a:solidFill>
                  <a:srgbClr val="000000"/>
                </a:solidFill>
                <a:latin typeface="Century Schoolbook" panose="02040604050505020304" pitchFamily="18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bg2"/>
              </a:buClr>
              <a:buFont typeface="Symbol" pitchFamily="18" charset="2"/>
              <a:buChar char="·"/>
              <a:defRPr kumimoji="1" sz="2000">
                <a:latin typeface="Century Schoolbook" panose="02040604050505020304" pitchFamily="18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>
                <a:latin typeface="Century Schoolbook" panose="02040604050505020304" pitchFamily="18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600">
                <a:latin typeface="Century Schoolbook" panose="02040604050505020304" pitchFamily="18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Century Schoolbook" panose="020406040505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9pPr>
          </a:lstStyle>
          <a:p>
            <a:pPr marR="0" algn="just" rtl="0"/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&lt;!DOCTYPE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html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&lt;html&gt;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&lt;body&gt;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</a:t>
            </a:r>
            <a:r>
              <a:rPr lang="en-US" altLang="ko-KR" sz="1600" b="0" i="0" u="none" strike="noStrike" baseline="0" dirty="0" err="1">
                <a:solidFill>
                  <a:srgbClr val="800000"/>
                </a:solidFill>
                <a:latin typeface="Century Schoolbook" panose="02040604050505020304" pitchFamily="18" charset="0"/>
              </a:rPr>
              <a:t>svg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width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"200"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height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"200"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&lt;circle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cx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"80"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cy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"80"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r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"50"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stroke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"black" 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		stroke-width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"3"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fill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"blue"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/&gt;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</a:t>
            </a:r>
            <a:r>
              <a:rPr lang="en-US" altLang="ko-KR" sz="1600" b="0" i="0" u="none" strike="noStrike" baseline="0" dirty="0" err="1">
                <a:solidFill>
                  <a:srgbClr val="800000"/>
                </a:solidFill>
                <a:latin typeface="Century Schoolbook" panose="02040604050505020304" pitchFamily="18" charset="0"/>
              </a:rPr>
              <a:t>svg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&lt;/body&gt;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&lt;/html&gt;</a:t>
            </a:r>
            <a:endParaRPr lang="en-US" altLang="ko-KR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44FCF781-0A42-5E79-832B-04A7CBE75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 예제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E21C166-90BF-6343-39A9-CCAC71AC65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025" name="_x395670560">
            <a:extLst>
              <a:ext uri="{FF2B5EF4-FFF2-40B4-BE49-F238E27FC236}">
                <a16:creationId xmlns:a16="http://schemas.microsoft.com/office/drawing/2014/main" id="{FD37D463-A8E4-C98C-4339-0FACA155FF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8677" y="4227214"/>
            <a:ext cx="3439392" cy="17299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EB54007-529A-694A-001F-3507A683FBD7}"/>
              </a:ext>
            </a:extLst>
          </p:cNvPr>
          <p:cNvSpPr txBox="1"/>
          <p:nvPr/>
        </p:nvSpPr>
        <p:spPr>
          <a:xfrm>
            <a:off x="939800" y="4599349"/>
            <a:ext cx="4576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svg1.html</a:t>
            </a:r>
          </a:p>
        </p:txBody>
      </p:sp>
    </p:spTree>
    <p:extLst>
      <p:ext uri="{BB962C8B-B14F-4D97-AF65-F5344CB8AC3E}">
        <p14:creationId xmlns:p14="http://schemas.microsoft.com/office/powerpoint/2010/main" val="1387950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/>
          <p:cNvSpPr txBox="1">
            <a:spLocks/>
          </p:cNvSpPr>
          <p:nvPr/>
        </p:nvSpPr>
        <p:spPr bwMode="auto">
          <a:xfrm>
            <a:off x="465931" y="1832949"/>
            <a:ext cx="8212138" cy="2152651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27000" indent="0" latinLnBrk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Font typeface="Symbol" pitchFamily="18" charset="2"/>
              <a:buNone/>
              <a:tabLst>
                <a:tab pos="254000" algn="l"/>
                <a:tab pos="254000" algn="l"/>
              </a:tabLst>
              <a:defRPr kumimoji="1" sz="1600">
                <a:solidFill>
                  <a:srgbClr val="000000"/>
                </a:solidFill>
                <a:latin typeface="Century Schoolbook" panose="02040604050505020304" pitchFamily="18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bg2"/>
              </a:buClr>
              <a:buFont typeface="Symbol" pitchFamily="18" charset="2"/>
              <a:buChar char="·"/>
              <a:defRPr kumimoji="1" sz="2000">
                <a:latin typeface="Century Schoolbook" panose="02040604050505020304" pitchFamily="18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>
                <a:latin typeface="Century Schoolbook" panose="02040604050505020304" pitchFamily="18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600">
                <a:latin typeface="Century Schoolbook" panose="02040604050505020304" pitchFamily="18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Century Schoolbook" panose="020406040505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9pPr>
          </a:lstStyle>
          <a:p>
            <a:pPr marR="0" algn="just" rtl="0"/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..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</a:t>
            </a:r>
            <a:r>
              <a:rPr lang="en-US" altLang="ko-KR" sz="1600" b="0" i="0" u="none" strike="noStrike" baseline="0" dirty="0" err="1">
                <a:solidFill>
                  <a:srgbClr val="800000"/>
                </a:solidFill>
                <a:latin typeface="Century Schoolbook" panose="02040604050505020304" pitchFamily="18" charset="0"/>
              </a:rPr>
              <a:t>svg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width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"600"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height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"200"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</a:t>
            </a:r>
            <a:r>
              <a:rPr lang="en-US" altLang="ko-KR" sz="1600" b="0" i="0" u="none" strike="noStrike" baseline="0" dirty="0" err="1">
                <a:solidFill>
                  <a:srgbClr val="800000"/>
                </a:solidFill>
                <a:latin typeface="Century Schoolbook" panose="02040604050505020304" pitchFamily="18" charset="0"/>
              </a:rPr>
              <a:t>rect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width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"300"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height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"100"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style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"fill: </a:t>
            </a:r>
            <a:r>
              <a:rPr lang="en-US" altLang="ko-KR" sz="1600" b="0" i="0" u="none" strike="noStrike" baseline="0" dirty="0" err="1">
                <a:solidFill>
                  <a:srgbClr val="0000FF"/>
                </a:solidFill>
                <a:latin typeface="Century Schoolbook" panose="02040604050505020304" pitchFamily="18" charset="0"/>
              </a:rPr>
              <a:t>rgb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(72, 180, 117); 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		stroke-width: 3; stroke: </a:t>
            </a:r>
            <a:r>
              <a:rPr lang="en-US" altLang="ko-KR" sz="1600" b="0" i="0" u="none" strike="noStrike" baseline="0" dirty="0" err="1">
                <a:solidFill>
                  <a:srgbClr val="0000FF"/>
                </a:solidFill>
                <a:latin typeface="Century Schoolbook" panose="02040604050505020304" pitchFamily="18" charset="0"/>
              </a:rPr>
              <a:t>rgb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(12, 0, 0)"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/&gt;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</a:t>
            </a:r>
            <a:r>
              <a:rPr lang="en-US" altLang="ko-KR" sz="1600" b="0" i="0" u="none" strike="noStrike" baseline="0" dirty="0" err="1">
                <a:solidFill>
                  <a:srgbClr val="800000"/>
                </a:solidFill>
                <a:latin typeface="Century Schoolbook" panose="02040604050505020304" pitchFamily="18" charset="0"/>
              </a:rPr>
              <a:t>svg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  <a:endParaRPr lang="en-US" altLang="ko-KR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44FCF781-0A42-5E79-832B-04A7CBE75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사각형 예제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E21C166-90BF-6343-39A9-CCAC71AC65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E66770D2-97BF-47F1-B537-014340FE54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049" name="_x391624320">
            <a:extLst>
              <a:ext uri="{FF2B5EF4-FFF2-40B4-BE49-F238E27FC236}">
                <a16:creationId xmlns:a16="http://schemas.microsoft.com/office/drawing/2014/main" id="{F553B8D9-59A0-28E1-8C0F-8104E05EF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5989" y="4272324"/>
            <a:ext cx="3522282" cy="1603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0F5DFBD-1DC3-34C0-373B-95ADCB0393D6}"/>
              </a:ext>
            </a:extLst>
          </p:cNvPr>
          <p:cNvSpPr txBox="1"/>
          <p:nvPr/>
        </p:nvSpPr>
        <p:spPr>
          <a:xfrm>
            <a:off x="792019" y="4414683"/>
            <a:ext cx="4576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svg_rect.html</a:t>
            </a:r>
          </a:p>
        </p:txBody>
      </p:sp>
    </p:spTree>
    <p:extLst>
      <p:ext uri="{BB962C8B-B14F-4D97-AF65-F5344CB8AC3E}">
        <p14:creationId xmlns:p14="http://schemas.microsoft.com/office/powerpoint/2010/main" val="1839214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/>
          <p:cNvSpPr txBox="1">
            <a:spLocks/>
          </p:cNvSpPr>
          <p:nvPr/>
        </p:nvSpPr>
        <p:spPr bwMode="auto">
          <a:xfrm>
            <a:off x="465931" y="1832949"/>
            <a:ext cx="8212138" cy="2152651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27000" indent="0" latinLnBrk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Font typeface="Symbol" pitchFamily="18" charset="2"/>
              <a:buNone/>
              <a:tabLst>
                <a:tab pos="254000" algn="l"/>
                <a:tab pos="254000" algn="l"/>
              </a:tabLst>
              <a:defRPr kumimoji="1" sz="1600">
                <a:solidFill>
                  <a:srgbClr val="000000"/>
                </a:solidFill>
                <a:latin typeface="Century Schoolbook" panose="02040604050505020304" pitchFamily="18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bg2"/>
              </a:buClr>
              <a:buFont typeface="Symbol" pitchFamily="18" charset="2"/>
              <a:buChar char="·"/>
              <a:defRPr kumimoji="1" sz="2000">
                <a:latin typeface="Century Schoolbook" panose="02040604050505020304" pitchFamily="18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>
                <a:latin typeface="Century Schoolbook" panose="02040604050505020304" pitchFamily="18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600">
                <a:latin typeface="Century Schoolbook" panose="02040604050505020304" pitchFamily="18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Century Schoolbook" panose="020406040505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9pPr>
          </a:lstStyle>
          <a:p>
            <a:pPr marR="0" algn="just" rtl="0"/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</a:t>
            </a:r>
            <a:r>
              <a:rPr lang="en-US" altLang="ko-KR" sz="1600" b="0" i="0" u="none" strike="noStrike" baseline="0" dirty="0" err="1">
                <a:solidFill>
                  <a:srgbClr val="800000"/>
                </a:solidFill>
                <a:latin typeface="Century Schoolbook" panose="02040604050505020304" pitchFamily="18" charset="0"/>
              </a:rPr>
              <a:t>svg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width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"300"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height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"200"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r>
              <a:rPr lang="fr-FR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</a:t>
            </a:r>
            <a:r>
              <a:rPr lang="fr-FR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&lt;ellipse</a:t>
            </a:r>
            <a:r>
              <a:rPr lang="fr-FR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cx</a:t>
            </a:r>
            <a:r>
              <a:rPr lang="fr-FR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fr-FR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"100" </a:t>
            </a:r>
            <a:r>
              <a:rPr lang="fr-FR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cy</a:t>
            </a:r>
            <a:r>
              <a:rPr lang="fr-FR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fr-FR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"50" </a:t>
            </a:r>
            <a:r>
              <a:rPr lang="fr-FR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rx</a:t>
            </a:r>
            <a:r>
              <a:rPr lang="fr-FR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fr-FR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"80" </a:t>
            </a:r>
            <a:r>
              <a:rPr lang="fr-FR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ry</a:t>
            </a:r>
            <a:r>
              <a:rPr lang="fr-FR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fr-FR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"30"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style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</a:t>
            </a:r>
            <a:r>
              <a:rPr lang="en-US" altLang="ko-KR" sz="1600" b="0" i="0" u="none" strike="noStrike" baseline="0" dirty="0" err="1">
                <a:solidFill>
                  <a:srgbClr val="0000FF"/>
                </a:solidFill>
                <a:latin typeface="Century Schoolbook" panose="02040604050505020304" pitchFamily="18" charset="0"/>
              </a:rPr>
              <a:t>fill:blue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; </a:t>
            </a:r>
            <a:r>
              <a:rPr lang="en-US" altLang="ko-KR" sz="1600" b="0" i="0" u="none" strike="noStrike" baseline="0" dirty="0" err="1">
                <a:solidFill>
                  <a:srgbClr val="0000FF"/>
                </a:solidFill>
                <a:latin typeface="Century Schoolbook" panose="02040604050505020304" pitchFamily="18" charset="0"/>
              </a:rPr>
              <a:t>stroke:black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; stroke-width:2;"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/&gt;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</a:t>
            </a:r>
            <a:r>
              <a:rPr lang="en-US" altLang="ko-KR" sz="1600" b="0" i="0" u="none" strike="noStrike" baseline="0" dirty="0" err="1">
                <a:solidFill>
                  <a:srgbClr val="800000"/>
                </a:solidFill>
                <a:latin typeface="Century Schoolbook" panose="02040604050505020304" pitchFamily="18" charset="0"/>
              </a:rPr>
              <a:t>svg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  <a:endParaRPr lang="en-US" altLang="ko-KR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44FCF781-0A42-5E79-832B-04A7CBE75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타원 예제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E21C166-90BF-6343-39A9-CCAC71AC65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E66770D2-97BF-47F1-B537-014340FE54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DE289A-68F2-39D7-E166-C2BBD62BF1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073" name="_x391629864">
            <a:extLst>
              <a:ext uri="{FF2B5EF4-FFF2-40B4-BE49-F238E27FC236}">
                <a16:creationId xmlns:a16="http://schemas.microsoft.com/office/drawing/2014/main" id="{A820F45D-F31B-8AC9-F7BE-A77F5D2E98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2325" y="4370906"/>
            <a:ext cx="3272961" cy="1350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E77D8BB-6307-EA8B-0B2F-B1586A9817E8}"/>
              </a:ext>
            </a:extLst>
          </p:cNvPr>
          <p:cNvSpPr txBox="1"/>
          <p:nvPr/>
        </p:nvSpPr>
        <p:spPr>
          <a:xfrm>
            <a:off x="612648" y="4677016"/>
            <a:ext cx="4576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svg_circle.html</a:t>
            </a:r>
          </a:p>
        </p:txBody>
      </p:sp>
    </p:spTree>
    <p:extLst>
      <p:ext uri="{BB962C8B-B14F-4D97-AF65-F5344CB8AC3E}">
        <p14:creationId xmlns:p14="http://schemas.microsoft.com/office/powerpoint/2010/main" val="32526460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/>
          <p:cNvSpPr txBox="1">
            <a:spLocks/>
          </p:cNvSpPr>
          <p:nvPr/>
        </p:nvSpPr>
        <p:spPr bwMode="auto">
          <a:xfrm>
            <a:off x="465931" y="1832949"/>
            <a:ext cx="8212138" cy="2152651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27000" indent="0" latinLnBrk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Font typeface="Symbol" pitchFamily="18" charset="2"/>
              <a:buNone/>
              <a:tabLst>
                <a:tab pos="254000" algn="l"/>
                <a:tab pos="254000" algn="l"/>
              </a:tabLst>
              <a:defRPr kumimoji="1" sz="1600">
                <a:solidFill>
                  <a:srgbClr val="000000"/>
                </a:solidFill>
                <a:latin typeface="Century Schoolbook" panose="02040604050505020304" pitchFamily="18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bg2"/>
              </a:buClr>
              <a:buFont typeface="Symbol" pitchFamily="18" charset="2"/>
              <a:buChar char="·"/>
              <a:defRPr kumimoji="1" sz="2000">
                <a:latin typeface="Century Schoolbook" panose="02040604050505020304" pitchFamily="18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>
                <a:latin typeface="Century Schoolbook" panose="02040604050505020304" pitchFamily="18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600">
                <a:latin typeface="Century Schoolbook" panose="02040604050505020304" pitchFamily="18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Century Schoolbook" panose="020406040505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9pPr>
          </a:lstStyle>
          <a:p>
            <a:pPr marR="0" algn="just" rtl="0"/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</a:t>
            </a:r>
            <a:r>
              <a:rPr lang="en-US" altLang="ko-KR" sz="1600" b="0" i="0" u="none" strike="noStrike" baseline="0" dirty="0" err="1">
                <a:solidFill>
                  <a:srgbClr val="800000"/>
                </a:solidFill>
                <a:latin typeface="Century Schoolbook" panose="02040604050505020304" pitchFamily="18" charset="0"/>
              </a:rPr>
              <a:t>svg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width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"300"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height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"200"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r>
              <a:rPr lang="es-E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s-E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&lt;line</a:t>
            </a:r>
            <a:r>
              <a:rPr lang="es-E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x1</a:t>
            </a:r>
            <a:r>
              <a:rPr lang="es-E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s-E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"0" </a:t>
            </a:r>
            <a:r>
              <a:rPr lang="es-E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y1</a:t>
            </a:r>
            <a:r>
              <a:rPr lang="es-E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s-E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"0" </a:t>
            </a:r>
            <a:r>
              <a:rPr lang="es-E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x2</a:t>
            </a:r>
            <a:r>
              <a:rPr lang="es-E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s-E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"200" </a:t>
            </a:r>
            <a:r>
              <a:rPr lang="es-E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y2</a:t>
            </a:r>
            <a:r>
              <a:rPr lang="es-E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s-E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"100" 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		style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"stroke: green; stroke-width: 5"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/&gt;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</a:t>
            </a:r>
            <a:r>
              <a:rPr lang="en-US" altLang="ko-KR" sz="1600" b="0" i="0" u="none" strike="noStrike" baseline="0" dirty="0" err="1">
                <a:solidFill>
                  <a:srgbClr val="800000"/>
                </a:solidFill>
                <a:latin typeface="Century Schoolbook" panose="02040604050505020304" pitchFamily="18" charset="0"/>
              </a:rPr>
              <a:t>svg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  <a:endParaRPr lang="en-US" altLang="ko-KR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44FCF781-0A42-5E79-832B-04A7CBE75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직선 예제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E21C166-90BF-6343-39A9-CCAC71AC65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E66770D2-97BF-47F1-B537-014340FE54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DE289A-68F2-39D7-E166-C2BBD62BF1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8501792-9023-AF65-6B21-9B7C2169EB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4097" name="_x391626552">
            <a:extLst>
              <a:ext uri="{FF2B5EF4-FFF2-40B4-BE49-F238E27FC236}">
                <a16:creationId xmlns:a16="http://schemas.microsoft.com/office/drawing/2014/main" id="{CADFC9F5-182D-CC08-69DF-EB39E6BD06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8417" y="4373924"/>
            <a:ext cx="3243715" cy="1338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02CD7A2-B703-04A1-63A4-55438BF5C7C7}"/>
              </a:ext>
            </a:extLst>
          </p:cNvPr>
          <p:cNvSpPr txBox="1"/>
          <p:nvPr/>
        </p:nvSpPr>
        <p:spPr>
          <a:xfrm>
            <a:off x="1078345" y="4599349"/>
            <a:ext cx="4576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svg_line.html</a:t>
            </a:r>
          </a:p>
        </p:txBody>
      </p:sp>
    </p:spTree>
    <p:extLst>
      <p:ext uri="{BB962C8B-B14F-4D97-AF65-F5344CB8AC3E}">
        <p14:creationId xmlns:p14="http://schemas.microsoft.com/office/powerpoint/2010/main" val="1393804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/>
          <p:cNvSpPr txBox="1">
            <a:spLocks/>
          </p:cNvSpPr>
          <p:nvPr/>
        </p:nvSpPr>
        <p:spPr bwMode="auto">
          <a:xfrm>
            <a:off x="465931" y="1832949"/>
            <a:ext cx="8212138" cy="2152651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27000" indent="0" latinLnBrk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Font typeface="Symbol" pitchFamily="18" charset="2"/>
              <a:buNone/>
              <a:tabLst>
                <a:tab pos="254000" algn="l"/>
                <a:tab pos="254000" algn="l"/>
              </a:tabLst>
              <a:defRPr kumimoji="1" sz="1600">
                <a:solidFill>
                  <a:srgbClr val="000000"/>
                </a:solidFill>
                <a:latin typeface="Century Schoolbook" panose="02040604050505020304" pitchFamily="18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bg2"/>
              </a:buClr>
              <a:buFont typeface="Symbol" pitchFamily="18" charset="2"/>
              <a:buChar char="·"/>
              <a:defRPr kumimoji="1" sz="2000">
                <a:latin typeface="Century Schoolbook" panose="02040604050505020304" pitchFamily="18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>
                <a:latin typeface="Century Schoolbook" panose="02040604050505020304" pitchFamily="18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600">
                <a:latin typeface="Century Schoolbook" panose="02040604050505020304" pitchFamily="18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Century Schoolbook" panose="020406040505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9pPr>
          </a:lstStyle>
          <a:p>
            <a:pPr marR="0" algn="just" rtl="0"/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</a:t>
            </a:r>
            <a:r>
              <a:rPr lang="en-US" altLang="ko-KR" sz="1600" b="0" i="0" u="none" strike="noStrike" baseline="0" dirty="0" err="1">
                <a:solidFill>
                  <a:srgbClr val="800000"/>
                </a:solidFill>
                <a:latin typeface="Century Schoolbook" panose="02040604050505020304" pitchFamily="18" charset="0"/>
              </a:rPr>
              <a:t>svg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width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"500"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height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"300"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r>
              <a:rPr lang="fr-FR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fr-FR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&lt;polygon</a:t>
            </a:r>
            <a:r>
              <a:rPr lang="fr-FR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points</a:t>
            </a:r>
            <a:r>
              <a:rPr lang="fr-FR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fr-FR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"100,20 250,160 60,210"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	style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"fill: red; stroke: black; stroke-width: 3"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/&gt;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</a:t>
            </a:r>
            <a:r>
              <a:rPr lang="en-US" altLang="ko-KR" sz="1600" b="0" i="0" u="none" strike="noStrike" baseline="0" dirty="0" err="1">
                <a:solidFill>
                  <a:srgbClr val="800000"/>
                </a:solidFill>
                <a:latin typeface="Century Schoolbook" panose="02040604050505020304" pitchFamily="18" charset="0"/>
              </a:rPr>
              <a:t>svg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  <a:endParaRPr lang="en-US" altLang="ko-KR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44FCF781-0A42-5E79-832B-04A7CBE75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다각형 예제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E21C166-90BF-6343-39A9-CCAC71AC65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E66770D2-97BF-47F1-B537-014340FE54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DE289A-68F2-39D7-E166-C2BBD62BF1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8501792-9023-AF65-6B21-9B7C2169EB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7B5B4EA1-F06E-48CC-0FD3-D937AB987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5121" name="_x391628064">
            <a:extLst>
              <a:ext uri="{FF2B5EF4-FFF2-40B4-BE49-F238E27FC236}">
                <a16:creationId xmlns:a16="http://schemas.microsoft.com/office/drawing/2014/main" id="{ADE8BF2E-C98E-E26B-216E-AAD3894667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7661" y="4200478"/>
            <a:ext cx="2838387" cy="1830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164AE31-4321-CA9C-9430-D88C7051DF8E}"/>
              </a:ext>
            </a:extLst>
          </p:cNvPr>
          <p:cNvSpPr txBox="1"/>
          <p:nvPr/>
        </p:nvSpPr>
        <p:spPr>
          <a:xfrm>
            <a:off x="1170709" y="4599349"/>
            <a:ext cx="4576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svg_polygon.html</a:t>
            </a:r>
          </a:p>
        </p:txBody>
      </p:sp>
    </p:spTree>
    <p:extLst>
      <p:ext uri="{BB962C8B-B14F-4D97-AF65-F5344CB8AC3E}">
        <p14:creationId xmlns:p14="http://schemas.microsoft.com/office/powerpoint/2010/main" val="2282289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/>
          <p:cNvSpPr txBox="1">
            <a:spLocks/>
          </p:cNvSpPr>
          <p:nvPr/>
        </p:nvSpPr>
        <p:spPr bwMode="auto">
          <a:xfrm>
            <a:off x="465931" y="1832950"/>
            <a:ext cx="8212138" cy="1743170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27000" indent="0" latinLnBrk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Font typeface="Symbol" pitchFamily="18" charset="2"/>
              <a:buNone/>
              <a:tabLst>
                <a:tab pos="254000" algn="l"/>
                <a:tab pos="254000" algn="l"/>
              </a:tabLst>
              <a:defRPr kumimoji="1" sz="1600">
                <a:solidFill>
                  <a:srgbClr val="000000"/>
                </a:solidFill>
                <a:latin typeface="Century Schoolbook" panose="02040604050505020304" pitchFamily="18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bg2"/>
              </a:buClr>
              <a:buFont typeface="Symbol" pitchFamily="18" charset="2"/>
              <a:buChar char="·"/>
              <a:defRPr kumimoji="1" sz="2000">
                <a:latin typeface="Century Schoolbook" panose="02040604050505020304" pitchFamily="18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>
                <a:latin typeface="Century Schoolbook" panose="02040604050505020304" pitchFamily="18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600">
                <a:latin typeface="Century Schoolbook" panose="02040604050505020304" pitchFamily="18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Century Schoolbook" panose="020406040505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9pPr>
          </a:lstStyle>
          <a:p>
            <a:pPr marR="0" algn="just" rtl="0"/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</a:t>
            </a:r>
            <a:r>
              <a:rPr lang="en-US" altLang="ko-KR" sz="1600" b="0" i="0" u="none" strike="noStrike" baseline="0" dirty="0" err="1">
                <a:solidFill>
                  <a:srgbClr val="800000"/>
                </a:solidFill>
                <a:latin typeface="Century Schoolbook" panose="02040604050505020304" pitchFamily="18" charset="0"/>
              </a:rPr>
              <a:t>svg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width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"500"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height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"300"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endParaRPr lang="ko-KR" altLang="en-US" sz="1600" b="0" i="0" u="none" strike="noStrike" baseline="0" dirty="0">
              <a:solidFill>
                <a:srgbClr val="000000"/>
              </a:solidFill>
              <a:latin typeface="Century Schoolbook" panose="02040604050505020304" pitchFamily="18" charset="0"/>
            </a:endParaRPr>
          </a:p>
          <a:p>
            <a:pPr algn="l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&lt;text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x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"20"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y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"30"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font-family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"Arial"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font-size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"30"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fill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"green"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Hello, out there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&lt;/text&gt;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</a:t>
            </a:r>
            <a:r>
              <a:rPr lang="en-US" altLang="ko-KR" sz="1600" b="0" i="0" u="none" strike="noStrike" baseline="0" dirty="0" err="1">
                <a:solidFill>
                  <a:srgbClr val="800000"/>
                </a:solidFill>
                <a:latin typeface="Century Schoolbook" panose="02040604050505020304" pitchFamily="18" charset="0"/>
              </a:rPr>
              <a:t>svg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  <a:endParaRPr lang="en-US" altLang="ko-KR" dirty="0"/>
          </a:p>
        </p:txBody>
      </p:sp>
      <p:sp>
        <p:nvSpPr>
          <p:cNvPr id="5" name="제목 4">
            <a:extLst>
              <a:ext uri="{FF2B5EF4-FFF2-40B4-BE49-F238E27FC236}">
                <a16:creationId xmlns:a16="http://schemas.microsoft.com/office/drawing/2014/main" id="{44FCF781-0A42-5E79-832B-04A7CBE75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텍스트 예제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8E21C166-90BF-6343-39A9-CCAC71AC65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E66770D2-97BF-47F1-B537-014340FE54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DE289A-68F2-39D7-E166-C2BBD62BF1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28501792-9023-AF65-6B21-9B7C2169EB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7B5B4EA1-F06E-48CC-0FD3-D937AB987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2B5B686B-EF18-D421-098F-57FE62973E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6145" name="_x391627416">
            <a:extLst>
              <a:ext uri="{FF2B5EF4-FFF2-40B4-BE49-F238E27FC236}">
                <a16:creationId xmlns:a16="http://schemas.microsoft.com/office/drawing/2014/main" id="{2CA251FC-3042-7A28-86CE-2EC0E735F5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7137" y="4412024"/>
            <a:ext cx="2935654" cy="1164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6C3AA5D-BACA-72E6-067D-132902336065}"/>
              </a:ext>
            </a:extLst>
          </p:cNvPr>
          <p:cNvSpPr txBox="1"/>
          <p:nvPr/>
        </p:nvSpPr>
        <p:spPr>
          <a:xfrm>
            <a:off x="1226127" y="4227358"/>
            <a:ext cx="4576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svg_text.html</a:t>
            </a:r>
          </a:p>
        </p:txBody>
      </p:sp>
    </p:spTree>
    <p:extLst>
      <p:ext uri="{BB962C8B-B14F-4D97-AF65-F5344CB8AC3E}">
        <p14:creationId xmlns:p14="http://schemas.microsoft.com/office/powerpoint/2010/main" val="2640560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C412A9-411B-D3E3-2932-34FE741BE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SVG</a:t>
            </a:r>
            <a:r>
              <a:rPr lang="ko-KR" altLang="en-US" dirty="0"/>
              <a:t> 애니메이션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80E9C4-638E-E4CE-85F7-583B8B531A86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&lt;</a:t>
            </a:r>
            <a:r>
              <a:rPr lang="en-US" altLang="ko-KR" dirty="0" err="1"/>
              <a:t>rect</a:t>
            </a:r>
            <a:r>
              <a:rPr lang="en-US" altLang="ko-KR" dirty="0"/>
              <a:t>&gt; </a:t>
            </a:r>
            <a:r>
              <a:rPr lang="ko-KR" altLang="en-US" dirty="0"/>
              <a:t>요소 안에 </a:t>
            </a:r>
            <a:r>
              <a:rPr lang="en-US" altLang="ko-KR" dirty="0"/>
              <a:t>&lt;animate&gt;</a:t>
            </a:r>
            <a:r>
              <a:rPr lang="ko-KR" altLang="en-US" dirty="0"/>
              <a:t>를 추가하였다</a:t>
            </a:r>
            <a:r>
              <a:rPr lang="en-US" altLang="ko-KR" dirty="0"/>
              <a:t>. &lt;animate&gt; </a:t>
            </a:r>
            <a:r>
              <a:rPr lang="ko-KR" altLang="en-US" dirty="0"/>
              <a:t>요소는 다음과 같은 속성을 포함한다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 err="1"/>
              <a:t>attributeName</a:t>
            </a:r>
            <a:r>
              <a:rPr lang="en-US" altLang="ko-KR" dirty="0"/>
              <a:t> - </a:t>
            </a:r>
            <a:r>
              <a:rPr lang="ko-KR" altLang="en-US" dirty="0"/>
              <a:t>이 속성은 애니메이션에서 변화되는 속성을 지정한다</a:t>
            </a:r>
            <a:r>
              <a:rPr lang="en-US" altLang="ko-KR" dirty="0"/>
              <a:t>. </a:t>
            </a:r>
          </a:p>
          <a:p>
            <a:pPr lvl="1"/>
            <a:r>
              <a:rPr lang="en-US" altLang="ko-KR" dirty="0"/>
              <a:t>from – </a:t>
            </a:r>
            <a:r>
              <a:rPr lang="ko-KR" altLang="en-US" dirty="0"/>
              <a:t>속성이 시작되는 값을 지정한다</a:t>
            </a:r>
            <a:r>
              <a:rPr lang="en-US" altLang="ko-KR" dirty="0"/>
              <a:t>. </a:t>
            </a:r>
          </a:p>
          <a:p>
            <a:pPr lvl="1"/>
            <a:r>
              <a:rPr lang="en-US" altLang="ko-KR" dirty="0"/>
              <a:t>to – </a:t>
            </a:r>
            <a:r>
              <a:rPr lang="ko-KR" altLang="en-US" dirty="0"/>
              <a:t>속성이 끝나는 값을 지정한다</a:t>
            </a:r>
            <a:r>
              <a:rPr lang="en-US" altLang="ko-KR" dirty="0"/>
              <a:t>. </a:t>
            </a:r>
            <a:r>
              <a:rPr lang="ko-KR" altLang="en-US" dirty="0"/>
              <a:t>이 예제에서는 사각형의 높이는 증가된다</a:t>
            </a:r>
            <a:r>
              <a:rPr lang="en-US" altLang="ko-KR" dirty="0"/>
              <a:t>. </a:t>
            </a:r>
          </a:p>
          <a:p>
            <a:pPr lvl="1"/>
            <a:r>
              <a:rPr lang="en-US" altLang="ko-KR" dirty="0"/>
              <a:t>dur - </a:t>
            </a:r>
            <a:r>
              <a:rPr lang="ko-KR" altLang="en-US" dirty="0"/>
              <a:t>이 속성은 애니메이션의 지속 시간을 지정한다</a:t>
            </a:r>
            <a:r>
              <a:rPr lang="en-US" altLang="ko-KR" dirty="0"/>
              <a:t>. </a:t>
            </a:r>
            <a:r>
              <a:rPr lang="ko-KR" altLang="en-US" dirty="0"/>
              <a:t>예를 들어</a:t>
            </a:r>
            <a:r>
              <a:rPr lang="en-US" altLang="ko-KR" dirty="0"/>
              <a:t>, 01:30</a:t>
            </a:r>
            <a:r>
              <a:rPr lang="ko-KR" altLang="en-US" dirty="0"/>
              <a:t>은 동안 </a:t>
            </a:r>
            <a:r>
              <a:rPr lang="en-US" altLang="ko-KR" dirty="0"/>
              <a:t>1 </a:t>
            </a:r>
            <a:r>
              <a:rPr lang="ko-KR" altLang="en-US" dirty="0"/>
              <a:t>분 </a:t>
            </a:r>
            <a:r>
              <a:rPr lang="en-US" altLang="ko-KR" dirty="0"/>
              <a:t>30 </a:t>
            </a:r>
            <a:r>
              <a:rPr lang="ko-KR" altLang="en-US" dirty="0"/>
              <a:t>초를 나타낸다</a:t>
            </a:r>
            <a:r>
              <a:rPr lang="en-US" altLang="ko-KR" dirty="0"/>
              <a:t>. 2s</a:t>
            </a:r>
            <a:r>
              <a:rPr lang="ko-KR" altLang="en-US" dirty="0"/>
              <a:t>는 </a:t>
            </a:r>
            <a:r>
              <a:rPr lang="en-US" altLang="ko-KR" dirty="0"/>
              <a:t>2</a:t>
            </a:r>
            <a:r>
              <a:rPr lang="ko-KR" altLang="en-US" dirty="0"/>
              <a:t>초</a:t>
            </a:r>
            <a:r>
              <a:rPr lang="en-US" altLang="ko-KR" dirty="0"/>
              <a:t>, 2h</a:t>
            </a:r>
            <a:r>
              <a:rPr lang="ko-KR" altLang="en-US" dirty="0"/>
              <a:t>는 </a:t>
            </a:r>
            <a:r>
              <a:rPr lang="en-US" altLang="ko-KR" dirty="0"/>
              <a:t>2</a:t>
            </a:r>
            <a:r>
              <a:rPr lang="ko-KR" altLang="en-US" dirty="0"/>
              <a:t>시간을 의미한다</a:t>
            </a:r>
            <a:r>
              <a:rPr lang="en-US" altLang="ko-KR" dirty="0"/>
              <a:t>.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037543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애니메이션 </a:t>
            </a:r>
            <a:r>
              <a:rPr lang="en-US" altLang="ko-KR" dirty="0"/>
              <a:t>#1</a:t>
            </a:r>
            <a:endParaRPr lang="ko-KR" altLang="en-US" dirty="0"/>
          </a:p>
        </p:txBody>
      </p:sp>
      <p:sp>
        <p:nvSpPr>
          <p:cNvPr id="4" name="내용 개체 틀 2"/>
          <p:cNvSpPr txBox="1">
            <a:spLocks/>
          </p:cNvSpPr>
          <p:nvPr/>
        </p:nvSpPr>
        <p:spPr bwMode="auto">
          <a:xfrm>
            <a:off x="553910" y="2014594"/>
            <a:ext cx="8212138" cy="1632365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27000" indent="0" latinLnBrk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Font typeface="Symbol" pitchFamily="18" charset="2"/>
              <a:buNone/>
              <a:tabLst>
                <a:tab pos="254000" algn="l"/>
                <a:tab pos="254000" algn="l"/>
              </a:tabLst>
              <a:defRPr kumimoji="1" sz="1600">
                <a:solidFill>
                  <a:srgbClr val="000000"/>
                </a:solidFill>
                <a:latin typeface="Century Schoolbook" panose="02040604050505020304" pitchFamily="18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bg2"/>
              </a:buClr>
              <a:buFont typeface="Symbol" pitchFamily="18" charset="2"/>
              <a:buChar char="·"/>
              <a:defRPr kumimoji="1" sz="2000">
                <a:latin typeface="Century Schoolbook" panose="02040604050505020304" pitchFamily="18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>
                <a:latin typeface="Century Schoolbook" panose="02040604050505020304" pitchFamily="18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600">
                <a:latin typeface="Century Schoolbook" panose="02040604050505020304" pitchFamily="18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Century Schoolbook" panose="020406040505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9pPr>
          </a:lstStyle>
          <a:p>
            <a:pPr algn="just"/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</a:t>
            </a:r>
            <a:r>
              <a:rPr lang="en-US" altLang="ko-KR" sz="1600" b="0" i="0" u="none" strike="noStrike" baseline="0" dirty="0" err="1">
                <a:solidFill>
                  <a:srgbClr val="800000"/>
                </a:solidFill>
                <a:latin typeface="Century Schoolbook" panose="02040604050505020304" pitchFamily="18" charset="0"/>
              </a:rPr>
              <a:t>svg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width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"500"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height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"300"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  /* </a:t>
            </a:r>
            <a:r>
              <a:rPr lang="en-US" altLang="ko-KR" dirty="0"/>
              <a:t>SVG </a:t>
            </a:r>
            <a:r>
              <a:rPr lang="ko-KR" altLang="en-US" dirty="0"/>
              <a:t>영역을 생성</a:t>
            </a:r>
            <a:r>
              <a:rPr lang="en-US" altLang="ko-KR" dirty="0"/>
              <a:t>. </a:t>
            </a:r>
            <a:r>
              <a:rPr lang="ko-KR" altLang="en-US" dirty="0"/>
              <a:t>너비</a:t>
            </a:r>
            <a:r>
              <a:rPr lang="en-US" altLang="ko-KR" dirty="0"/>
              <a:t>500, </a:t>
            </a:r>
            <a:r>
              <a:rPr lang="ko-KR" altLang="en-US" dirty="0"/>
              <a:t>높이</a:t>
            </a:r>
            <a:r>
              <a:rPr lang="en-US" altLang="ko-KR" dirty="0"/>
              <a:t>300 */</a:t>
            </a:r>
            <a:endParaRPr lang="en-US" altLang="ko-KR" sz="1600" b="0" i="0" u="none" strike="noStrike" baseline="0" dirty="0">
              <a:solidFill>
                <a:srgbClr val="800000"/>
              </a:solidFill>
              <a:latin typeface="Century Schoolbook" panose="02040604050505020304" pitchFamily="18" charset="0"/>
            </a:endParaRP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</a:t>
            </a:r>
            <a:r>
              <a:rPr lang="en-US" altLang="ko-KR" sz="1600" b="0" i="0" u="none" strike="noStrike" baseline="0" dirty="0" err="1">
                <a:solidFill>
                  <a:srgbClr val="800000"/>
                </a:solidFill>
                <a:latin typeface="Century Schoolbook" panose="02040604050505020304" pitchFamily="18" charset="0"/>
              </a:rPr>
              <a:t>rect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x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0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y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0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width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"100"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height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"100"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fill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"red"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 /*</a:t>
            </a:r>
            <a:r>
              <a:rPr lang="ko-KR" altLang="en-US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사각형 그리기 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*/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&lt;animate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600" b="0" i="0" u="none" strike="noStrike" baseline="0" dirty="0" err="1">
                <a:solidFill>
                  <a:srgbClr val="FF0000"/>
                </a:solidFill>
                <a:latin typeface="Century Schoolbook" panose="02040604050505020304" pitchFamily="18" charset="0"/>
              </a:rPr>
              <a:t>attributeName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"height"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from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"0"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to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"100"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dur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"10s"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/&gt;</a:t>
            </a:r>
          </a:p>
          <a:p>
            <a:pPr marR="0" algn="just" rtl="0"/>
            <a:r>
              <a:rPr lang="en-US" altLang="ko-KR" dirty="0">
                <a:solidFill>
                  <a:srgbClr val="800000"/>
                </a:solidFill>
              </a:rPr>
              <a:t>           /* </a:t>
            </a:r>
            <a:r>
              <a:rPr lang="ko-KR" altLang="en-US" dirty="0">
                <a:solidFill>
                  <a:srgbClr val="800000"/>
                </a:solidFill>
              </a:rPr>
              <a:t>높이를 변경시키는 에니</a:t>
            </a:r>
            <a:r>
              <a:rPr lang="en-US" altLang="ko-KR" dirty="0">
                <a:solidFill>
                  <a:srgbClr val="800000"/>
                </a:solidFill>
              </a:rPr>
              <a:t>. 0</a:t>
            </a:r>
            <a:r>
              <a:rPr lang="en-US" altLang="ko-KR" dirty="0">
                <a:solidFill>
                  <a:srgbClr val="800000"/>
                </a:solidFill>
                <a:sym typeface="Wingdings" panose="05000000000000000000" pitchFamily="2" charset="2"/>
              </a:rPr>
              <a:t> 100 10</a:t>
            </a:r>
            <a:r>
              <a:rPr lang="ko-KR" altLang="en-US" dirty="0">
                <a:solidFill>
                  <a:srgbClr val="800000"/>
                </a:solidFill>
                <a:sym typeface="Wingdings" panose="05000000000000000000" pitchFamily="2" charset="2"/>
              </a:rPr>
              <a:t>초 </a:t>
            </a:r>
            <a:r>
              <a:rPr lang="en-US" altLang="ko-KR" dirty="0">
                <a:solidFill>
                  <a:srgbClr val="800000"/>
                </a:solidFill>
                <a:sym typeface="Wingdings" panose="05000000000000000000" pitchFamily="2" charset="2"/>
              </a:rPr>
              <a:t>*/</a:t>
            </a:r>
            <a:endParaRPr lang="en-US" altLang="ko-KR" sz="1600" b="0" i="0" u="none" strike="noStrike" baseline="0" dirty="0">
              <a:solidFill>
                <a:srgbClr val="800000"/>
              </a:solidFill>
              <a:latin typeface="Century Schoolbook" panose="02040604050505020304" pitchFamily="18" charset="0"/>
            </a:endParaRP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</a:t>
            </a:r>
            <a:r>
              <a:rPr lang="en-US" altLang="ko-KR" sz="1600" b="0" i="0" u="none" strike="noStrike" baseline="0" dirty="0" err="1">
                <a:solidFill>
                  <a:srgbClr val="800000"/>
                </a:solidFill>
                <a:latin typeface="Century Schoolbook" panose="02040604050505020304" pitchFamily="18" charset="0"/>
              </a:rPr>
              <a:t>rect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endParaRPr lang="ko-KR" altLang="en-US" sz="1600" b="0" i="0" u="none" strike="noStrike" baseline="0" dirty="0">
              <a:solidFill>
                <a:srgbClr val="000000"/>
              </a:solidFill>
              <a:latin typeface="Century Schoolbook" panose="02040604050505020304" pitchFamily="18" charset="0"/>
            </a:endParaRP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</a:t>
            </a:r>
            <a:r>
              <a:rPr lang="en-US" altLang="ko-KR" sz="1600" b="0" i="0" u="none" strike="noStrike" baseline="0" dirty="0" err="1">
                <a:solidFill>
                  <a:srgbClr val="800000"/>
                </a:solidFill>
                <a:latin typeface="Century Schoolbook" panose="02040604050505020304" pitchFamily="18" charset="0"/>
              </a:rPr>
              <a:t>svg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  <a:endParaRPr lang="en-US" altLang="ko-KR" dirty="0"/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862" y="3964454"/>
            <a:ext cx="3171825" cy="103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0B3707C-2C5B-55FB-1AD4-B964E32D1C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7169" name="_x391628784">
            <a:extLst>
              <a:ext uri="{FF2B5EF4-FFF2-40B4-BE49-F238E27FC236}">
                <a16:creationId xmlns:a16="http://schemas.microsoft.com/office/drawing/2014/main" id="{20353384-8F63-9B95-2F33-CBEE257854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4905" y="4030855"/>
            <a:ext cx="3703214" cy="1715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A71A941-A07A-6950-E363-BD46069D608F}"/>
              </a:ext>
            </a:extLst>
          </p:cNvPr>
          <p:cNvSpPr txBox="1"/>
          <p:nvPr/>
        </p:nvSpPr>
        <p:spPr>
          <a:xfrm>
            <a:off x="1263073" y="5320174"/>
            <a:ext cx="4576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svg_anim.html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A44BC3-474A-CF96-C7BA-2F6B27DFB33D}"/>
              </a:ext>
            </a:extLst>
          </p:cNvPr>
          <p:cNvSpPr txBox="1"/>
          <p:nvPr/>
        </p:nvSpPr>
        <p:spPr>
          <a:xfrm>
            <a:off x="554551" y="1562613"/>
            <a:ext cx="82695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빨간색 사각형의 </a:t>
            </a:r>
            <a:r>
              <a:rPr lang="ko-KR" altLang="en-US" b="1" dirty="0"/>
              <a:t>높이</a:t>
            </a:r>
            <a:r>
              <a:rPr lang="en-US" altLang="ko-KR" b="1" dirty="0"/>
              <a:t>(height)</a:t>
            </a:r>
            <a:r>
              <a:rPr lang="ko-KR" altLang="en-US" b="1" dirty="0"/>
              <a:t>가 </a:t>
            </a:r>
            <a:r>
              <a:rPr lang="en-US" altLang="ko-KR" b="1" dirty="0"/>
              <a:t>0</a:t>
            </a:r>
            <a:r>
              <a:rPr lang="ko-KR" altLang="en-US" b="1" dirty="0"/>
              <a:t>에서 </a:t>
            </a:r>
            <a:r>
              <a:rPr lang="en-US" altLang="ko-KR" b="1" dirty="0"/>
              <a:t>100</a:t>
            </a:r>
            <a:r>
              <a:rPr lang="ko-KR" altLang="en-US" b="1" dirty="0"/>
              <a:t>까지 </a:t>
            </a:r>
            <a:r>
              <a:rPr lang="en-US" altLang="ko-KR" b="1" dirty="0"/>
              <a:t>10</a:t>
            </a:r>
            <a:r>
              <a:rPr lang="ko-KR" altLang="en-US" b="1" dirty="0"/>
              <a:t>초 동안 증가</a:t>
            </a:r>
            <a:r>
              <a:rPr lang="ko-KR" altLang="en-US" dirty="0"/>
              <a:t>하는 애니메이션을 수행</a:t>
            </a:r>
          </a:p>
        </p:txBody>
      </p:sp>
    </p:spTree>
    <p:extLst>
      <p:ext uri="{BB962C8B-B14F-4D97-AF65-F5344CB8AC3E}">
        <p14:creationId xmlns:p14="http://schemas.microsoft.com/office/powerpoint/2010/main" val="32322122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애니메이션 </a:t>
            </a:r>
            <a:r>
              <a:rPr lang="en-US" altLang="ko-KR" dirty="0"/>
              <a:t>#2</a:t>
            </a:r>
            <a:endParaRPr lang="ko-KR" altLang="en-US" dirty="0"/>
          </a:p>
        </p:txBody>
      </p:sp>
      <p:sp>
        <p:nvSpPr>
          <p:cNvPr id="4" name="내용 개체 틀 2"/>
          <p:cNvSpPr txBox="1">
            <a:spLocks/>
          </p:cNvSpPr>
          <p:nvPr/>
        </p:nvSpPr>
        <p:spPr bwMode="auto">
          <a:xfrm>
            <a:off x="612648" y="1794471"/>
            <a:ext cx="8212138" cy="1676401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27000" indent="0" latinLnBrk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Font typeface="Symbol" pitchFamily="18" charset="2"/>
              <a:buNone/>
              <a:tabLst>
                <a:tab pos="254000" algn="l"/>
                <a:tab pos="254000" algn="l"/>
              </a:tabLst>
              <a:defRPr kumimoji="1" sz="1600">
                <a:solidFill>
                  <a:srgbClr val="000000"/>
                </a:solidFill>
                <a:latin typeface="Century Schoolbook" panose="02040604050505020304" pitchFamily="18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bg2"/>
              </a:buClr>
              <a:buFont typeface="Symbol" pitchFamily="18" charset="2"/>
              <a:buChar char="·"/>
              <a:defRPr kumimoji="1" sz="2000">
                <a:latin typeface="Century Schoolbook" panose="02040604050505020304" pitchFamily="18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>
                <a:latin typeface="Century Schoolbook" panose="02040604050505020304" pitchFamily="18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600">
                <a:latin typeface="Century Schoolbook" panose="02040604050505020304" pitchFamily="18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Century Schoolbook" panose="020406040505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9pPr>
          </a:lstStyle>
          <a:p>
            <a:pPr marR="0" algn="just" rtl="0"/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</a:t>
            </a:r>
            <a:r>
              <a:rPr lang="en-US" altLang="ko-KR" sz="1600" b="0" i="0" u="none" strike="noStrike" baseline="0" dirty="0" err="1">
                <a:solidFill>
                  <a:srgbClr val="800000"/>
                </a:solidFill>
                <a:latin typeface="Century Schoolbook" panose="02040604050505020304" pitchFamily="18" charset="0"/>
              </a:rPr>
              <a:t>svg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width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"500"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height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"300"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&lt;circle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r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"30"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cx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"100"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cy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"60"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fill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</a:t>
            </a:r>
            <a:r>
              <a:rPr lang="en-US" altLang="ko-KR" sz="1600" b="0" i="0" u="none" strike="noStrike" baseline="0" dirty="0" err="1">
                <a:solidFill>
                  <a:srgbClr val="0000FF"/>
                </a:solidFill>
                <a:latin typeface="Century Schoolbook" panose="02040604050505020304" pitchFamily="18" charset="0"/>
              </a:rPr>
              <a:t>slategrey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stroke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"#000"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stroke-width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"7"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&lt;animate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600" b="0" i="0" u="none" strike="noStrike" baseline="0" dirty="0" err="1">
                <a:solidFill>
                  <a:srgbClr val="FF0000"/>
                </a:solidFill>
                <a:latin typeface="Century Schoolbook" panose="02040604050505020304" pitchFamily="18" charset="0"/>
              </a:rPr>
              <a:t>attributeName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"r"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from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"0"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to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"30"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dur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"3s"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/&gt;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&lt;animate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600" b="0" i="0" u="none" strike="noStrike" baseline="0" dirty="0" err="1">
                <a:solidFill>
                  <a:srgbClr val="FF0000"/>
                </a:solidFill>
                <a:latin typeface="Century Schoolbook" panose="02040604050505020304" pitchFamily="18" charset="0"/>
              </a:rPr>
              <a:t>attributeName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"cx"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from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"0"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to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"100"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dur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"3s"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/&gt;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&lt;/circle&gt;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</a:t>
            </a:r>
            <a:r>
              <a:rPr lang="en-US" altLang="ko-KR" sz="1600" b="0" i="0" u="none" strike="noStrike" baseline="0" dirty="0" err="1">
                <a:solidFill>
                  <a:srgbClr val="800000"/>
                </a:solidFill>
                <a:latin typeface="Century Schoolbook" panose="02040604050505020304" pitchFamily="18" charset="0"/>
              </a:rPr>
              <a:t>svg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  <a:endParaRPr lang="en-US" altLang="ko-KR" dirty="0"/>
          </a:p>
        </p:txBody>
      </p:sp>
      <p:pic>
        <p:nvPicPr>
          <p:cNvPr id="8194" name="_x391567080">
            <a:extLst>
              <a:ext uri="{FF2B5EF4-FFF2-40B4-BE49-F238E27FC236}">
                <a16:creationId xmlns:a16="http://schemas.microsoft.com/office/drawing/2014/main" id="{B5EBABB8-8797-46B6-DDBD-472CEF9289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544" y="3960891"/>
            <a:ext cx="3694226" cy="1534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3" name="_x391567656">
            <a:extLst>
              <a:ext uri="{FF2B5EF4-FFF2-40B4-BE49-F238E27FC236}">
                <a16:creationId xmlns:a16="http://schemas.microsoft.com/office/drawing/2014/main" id="{DED9BD65-E682-B914-5C0A-EE3201E6A0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0230" y="3960891"/>
            <a:ext cx="3694226" cy="15345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5CAA29AC-2C37-2A84-5F21-B84DD36B1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5CE6E7-511E-2482-BB8A-00C1FC8B13FD}"/>
              </a:ext>
            </a:extLst>
          </p:cNvPr>
          <p:cNvSpPr txBox="1"/>
          <p:nvPr/>
        </p:nvSpPr>
        <p:spPr>
          <a:xfrm>
            <a:off x="1373909" y="5800806"/>
            <a:ext cx="4576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svg_anim1.html</a:t>
            </a:r>
          </a:p>
        </p:txBody>
      </p:sp>
    </p:spTree>
    <p:extLst>
      <p:ext uri="{BB962C8B-B14F-4D97-AF65-F5344CB8AC3E}">
        <p14:creationId xmlns:p14="http://schemas.microsoft.com/office/powerpoint/2010/main" val="3276866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13C8C9-BE4B-0811-FF58-4FDFA6BF7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viewBox</a:t>
            </a:r>
            <a:r>
              <a:rPr lang="en-US" altLang="ko-KR" dirty="0"/>
              <a:t> </a:t>
            </a:r>
            <a:r>
              <a:rPr lang="ko-KR" altLang="en-US" dirty="0"/>
              <a:t>속성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443890-5704-6927-782F-DC8AC1B7716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 err="1"/>
              <a:t>viewBox</a:t>
            </a:r>
            <a:r>
              <a:rPr lang="ko-KR" altLang="en-US" dirty="0"/>
              <a:t>는 </a:t>
            </a:r>
            <a:r>
              <a:rPr lang="en-US" altLang="ko-KR" dirty="0"/>
              <a:t>SVG</a:t>
            </a:r>
            <a:r>
              <a:rPr lang="ko-KR" altLang="en-US" dirty="0"/>
              <a:t>가 그림을 그리는 영역을 정의하는 속성이다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39F46593-52BB-362B-B32E-9179AF9B0980}"/>
              </a:ext>
            </a:extLst>
          </p:cNvPr>
          <p:cNvSpPr txBox="1">
            <a:spLocks/>
          </p:cNvSpPr>
          <p:nvPr/>
        </p:nvSpPr>
        <p:spPr bwMode="auto">
          <a:xfrm>
            <a:off x="612648" y="2171699"/>
            <a:ext cx="8212138" cy="4457701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27000" indent="0" latinLnBrk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Font typeface="Symbol" pitchFamily="18" charset="2"/>
              <a:buNone/>
              <a:tabLst>
                <a:tab pos="254000" algn="l"/>
                <a:tab pos="254000" algn="l"/>
              </a:tabLst>
              <a:defRPr kumimoji="1" sz="1600">
                <a:solidFill>
                  <a:srgbClr val="000000"/>
                </a:solidFill>
                <a:latin typeface="Century Schoolbook" panose="02040604050505020304" pitchFamily="18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bg2"/>
              </a:buClr>
              <a:buFont typeface="Symbol" pitchFamily="18" charset="2"/>
              <a:buChar char="·"/>
              <a:defRPr kumimoji="1" sz="2000">
                <a:latin typeface="Century Schoolbook" panose="02040604050505020304" pitchFamily="18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>
                <a:latin typeface="Century Schoolbook" panose="02040604050505020304" pitchFamily="18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600">
                <a:latin typeface="Century Schoolbook" panose="02040604050505020304" pitchFamily="18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Century Schoolbook" panose="020406040505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9pPr>
          </a:lstStyle>
          <a:p>
            <a:pPr marR="0" algn="just" rtl="0"/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&lt;!DOCTYPE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html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&lt;html&gt;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&lt;head&gt;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&lt;style&gt;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600" b="0" i="0" u="none" strike="noStrike" baseline="0" dirty="0" err="1">
                <a:solidFill>
                  <a:srgbClr val="800000"/>
                </a:solidFill>
                <a:latin typeface="Century Schoolbook" panose="02040604050505020304" pitchFamily="18" charset="0"/>
              </a:rPr>
              <a:t>svg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{           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border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6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1px</a:t>
            </a:r>
            <a:r>
              <a:rPr lang="en-US" altLang="ko-KR" sz="16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 solid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rgb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</a:t>
            </a:r>
            <a:r>
              <a:rPr lang="en-US" altLang="ko-KR" sz="16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230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, </a:t>
            </a:r>
            <a:r>
              <a:rPr lang="en-US" altLang="ko-KR" sz="16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20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, </a:t>
            </a:r>
            <a:r>
              <a:rPr lang="en-US" altLang="ko-KR" sz="16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20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);        }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&lt;/style&gt;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&lt;/head&gt;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&lt;body&gt;</a:t>
            </a:r>
          </a:p>
          <a:p>
            <a:pPr marR="0" algn="just" rtl="0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</a:t>
            </a:r>
            <a:r>
              <a:rPr lang="en-US" altLang="ko-KR" sz="1600" b="0" i="0" u="none" strike="noStrike" baseline="0" dirty="0" err="1">
                <a:solidFill>
                  <a:srgbClr val="800000"/>
                </a:solidFill>
                <a:latin typeface="Century Schoolbook" panose="02040604050505020304" pitchFamily="18" charset="0"/>
              </a:rPr>
              <a:t>svg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width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"200"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height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"200" </a:t>
            </a:r>
            <a:r>
              <a:rPr lang="en-US" altLang="ko-KR" sz="1600" b="0" i="0" u="none" strike="noStrike" baseline="0" dirty="0" err="1">
                <a:solidFill>
                  <a:srgbClr val="FF0000"/>
                </a:solidFill>
                <a:latin typeface="Century Schoolbook" panose="02040604050505020304" pitchFamily="18" charset="0"/>
              </a:rPr>
              <a:t>viewBox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"0 0 200 200"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&lt;circle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cx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"50"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cy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"50"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r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"45"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stroke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"#000"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stroke-width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"3"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fill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"none"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/&gt;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</a:t>
            </a:r>
            <a:r>
              <a:rPr lang="en-US" altLang="ko-KR" sz="1600" b="0" i="0" u="none" strike="noStrike" baseline="0" dirty="0" err="1">
                <a:solidFill>
                  <a:srgbClr val="800000"/>
                </a:solidFill>
                <a:latin typeface="Century Schoolbook" panose="02040604050505020304" pitchFamily="18" charset="0"/>
              </a:rPr>
              <a:t>svg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</a:t>
            </a:r>
            <a:r>
              <a:rPr lang="en-US" altLang="ko-KR" sz="1600" b="0" i="0" u="none" strike="noStrike" baseline="0" dirty="0" err="1">
                <a:solidFill>
                  <a:srgbClr val="800000"/>
                </a:solidFill>
                <a:latin typeface="Century Schoolbook" panose="02040604050505020304" pitchFamily="18" charset="0"/>
              </a:rPr>
              <a:t>svg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width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"200"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height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"200" </a:t>
            </a:r>
            <a:r>
              <a:rPr lang="en-US" altLang="ko-KR" sz="1600" b="0" i="0" u="none" strike="noStrike" baseline="0" dirty="0" err="1">
                <a:solidFill>
                  <a:srgbClr val="FF0000"/>
                </a:solidFill>
                <a:latin typeface="Century Schoolbook" panose="02040604050505020304" pitchFamily="18" charset="0"/>
              </a:rPr>
              <a:t>viewBox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"50 50 100 100"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&lt;circle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cx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"50"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cy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"50"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r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"45"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stroke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"#000"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stroke-width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"3"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fill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"none"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/&gt;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</a:t>
            </a:r>
            <a:r>
              <a:rPr lang="en-US" altLang="ko-KR" sz="1600" b="0" i="0" u="none" strike="noStrike" baseline="0" dirty="0" err="1">
                <a:solidFill>
                  <a:srgbClr val="800000"/>
                </a:solidFill>
                <a:latin typeface="Century Schoolbook" panose="02040604050505020304" pitchFamily="18" charset="0"/>
              </a:rPr>
              <a:t>svg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&lt;/body&gt;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&lt;/html&gt;</a:t>
            </a:r>
            <a:endParaRPr lang="en-US" altLang="ko-K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D1EF7A-05DF-CF63-9C23-9DB5EB8DC8F9}"/>
              </a:ext>
            </a:extLst>
          </p:cNvPr>
          <p:cNvSpPr txBox="1"/>
          <p:nvPr/>
        </p:nvSpPr>
        <p:spPr>
          <a:xfrm>
            <a:off x="3886200" y="6178034"/>
            <a:ext cx="45766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viewbox.html</a:t>
            </a:r>
          </a:p>
        </p:txBody>
      </p:sp>
    </p:spTree>
    <p:extLst>
      <p:ext uri="{BB962C8B-B14F-4D97-AF65-F5344CB8AC3E}">
        <p14:creationId xmlns:p14="http://schemas.microsoft.com/office/powerpoint/2010/main" val="37451131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0F01D3-480B-9090-AC44-4504DF362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실행 결과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E1E8486-17C2-1624-B2C2-F7A538FE77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9217" name="_x391629216">
            <a:extLst>
              <a:ext uri="{FF2B5EF4-FFF2-40B4-BE49-F238E27FC236}">
                <a16:creationId xmlns:a16="http://schemas.microsoft.com/office/drawing/2014/main" id="{CFE910EF-AFBD-5E7B-6ABB-03146649E1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8555" y="2054366"/>
            <a:ext cx="4888871" cy="30389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49908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6F4EC3-F779-0BAC-ADDE-A7F93D11F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SVG</a:t>
            </a:r>
            <a:r>
              <a:rPr lang="ko-KR" altLang="en-US" dirty="0"/>
              <a:t>와 캔버스 그래픽의 차이점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AE46FFDB-2BCA-098D-FE3B-3FFF3F283F1B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48" y="1883517"/>
            <a:ext cx="8153400" cy="2064151"/>
          </a:xfrm>
        </p:spPr>
      </p:pic>
    </p:spTree>
    <p:extLst>
      <p:ext uri="{BB962C8B-B14F-4D97-AF65-F5344CB8AC3E}">
        <p14:creationId xmlns:p14="http://schemas.microsoft.com/office/powerpoint/2010/main" val="34552084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C264ED-4436-AAF0-BF76-75FE9F5FD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Lab: </a:t>
            </a:r>
            <a:r>
              <a:rPr lang="ko-KR" altLang="en-US" dirty="0"/>
              <a:t>아날로그 시계 만들기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822947-00FA-CCC3-50EC-D1B9F88F074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다음과 같은 아날로그 시계를 </a:t>
            </a:r>
            <a:r>
              <a:rPr lang="en-US" altLang="ko-KR" dirty="0"/>
              <a:t>SVG</a:t>
            </a:r>
            <a:r>
              <a:rPr lang="ko-KR" altLang="en-US" dirty="0"/>
              <a:t>로 작성해서 웹페이지에 표시하는 코드를 작성해보자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B5E958C-82E0-AC49-7128-BFBEA80AE1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11265" name="_x391620864">
            <a:extLst>
              <a:ext uri="{FF2B5EF4-FFF2-40B4-BE49-F238E27FC236}">
                <a16:creationId xmlns:a16="http://schemas.microsoft.com/office/drawing/2014/main" id="{FE306A64-8E92-D49B-E5B6-FC398D5CFC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4509" y="2530443"/>
            <a:ext cx="5136947" cy="2650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8672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13C8C9-BE4B-0811-FF58-4FDFA6BF7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Sol.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39F46593-52BB-362B-B32E-9179AF9B0980}"/>
              </a:ext>
            </a:extLst>
          </p:cNvPr>
          <p:cNvSpPr txBox="1">
            <a:spLocks/>
          </p:cNvSpPr>
          <p:nvPr/>
        </p:nvSpPr>
        <p:spPr bwMode="auto">
          <a:xfrm>
            <a:off x="612648" y="2171699"/>
            <a:ext cx="8212138" cy="2907295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27000" indent="0" latinLnBrk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Font typeface="Symbol" pitchFamily="18" charset="2"/>
              <a:buNone/>
              <a:tabLst>
                <a:tab pos="254000" algn="l"/>
                <a:tab pos="254000" algn="l"/>
              </a:tabLst>
              <a:defRPr kumimoji="1" sz="1600">
                <a:solidFill>
                  <a:srgbClr val="000000"/>
                </a:solidFill>
                <a:latin typeface="Century Schoolbook" panose="02040604050505020304" pitchFamily="18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bg2"/>
              </a:buClr>
              <a:buFont typeface="Symbol" pitchFamily="18" charset="2"/>
              <a:buChar char="·"/>
              <a:defRPr kumimoji="1" sz="2000">
                <a:latin typeface="Century Schoolbook" panose="02040604050505020304" pitchFamily="18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>
                <a:latin typeface="Century Schoolbook" panose="02040604050505020304" pitchFamily="18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600">
                <a:latin typeface="Century Schoolbook" panose="02040604050505020304" pitchFamily="18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Century Schoolbook" panose="020406040505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9pPr>
          </a:lstStyle>
          <a:p>
            <a:pPr marR="0" algn="just" rtl="0"/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&lt;!DOCTYPE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html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&lt;html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lang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"ko"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&lt;head&gt;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&lt;style&gt;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#clock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{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fill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6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transparent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stroke-width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6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2px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nl-NL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nl-NL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stroke</a:t>
            </a:r>
            <a:r>
              <a:rPr lang="nl-NL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rgb(</a:t>
            </a:r>
            <a:r>
              <a:rPr lang="nl-NL" altLang="ko-KR" sz="16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36</a:t>
            </a:r>
            <a:r>
              <a:rPr lang="nl-NL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, </a:t>
            </a:r>
            <a:r>
              <a:rPr lang="nl-NL" altLang="ko-KR" sz="16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4</a:t>
            </a:r>
            <a:r>
              <a:rPr lang="nl-NL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, </a:t>
            </a:r>
            <a:r>
              <a:rPr lang="nl-NL" altLang="ko-KR" sz="16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4</a:t>
            </a:r>
            <a:r>
              <a:rPr lang="nl-NL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);</a:t>
            </a:r>
          </a:p>
          <a:p>
            <a:pPr marR="0" algn="just" rtl="0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R="0" algn="just" rtl="0"/>
            <a:r>
              <a:rPr lang="nl-NL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nl-NL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#sec</a:t>
            </a:r>
            <a:r>
              <a:rPr lang="nl-NL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{            </a:t>
            </a:r>
            <a:r>
              <a:rPr lang="nl-NL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stroke</a:t>
            </a:r>
            <a:r>
              <a:rPr lang="nl-NL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rgb(</a:t>
            </a:r>
            <a:r>
              <a:rPr lang="nl-NL" altLang="ko-KR" sz="16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224</a:t>
            </a:r>
            <a:r>
              <a:rPr lang="nl-NL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, </a:t>
            </a:r>
            <a:r>
              <a:rPr lang="nl-NL" altLang="ko-KR" sz="16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29</a:t>
            </a:r>
            <a:r>
              <a:rPr lang="nl-NL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, </a:t>
            </a:r>
            <a:r>
              <a:rPr lang="nl-NL" altLang="ko-KR" sz="16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29</a:t>
            </a:r>
            <a:r>
              <a:rPr lang="nl-NL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);        }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&lt;/style&gt;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&lt;/head&gt;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7783059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13C8C9-BE4B-0811-FF58-4FDFA6BF7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Sol.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39F46593-52BB-362B-B32E-9179AF9B0980}"/>
              </a:ext>
            </a:extLst>
          </p:cNvPr>
          <p:cNvSpPr txBox="1">
            <a:spLocks/>
          </p:cNvSpPr>
          <p:nvPr/>
        </p:nvSpPr>
        <p:spPr bwMode="auto">
          <a:xfrm>
            <a:off x="612648" y="1936308"/>
            <a:ext cx="8212138" cy="3640626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27000" indent="0" latinLnBrk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Font typeface="Symbol" pitchFamily="18" charset="2"/>
              <a:buNone/>
              <a:tabLst>
                <a:tab pos="254000" algn="l"/>
                <a:tab pos="254000" algn="l"/>
              </a:tabLst>
              <a:defRPr kumimoji="1" sz="1600">
                <a:solidFill>
                  <a:srgbClr val="000000"/>
                </a:solidFill>
                <a:latin typeface="Century Schoolbook" panose="02040604050505020304" pitchFamily="18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bg2"/>
              </a:buClr>
              <a:buFont typeface="Symbol" pitchFamily="18" charset="2"/>
              <a:buChar char="·"/>
              <a:defRPr kumimoji="1" sz="2000">
                <a:latin typeface="Century Schoolbook" panose="02040604050505020304" pitchFamily="18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>
                <a:latin typeface="Century Schoolbook" panose="02040604050505020304" pitchFamily="18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600">
                <a:latin typeface="Century Schoolbook" panose="02040604050505020304" pitchFamily="18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Century Schoolbook" panose="020406040505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9pPr>
          </a:lstStyle>
          <a:p>
            <a:pPr marR="0" algn="just" rtl="0"/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&lt;body&gt;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</a:t>
            </a:r>
            <a:r>
              <a:rPr lang="en-US" altLang="ko-KR" sz="1600" b="0" i="0" u="none" strike="noStrike" baseline="0" dirty="0" err="1">
                <a:solidFill>
                  <a:srgbClr val="800000"/>
                </a:solidFill>
                <a:latin typeface="Century Schoolbook" panose="02040604050505020304" pitchFamily="18" charset="0"/>
              </a:rPr>
              <a:t>svg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id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"clock" </a:t>
            </a:r>
            <a:r>
              <a:rPr lang="en-US" altLang="ko-KR" sz="1600" b="0" i="0" u="none" strike="noStrike" baseline="0" dirty="0" err="1">
                <a:solidFill>
                  <a:srgbClr val="FF0000"/>
                </a:solidFill>
                <a:latin typeface="Century Schoolbook" panose="02040604050505020304" pitchFamily="18" charset="0"/>
              </a:rPr>
              <a:t>viewBox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"0 0 300 300"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&lt;circle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id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"clock"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cx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"50"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cy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"50"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r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"45"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/&gt;</a:t>
            </a:r>
          </a:p>
          <a:p>
            <a:pPr marR="0" algn="just" rtl="0"/>
            <a:r>
              <a:rPr lang="es-E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s-E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&lt;line</a:t>
            </a:r>
            <a:r>
              <a:rPr lang="es-E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id</a:t>
            </a:r>
            <a:r>
              <a:rPr lang="es-E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s-E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"sec" </a:t>
            </a:r>
            <a:r>
              <a:rPr lang="es-E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x1</a:t>
            </a:r>
            <a:r>
              <a:rPr lang="es-E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s-E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"50" </a:t>
            </a:r>
            <a:r>
              <a:rPr lang="es-E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y1</a:t>
            </a:r>
            <a:r>
              <a:rPr lang="es-E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s-E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"50" </a:t>
            </a:r>
            <a:r>
              <a:rPr lang="es-E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x2</a:t>
            </a:r>
            <a:r>
              <a:rPr lang="es-E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s-E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"50" </a:t>
            </a:r>
            <a:r>
              <a:rPr lang="es-E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y2</a:t>
            </a:r>
            <a:r>
              <a:rPr lang="es-E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s-E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"16"</a:t>
            </a:r>
            <a:r>
              <a:rPr lang="es-E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/&gt;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</a:t>
            </a:r>
            <a:r>
              <a:rPr lang="en-US" altLang="ko-KR" sz="1600" b="0" i="0" u="none" strike="noStrike" baseline="0" dirty="0" err="1">
                <a:solidFill>
                  <a:srgbClr val="800000"/>
                </a:solidFill>
                <a:latin typeface="Century Schoolbook" panose="02040604050505020304" pitchFamily="18" charset="0"/>
              </a:rPr>
              <a:t>svg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&lt;script&gt;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setInterval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function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() {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function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rotate(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ele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, deg) {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   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ele.setAttribute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</a:t>
            </a:r>
            <a:r>
              <a:rPr lang="en-US" altLang="ko-KR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</a:rPr>
              <a:t>'transform'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, </a:t>
            </a:r>
            <a:r>
              <a:rPr lang="en-US" altLang="ko-KR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</a:rPr>
              <a:t>'rotate('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+ deg + </a:t>
            </a:r>
            <a:r>
              <a:rPr lang="en-US" altLang="ko-KR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</a:rPr>
              <a:t>' 50 50)'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</a:t>
            </a:r>
          </a:p>
          <a:p>
            <a:pPr marR="0" algn="just" rtl="0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let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d =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new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Date();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rotate(sec, </a:t>
            </a:r>
            <a:r>
              <a:rPr lang="en-US" altLang="ko-KR" sz="16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6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*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d.getSeconds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());</a:t>
            </a:r>
          </a:p>
          <a:p>
            <a:pPr marR="0" algn="just" rtl="0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}, </a:t>
            </a:r>
            <a:r>
              <a:rPr lang="en-US" altLang="ko-KR" sz="16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1000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&lt;/script&gt;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&lt;/body&gt;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&lt;/html&gt;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400634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드래그와 </a:t>
            </a:r>
            <a:r>
              <a:rPr lang="ko-KR" altLang="en-US" dirty="0" err="1"/>
              <a:t>드롭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b="1" dirty="0"/>
              <a:t>드래그</a:t>
            </a:r>
            <a:r>
              <a:rPr lang="en-US" altLang="ko-KR" b="1" dirty="0"/>
              <a:t>(drag)</a:t>
            </a:r>
            <a:r>
              <a:rPr lang="ko-KR" altLang="en-US" b="1" dirty="0"/>
              <a:t>와 </a:t>
            </a:r>
            <a:r>
              <a:rPr lang="ko-KR" altLang="en-US" b="1" dirty="0" err="1"/>
              <a:t>드롭</a:t>
            </a:r>
            <a:r>
              <a:rPr lang="en-US" altLang="ko-KR" b="1" dirty="0"/>
              <a:t>(drop) -</a:t>
            </a:r>
            <a:r>
              <a:rPr lang="ko-KR" altLang="en-US" dirty="0"/>
              <a:t> 윈도우에서 아주 많이 사용하는 사용자 인터페이스 중의 하나</a:t>
            </a:r>
            <a:endParaRPr lang="en-US" altLang="ko-KR" dirty="0"/>
          </a:p>
          <a:p>
            <a:r>
              <a:rPr lang="ko-KR" altLang="en-US" dirty="0"/>
              <a:t>객체를 마우스로 끌어서 다른 애플리케이션에 놓는 것</a:t>
            </a:r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2871789"/>
            <a:ext cx="2628900" cy="29981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590370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발생하는 이벤트</a:t>
            </a: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090" y="1779431"/>
            <a:ext cx="6126474" cy="433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604425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0FA5B3-6B8B-32BF-0F90-E72CDAF0A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이벤트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B0DC65B-0595-3762-CEDD-D9BEC28C8F71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 err="1"/>
              <a:t>dragstart</a:t>
            </a:r>
            <a:r>
              <a:rPr lang="en-US" altLang="ko-KR" dirty="0"/>
              <a:t> </a:t>
            </a:r>
            <a:r>
              <a:rPr lang="ko-KR" altLang="en-US" dirty="0"/>
              <a:t>이벤트</a:t>
            </a:r>
            <a:r>
              <a:rPr lang="en-US" altLang="ko-KR" dirty="0"/>
              <a:t>: </a:t>
            </a:r>
            <a:r>
              <a:rPr lang="en-US" altLang="ko-KR" dirty="0" err="1"/>
              <a:t>dragstart</a:t>
            </a:r>
            <a:r>
              <a:rPr lang="en-US" altLang="ko-KR" dirty="0"/>
              <a:t> </a:t>
            </a:r>
            <a:r>
              <a:rPr lang="ko-KR" altLang="en-US" dirty="0"/>
              <a:t>이벤트는 사용자가 드래그를 시작할 때</a:t>
            </a:r>
            <a:r>
              <a:rPr lang="en-US" altLang="ko-KR" dirty="0"/>
              <a:t>, </a:t>
            </a:r>
            <a:r>
              <a:rPr lang="ko-KR" altLang="en-US" dirty="0"/>
              <a:t>발생한다</a:t>
            </a:r>
            <a:r>
              <a:rPr lang="en-US" altLang="ko-KR" dirty="0"/>
              <a:t>. </a:t>
            </a:r>
            <a:r>
              <a:rPr lang="ko-KR" altLang="en-US" dirty="0"/>
              <a:t>이때 해야 하는 가장 중요한 작업은 </a:t>
            </a:r>
            <a:r>
              <a:rPr lang="en-US" altLang="ko-KR" dirty="0" err="1"/>
              <a:t>dataTransfer</a:t>
            </a:r>
            <a:r>
              <a:rPr lang="en-US" altLang="ko-KR" dirty="0"/>
              <a:t> </a:t>
            </a:r>
            <a:r>
              <a:rPr lang="ko-KR" altLang="en-US" dirty="0"/>
              <a:t>객체에 </a:t>
            </a:r>
            <a:r>
              <a:rPr lang="en-US" altLang="ko-KR" dirty="0" err="1"/>
              <a:t>setData</a:t>
            </a:r>
            <a:r>
              <a:rPr lang="en-US" altLang="ko-KR" dirty="0"/>
              <a:t>() </a:t>
            </a:r>
            <a:r>
              <a:rPr lang="ko-KR" altLang="en-US" dirty="0"/>
              <a:t>호출을 통하여 데이터를 설정하는 작업이다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drag </a:t>
            </a:r>
            <a:r>
              <a:rPr lang="ko-KR" altLang="en-US" dirty="0"/>
              <a:t>이벤트</a:t>
            </a:r>
            <a:r>
              <a:rPr lang="en-US" altLang="ko-KR" dirty="0"/>
              <a:t>: </a:t>
            </a:r>
            <a:r>
              <a:rPr lang="ko-KR" altLang="en-US" dirty="0" err="1"/>
              <a:t>드래그하는</a:t>
            </a:r>
            <a:r>
              <a:rPr lang="ko-KR" altLang="en-US" dirty="0"/>
              <a:t> 도중에 계속해서 발생하는 이벤트이다</a:t>
            </a:r>
            <a:r>
              <a:rPr lang="en-US" altLang="ko-KR" dirty="0"/>
              <a:t>. </a:t>
            </a:r>
          </a:p>
          <a:p>
            <a:r>
              <a:rPr lang="en-US" altLang="ko-KR" dirty="0" err="1"/>
              <a:t>dragenter</a:t>
            </a:r>
            <a:r>
              <a:rPr lang="en-US" altLang="ko-KR" dirty="0"/>
              <a:t> </a:t>
            </a:r>
            <a:r>
              <a:rPr lang="ko-KR" altLang="en-US" dirty="0"/>
              <a:t>이벤트</a:t>
            </a:r>
            <a:r>
              <a:rPr lang="en-US" altLang="ko-KR" dirty="0"/>
              <a:t>: </a:t>
            </a:r>
            <a:r>
              <a:rPr lang="ko-KR" altLang="en-US" dirty="0"/>
              <a:t>마우스로 </a:t>
            </a:r>
            <a:r>
              <a:rPr lang="ko-KR" altLang="en-US" dirty="0" err="1"/>
              <a:t>드래그하다가</a:t>
            </a:r>
            <a:r>
              <a:rPr lang="ko-KR" altLang="en-US" dirty="0"/>
              <a:t> 새로운 요소 안으로 들어가면 </a:t>
            </a:r>
            <a:r>
              <a:rPr lang="en-US" altLang="ko-KR" dirty="0" err="1"/>
              <a:t>dragenter</a:t>
            </a:r>
            <a:r>
              <a:rPr lang="en-US" altLang="ko-KR" dirty="0"/>
              <a:t> </a:t>
            </a:r>
            <a:r>
              <a:rPr lang="ko-KR" altLang="en-US" dirty="0"/>
              <a:t>이벤트가 발생한다</a:t>
            </a:r>
            <a:r>
              <a:rPr lang="en-US" altLang="ko-KR" dirty="0"/>
              <a:t>.</a:t>
            </a:r>
          </a:p>
          <a:p>
            <a:r>
              <a:rPr lang="en-US" altLang="ko-KR" dirty="0" err="1"/>
              <a:t>dragover</a:t>
            </a:r>
            <a:r>
              <a:rPr lang="en-US" altLang="ko-KR" dirty="0"/>
              <a:t> </a:t>
            </a:r>
            <a:r>
              <a:rPr lang="ko-KR" altLang="en-US" dirty="0"/>
              <a:t>이벤트</a:t>
            </a:r>
            <a:r>
              <a:rPr lang="en-US" altLang="ko-KR" dirty="0"/>
              <a:t>: </a:t>
            </a:r>
            <a:r>
              <a:rPr lang="en-US" altLang="ko-KR" dirty="0" err="1"/>
              <a:t>dragover</a:t>
            </a:r>
            <a:r>
              <a:rPr lang="en-US" altLang="ko-KR" dirty="0"/>
              <a:t> </a:t>
            </a:r>
            <a:r>
              <a:rPr lang="ko-KR" altLang="en-US" dirty="0"/>
              <a:t>이벤트는 드래그 동작 도중에 마우스가 다른 요소 위에 있다는 것을 의미한다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drop </a:t>
            </a:r>
            <a:r>
              <a:rPr lang="ko-KR" altLang="en-US" dirty="0"/>
              <a:t>이벤트</a:t>
            </a:r>
            <a:r>
              <a:rPr lang="en-US" altLang="ko-KR" dirty="0"/>
              <a:t>: </a:t>
            </a:r>
            <a:r>
              <a:rPr lang="ko-KR" altLang="en-US" dirty="0"/>
              <a:t>반드시 처리해야 하는 이벤트가 등장하였다</a:t>
            </a:r>
            <a:r>
              <a:rPr lang="en-US" altLang="ko-KR" dirty="0"/>
              <a:t>. drop </a:t>
            </a:r>
            <a:r>
              <a:rPr lang="ko-KR" altLang="en-US" dirty="0"/>
              <a:t>이벤트는 사용자가 마우스 버튼을 놓았을 때</a:t>
            </a:r>
            <a:r>
              <a:rPr lang="en-US" altLang="ko-KR" dirty="0"/>
              <a:t>, </a:t>
            </a:r>
            <a:r>
              <a:rPr lang="ko-KR" altLang="en-US" dirty="0"/>
              <a:t>발생한다</a:t>
            </a:r>
            <a:r>
              <a:rPr lang="en-US" altLang="ko-KR" dirty="0"/>
              <a:t>. </a:t>
            </a:r>
            <a:r>
              <a:rPr lang="en-US" altLang="ko-KR" dirty="0" err="1"/>
              <a:t>dataTransfer</a:t>
            </a:r>
            <a:r>
              <a:rPr lang="en-US" altLang="ko-KR" dirty="0"/>
              <a:t> </a:t>
            </a:r>
            <a:r>
              <a:rPr lang="ko-KR" altLang="en-US" dirty="0"/>
              <a:t>객체에서 </a:t>
            </a:r>
            <a:r>
              <a:rPr lang="en-US" altLang="ko-KR" dirty="0" err="1"/>
              <a:t>getData</a:t>
            </a:r>
            <a:r>
              <a:rPr lang="en-US" altLang="ko-KR" dirty="0"/>
              <a:t>() </a:t>
            </a:r>
            <a:r>
              <a:rPr lang="ko-KR" altLang="en-US" dirty="0"/>
              <a:t>메소드를 이용하여서 필요한 데이터를 꺼내면 된다</a:t>
            </a:r>
            <a:r>
              <a:rPr lang="en-US" altLang="ko-KR" dirty="0"/>
              <a:t>.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003582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1AE321-6829-F048-3332-3DE8D5E4B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  <a:r>
              <a:rPr lang="en-US" altLang="ko-KR" dirty="0"/>
              <a:t>: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F57E66-DB58-5E06-283A-107121544BB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웹 페이지 위에 상품을 </a:t>
            </a:r>
            <a:r>
              <a:rPr lang="ko-KR" altLang="en-US" dirty="0" err="1"/>
              <a:t>드래그하여</a:t>
            </a:r>
            <a:r>
              <a:rPr lang="ko-KR" altLang="en-US" dirty="0"/>
              <a:t> 쇼핑 카트에 넣을 수 있도록 웹페이지를 작성하여 보자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pic>
        <p:nvPicPr>
          <p:cNvPr id="12290" name="_x223834064">
            <a:extLst>
              <a:ext uri="{FF2B5EF4-FFF2-40B4-BE49-F238E27FC236}">
                <a16:creationId xmlns:a16="http://schemas.microsoft.com/office/drawing/2014/main" id="{C56EBDDB-22A1-F4D0-756D-2EAF00A0A7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950" y="2562131"/>
            <a:ext cx="3452712" cy="1733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89" name="_x223834208">
            <a:extLst>
              <a:ext uri="{FF2B5EF4-FFF2-40B4-BE49-F238E27FC236}">
                <a16:creationId xmlns:a16="http://schemas.microsoft.com/office/drawing/2014/main" id="{C6B4279F-80A9-9F94-9505-7ECE4844B7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0642" y="2562131"/>
            <a:ext cx="3452712" cy="1733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71A00CF-E90B-EFD7-617E-BE70EFEE97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70899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</a:p>
        </p:txBody>
      </p:sp>
      <p:sp>
        <p:nvSpPr>
          <p:cNvPr id="4" name="내용 개체 틀 2"/>
          <p:cNvSpPr txBox="1">
            <a:spLocks/>
          </p:cNvSpPr>
          <p:nvPr/>
        </p:nvSpPr>
        <p:spPr bwMode="auto">
          <a:xfrm>
            <a:off x="612648" y="1796735"/>
            <a:ext cx="8212138" cy="4562476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27000" indent="0" latinLnBrk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Font typeface="Symbol" pitchFamily="18" charset="2"/>
              <a:buNone/>
              <a:tabLst>
                <a:tab pos="254000" algn="l"/>
                <a:tab pos="254000" algn="l"/>
              </a:tabLst>
              <a:defRPr kumimoji="1" sz="1600">
                <a:solidFill>
                  <a:srgbClr val="000000"/>
                </a:solidFill>
                <a:latin typeface="Century Schoolbook" panose="02040604050505020304" pitchFamily="18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bg2"/>
              </a:buClr>
              <a:buFont typeface="Symbol" pitchFamily="18" charset="2"/>
              <a:buChar char="·"/>
              <a:defRPr kumimoji="1" sz="2000">
                <a:latin typeface="Century Schoolbook" panose="02040604050505020304" pitchFamily="18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>
                <a:latin typeface="Century Schoolbook" panose="02040604050505020304" pitchFamily="18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600">
                <a:latin typeface="Century Schoolbook" panose="02040604050505020304" pitchFamily="18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Century Schoolbook" panose="020406040505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9pPr>
          </a:lstStyle>
          <a:p>
            <a:pPr marR="0" algn="just" rtl="0"/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&lt;!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DOCTYPE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HTML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&lt;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html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&lt;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head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&lt;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style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    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#shopping_cart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{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       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width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: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450px;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       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height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: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100px;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       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padding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: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10px;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       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border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: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1px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dotted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red;</a:t>
            </a:r>
          </a:p>
          <a:p>
            <a:pPr marR="0" algn="just" rtl="0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   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}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&lt;/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style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&lt;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script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   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function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allowDrop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(e) {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       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e.preventDefault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();</a:t>
            </a:r>
          </a:p>
          <a:p>
            <a:pPr marR="0" algn="just" rtl="0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   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}</a:t>
            </a:r>
          </a:p>
          <a:p>
            <a:pPr marR="0" algn="just" rtl="0"/>
            <a:endParaRPr lang="ko-KR" altLang="en-US" sz="1600" b="0" i="0" u="none" strike="noStrike" baseline="0" dirty="0">
              <a:solidFill>
                <a:srgbClr val="000000"/>
              </a:solidFill>
              <a:latin typeface="Century Schoolbook" panose="02040604050505020304" pitchFamily="18" charset="0"/>
              <a:ea typeface="굴림체" panose="020B0609000101010101" pitchFamily="49" charset="-127"/>
            </a:endParaRP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   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function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handleDragStart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(e) {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       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e.dataTransfer.effectAllowed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= </a:t>
            </a:r>
            <a:r>
              <a:rPr lang="en-US" altLang="ko-KR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'move';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       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e.dataTransfer.setData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(</a:t>
            </a:r>
            <a:r>
              <a:rPr lang="en-US" altLang="ko-KR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"Text"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, e.target.id);</a:t>
            </a:r>
          </a:p>
          <a:p>
            <a:pPr marR="0" algn="just" rtl="0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   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319804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</a:p>
        </p:txBody>
      </p:sp>
      <p:sp>
        <p:nvSpPr>
          <p:cNvPr id="4" name="내용 개체 틀 2"/>
          <p:cNvSpPr txBox="1">
            <a:spLocks/>
          </p:cNvSpPr>
          <p:nvPr/>
        </p:nvSpPr>
        <p:spPr bwMode="auto">
          <a:xfrm>
            <a:off x="465931" y="1724307"/>
            <a:ext cx="8212138" cy="4562476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27000" indent="0" latinLnBrk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Font typeface="Symbol" pitchFamily="18" charset="2"/>
              <a:buNone/>
              <a:tabLst>
                <a:tab pos="254000" algn="l"/>
                <a:tab pos="254000" algn="l"/>
              </a:tabLst>
              <a:defRPr kumimoji="1" sz="1600">
                <a:solidFill>
                  <a:srgbClr val="000000"/>
                </a:solidFill>
                <a:latin typeface="Century Schoolbook" panose="02040604050505020304" pitchFamily="18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bg2"/>
              </a:buClr>
              <a:buFont typeface="Symbol" pitchFamily="18" charset="2"/>
              <a:buChar char="·"/>
              <a:defRPr kumimoji="1" sz="2000">
                <a:latin typeface="Century Schoolbook" panose="02040604050505020304" pitchFamily="18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>
                <a:latin typeface="Century Schoolbook" panose="02040604050505020304" pitchFamily="18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600">
                <a:latin typeface="Century Schoolbook" panose="02040604050505020304" pitchFamily="18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Century Schoolbook" panose="020406040505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9pPr>
          </a:lstStyle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function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handleDrop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(e) {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       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e.preventDefault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();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       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let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src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=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e.dataTransfer.getData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(</a:t>
            </a:r>
            <a:r>
              <a:rPr lang="en-US" altLang="ko-KR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"Text"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);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       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e.target.appendChild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(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document.getElementById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(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src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));</a:t>
            </a:r>
          </a:p>
          <a:p>
            <a:pPr marR="0" algn="just" rtl="0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   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}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&lt;/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script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&lt;/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head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&lt;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body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&gt;</a:t>
            </a:r>
          </a:p>
          <a:p>
            <a:pPr marR="0" algn="just" rtl="0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&lt;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p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&gt;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원하는 물건을 끌어서 옮기세요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.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&lt;/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p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&lt;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div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id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="</a:t>
            </a:r>
            <a:r>
              <a:rPr lang="en-US" altLang="ko-KR" sz="1600" b="0" i="0" u="none" strike="noStrike" baseline="0" dirty="0" err="1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shopping_cart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"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</a:t>
            </a:r>
          </a:p>
          <a:p>
            <a:pPr marR="0" algn="just" rtl="0"/>
            <a:r>
              <a:rPr lang="nl-NL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	ondrop</a:t>
            </a:r>
            <a:r>
              <a:rPr lang="nl-NL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="handleDrop(event)"</a:t>
            </a:r>
            <a:r>
              <a:rPr lang="nl-NL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</a:t>
            </a:r>
            <a:r>
              <a:rPr lang="nl-NL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ondragover</a:t>
            </a:r>
            <a:r>
              <a:rPr lang="nl-NL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="allowDrop(event)"&gt;&lt;/</a:t>
            </a:r>
            <a:r>
              <a:rPr lang="nl-NL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div</a:t>
            </a:r>
            <a:r>
              <a:rPr lang="nl-NL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&lt;</a:t>
            </a:r>
            <a:r>
              <a:rPr lang="en-US" altLang="ko-KR" sz="1600" b="0" i="0" u="none" strike="noStrike" baseline="0" dirty="0" err="1">
                <a:solidFill>
                  <a:srgbClr val="8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br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&lt;</a:t>
            </a:r>
            <a:r>
              <a:rPr lang="en-US" altLang="ko-KR" sz="1600" b="0" i="0" u="none" strike="noStrike" baseline="0" dirty="0" err="1">
                <a:solidFill>
                  <a:srgbClr val="8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img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id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="img1"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</a:t>
            </a:r>
            <a:r>
              <a:rPr lang="en-US" altLang="ko-KR" sz="1600" b="0" i="0" u="none" strike="noStrike" baseline="0" dirty="0" err="1">
                <a:solidFill>
                  <a:srgbClr val="FF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src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="tv.png"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draggable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="true"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	</a:t>
            </a:r>
            <a:r>
              <a:rPr lang="en-US" altLang="ko-KR" sz="1600" b="0" i="0" u="none" strike="noStrike" baseline="0" dirty="0" err="1">
                <a:solidFill>
                  <a:srgbClr val="FF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ondragstart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="</a:t>
            </a:r>
            <a:r>
              <a:rPr lang="en-US" altLang="ko-KR" sz="1600" b="0" i="0" u="none" strike="noStrike" baseline="0" dirty="0" err="1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handleDragStart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(event)"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width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="150"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height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="100"&gt;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&lt;</a:t>
            </a:r>
            <a:r>
              <a:rPr lang="en-US" altLang="ko-KR" sz="1600" b="0" i="0" u="none" strike="noStrike" baseline="0" dirty="0" err="1">
                <a:solidFill>
                  <a:srgbClr val="8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img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id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="img2"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</a:t>
            </a:r>
            <a:r>
              <a:rPr lang="en-US" altLang="ko-KR" sz="1600" b="0" i="0" u="none" strike="noStrike" baseline="0" dirty="0" err="1">
                <a:solidFill>
                  <a:srgbClr val="FF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src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="audio.png"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draggable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="true"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	</a:t>
            </a:r>
            <a:r>
              <a:rPr lang="en-US" altLang="ko-KR" sz="1600" b="0" i="0" u="none" strike="noStrike" baseline="0" dirty="0" err="1">
                <a:solidFill>
                  <a:srgbClr val="FF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ondragstart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="</a:t>
            </a:r>
            <a:r>
              <a:rPr lang="en-US" altLang="ko-KR" sz="1600" b="0" i="0" u="none" strike="noStrike" baseline="0" dirty="0" err="1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handleDragStart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(event)"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width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="150"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height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="100"&gt;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&lt;</a:t>
            </a:r>
            <a:r>
              <a:rPr lang="en-US" altLang="ko-KR" sz="1600" b="0" i="0" u="none" strike="noStrike" baseline="0" dirty="0" err="1">
                <a:solidFill>
                  <a:srgbClr val="8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img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id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="Img3"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</a:t>
            </a:r>
            <a:r>
              <a:rPr lang="en-US" altLang="ko-KR" sz="1600" b="0" i="0" u="none" strike="noStrike" baseline="0" dirty="0" err="1">
                <a:solidFill>
                  <a:srgbClr val="FF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src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="camera.png"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	draggable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="true"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	</a:t>
            </a:r>
            <a:r>
              <a:rPr lang="en-US" altLang="ko-KR" sz="1600" b="0" i="0" u="none" strike="noStrike" baseline="0" dirty="0" err="1">
                <a:solidFill>
                  <a:srgbClr val="FF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ondragstart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="</a:t>
            </a:r>
            <a:r>
              <a:rPr lang="en-US" altLang="ko-KR" sz="1600" b="0" i="0" u="none" strike="noStrike" baseline="0" dirty="0" err="1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handleDragStart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(event)"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width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="150"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height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="100"&gt;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&lt;/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body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&lt;/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html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&gt;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962560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57074B-D75C-FC44-B30C-0A5DE0E6C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Lab: </a:t>
            </a:r>
            <a:r>
              <a:rPr lang="ko-KR" altLang="en-US" dirty="0"/>
              <a:t>드래그</a:t>
            </a:r>
            <a:r>
              <a:rPr lang="en-US" altLang="ko-KR" dirty="0"/>
              <a:t> </a:t>
            </a:r>
            <a:r>
              <a:rPr lang="ko-KR" altLang="en-US" dirty="0"/>
              <a:t>게임 만들기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0AC811-6168-345A-15C3-9435DEC8DF8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12648" y="1545879"/>
            <a:ext cx="8153400" cy="4495800"/>
          </a:xfrm>
        </p:spPr>
        <p:txBody>
          <a:bodyPr/>
          <a:lstStyle/>
          <a:p>
            <a:r>
              <a:rPr lang="ko-KR" altLang="en-US" dirty="0" err="1"/>
              <a:t>드래드</a:t>
            </a:r>
            <a:r>
              <a:rPr lang="en-US" altLang="ko-KR" dirty="0"/>
              <a:t>-</a:t>
            </a:r>
            <a:r>
              <a:rPr lang="ko-KR" altLang="en-US" dirty="0"/>
              <a:t>드롭 기능을 이용하여 게임판에서 타일들을 번호순으로 정렬시키는 게임을 작성해보자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pic>
        <p:nvPicPr>
          <p:cNvPr id="14338" name="_x391626336">
            <a:extLst>
              <a:ext uri="{FF2B5EF4-FFF2-40B4-BE49-F238E27FC236}">
                <a16:creationId xmlns:a16="http://schemas.microsoft.com/office/drawing/2014/main" id="{2E613945-629F-19B1-030D-20890D101B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6181" y="2455862"/>
            <a:ext cx="3095162" cy="2518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337" name="_x391626840">
            <a:extLst>
              <a:ext uri="{FF2B5EF4-FFF2-40B4-BE49-F238E27FC236}">
                <a16:creationId xmlns:a16="http://schemas.microsoft.com/office/drawing/2014/main" id="{F73C821B-9825-2AE7-89B7-15BFBCF7BB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1175" y="2455862"/>
            <a:ext cx="3095162" cy="25180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9E1539E-5D38-050B-8515-300B7BE01B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06325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Sol.</a:t>
            </a:r>
            <a:endParaRPr lang="ko-KR" altLang="en-US" dirty="0"/>
          </a:p>
        </p:txBody>
      </p:sp>
      <p:sp>
        <p:nvSpPr>
          <p:cNvPr id="4" name="내용 개체 틀 2"/>
          <p:cNvSpPr txBox="1">
            <a:spLocks/>
          </p:cNvSpPr>
          <p:nvPr/>
        </p:nvSpPr>
        <p:spPr bwMode="auto">
          <a:xfrm>
            <a:off x="465931" y="1724307"/>
            <a:ext cx="8212138" cy="4562476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27000" indent="0" latinLnBrk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Font typeface="Symbol" pitchFamily="18" charset="2"/>
              <a:buNone/>
              <a:tabLst>
                <a:tab pos="254000" algn="l"/>
                <a:tab pos="254000" algn="l"/>
              </a:tabLst>
              <a:defRPr kumimoji="1" sz="1600">
                <a:solidFill>
                  <a:srgbClr val="000000"/>
                </a:solidFill>
                <a:latin typeface="Century Schoolbook" panose="02040604050505020304" pitchFamily="18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bg2"/>
              </a:buClr>
              <a:buFont typeface="Symbol" pitchFamily="18" charset="2"/>
              <a:buChar char="·"/>
              <a:defRPr kumimoji="1" sz="2000">
                <a:latin typeface="Century Schoolbook" panose="02040604050505020304" pitchFamily="18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>
                <a:latin typeface="Century Schoolbook" panose="02040604050505020304" pitchFamily="18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600">
                <a:latin typeface="Century Schoolbook" panose="02040604050505020304" pitchFamily="18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Century Schoolbook" panose="020406040505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9pPr>
          </a:lstStyle>
          <a:p>
            <a:pPr marR="0" algn="just" rtl="0"/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&lt;!DOCTYPE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html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&lt;html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lang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</a:t>
            </a:r>
            <a:r>
              <a:rPr lang="en-US" altLang="ko-KR" sz="1600" b="0" i="0" u="none" strike="noStrike" baseline="0" dirty="0" err="1">
                <a:solidFill>
                  <a:srgbClr val="0000FF"/>
                </a:solidFill>
                <a:latin typeface="Century Schoolbook" panose="02040604050505020304" pitchFamily="18" charset="0"/>
              </a:rPr>
              <a:t>en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&lt;head&gt;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&lt;style&gt;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body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{           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display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6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flex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        }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#container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{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display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6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flex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border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6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solid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width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6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300px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height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6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300px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flex-wrap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6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wrap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align-items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6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center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.box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{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background-color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rgb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</a:t>
            </a:r>
            <a:r>
              <a:rPr lang="en-US" altLang="ko-KR" sz="16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250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, </a:t>
            </a:r>
            <a:r>
              <a:rPr lang="en-US" altLang="ko-KR" sz="16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246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, </a:t>
            </a:r>
            <a:r>
              <a:rPr lang="en-US" altLang="ko-KR" sz="16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246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border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6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2px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rgb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</a:t>
            </a:r>
            <a:r>
              <a:rPr lang="en-US" altLang="ko-KR" sz="16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230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, </a:t>
            </a:r>
            <a:r>
              <a:rPr lang="en-US" altLang="ko-KR" sz="16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227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, </a:t>
            </a:r>
            <a:r>
              <a:rPr lang="en-US" altLang="ko-KR" sz="16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96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 </a:t>
            </a:r>
            <a:r>
              <a:rPr lang="en-US" altLang="ko-KR" sz="16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solid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width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6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120px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height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6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120px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display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6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flex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align-items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6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center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justify-content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6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center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5176200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Sol.</a:t>
            </a:r>
            <a:endParaRPr lang="ko-KR" altLang="en-US" dirty="0"/>
          </a:p>
        </p:txBody>
      </p:sp>
      <p:sp>
        <p:nvSpPr>
          <p:cNvPr id="4" name="내용 개체 틀 2"/>
          <p:cNvSpPr txBox="1">
            <a:spLocks/>
          </p:cNvSpPr>
          <p:nvPr/>
        </p:nvSpPr>
        <p:spPr bwMode="auto">
          <a:xfrm>
            <a:off x="465931" y="1724307"/>
            <a:ext cx="8212138" cy="4562476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27000" indent="0" latinLnBrk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Font typeface="Symbol" pitchFamily="18" charset="2"/>
              <a:buNone/>
              <a:tabLst>
                <a:tab pos="254000" algn="l"/>
                <a:tab pos="254000" algn="l"/>
              </a:tabLst>
              <a:defRPr kumimoji="1" sz="1600">
                <a:solidFill>
                  <a:srgbClr val="000000"/>
                </a:solidFill>
                <a:latin typeface="Century Schoolbook" panose="02040604050505020304" pitchFamily="18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bg2"/>
              </a:buClr>
              <a:buFont typeface="Symbol" pitchFamily="18" charset="2"/>
              <a:buChar char="·"/>
              <a:defRPr kumimoji="1" sz="2000">
                <a:latin typeface="Century Schoolbook" panose="02040604050505020304" pitchFamily="18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>
                <a:latin typeface="Century Schoolbook" panose="02040604050505020304" pitchFamily="18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600">
                <a:latin typeface="Century Schoolbook" panose="02040604050505020304" pitchFamily="18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Century Schoolbook" panose="020406040505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9pPr>
          </a:lstStyle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.item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{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font-size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6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80px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font-family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6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Arial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, </a:t>
            </a:r>
            <a:r>
              <a:rPr lang="en-US" altLang="ko-KR" sz="16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Helvetica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, </a:t>
            </a:r>
            <a:r>
              <a:rPr lang="en-US" altLang="ko-KR" sz="16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sans-serif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width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6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100px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height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6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100px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background-color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6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#42188f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color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6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#FFF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text-align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600" b="0" i="0" u="none" strike="noStrike" baseline="0" dirty="0">
                <a:solidFill>
                  <a:srgbClr val="0451A5"/>
                </a:solidFill>
                <a:latin typeface="Century Schoolbook" panose="02040604050505020304" pitchFamily="18" charset="0"/>
              </a:rPr>
              <a:t>center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.move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{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background-color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rgb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</a:t>
            </a:r>
            <a:r>
              <a:rPr lang="en-US" altLang="ko-KR" sz="16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230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, </a:t>
            </a:r>
            <a:r>
              <a:rPr lang="en-US" altLang="ko-KR" sz="16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138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, </a:t>
            </a:r>
            <a:r>
              <a:rPr lang="en-US" altLang="ko-KR" sz="16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102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);</a:t>
            </a:r>
          </a:p>
          <a:p>
            <a:pPr marR="0" algn="just" rtl="0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&lt;/style&gt;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7700316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Sol.</a:t>
            </a:r>
            <a:endParaRPr lang="ko-KR" altLang="en-US" dirty="0"/>
          </a:p>
        </p:txBody>
      </p:sp>
      <p:sp>
        <p:nvSpPr>
          <p:cNvPr id="4" name="내용 개체 틀 2"/>
          <p:cNvSpPr txBox="1">
            <a:spLocks/>
          </p:cNvSpPr>
          <p:nvPr/>
        </p:nvSpPr>
        <p:spPr bwMode="auto">
          <a:xfrm>
            <a:off x="465931" y="1724307"/>
            <a:ext cx="8212138" cy="4562476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27000" indent="0" latinLnBrk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Font typeface="Symbol" pitchFamily="18" charset="2"/>
              <a:buNone/>
              <a:tabLst>
                <a:tab pos="254000" algn="l"/>
                <a:tab pos="254000" algn="l"/>
              </a:tabLst>
              <a:defRPr kumimoji="1" sz="1600">
                <a:solidFill>
                  <a:srgbClr val="000000"/>
                </a:solidFill>
                <a:latin typeface="Century Schoolbook" panose="02040604050505020304" pitchFamily="18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bg2"/>
              </a:buClr>
              <a:buFont typeface="Symbol" pitchFamily="18" charset="2"/>
              <a:buChar char="·"/>
              <a:defRPr kumimoji="1" sz="2000">
                <a:latin typeface="Century Schoolbook" panose="02040604050505020304" pitchFamily="18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>
                <a:latin typeface="Century Schoolbook" panose="02040604050505020304" pitchFamily="18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600">
                <a:latin typeface="Century Schoolbook" panose="02040604050505020304" pitchFamily="18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Century Schoolbook" panose="020406040505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9pPr>
          </a:lstStyle>
          <a:p>
            <a:pPr marR="0" algn="just" rtl="0"/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&lt;/head&gt;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&lt;body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onload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</a:t>
            </a:r>
            <a:r>
              <a:rPr lang="en-US" altLang="ko-KR" sz="1600" b="0" i="0" u="none" strike="noStrike" baseline="0" dirty="0" err="1">
                <a:solidFill>
                  <a:srgbClr val="0000FF"/>
                </a:solidFill>
                <a:latin typeface="Century Schoolbook" panose="02040604050505020304" pitchFamily="18" charset="0"/>
              </a:rPr>
              <a:t>init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()"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&lt;div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id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"container"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&lt;div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id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"box1"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class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"box"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&lt;div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id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"item1"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draggable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"true"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class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"item"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2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&lt;/div&gt;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&lt;/div&gt;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&lt;div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id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"box2"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class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"box"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&lt;div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id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"item2"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draggable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"true"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class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"item"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3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&lt;/div&gt;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&lt;/div&gt;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&lt;div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id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"box3"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class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"box"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&lt;div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id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"item3"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draggable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"true"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class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"item"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1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&lt;/div&gt;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&lt;/div&gt;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&lt;div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id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"box4"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class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"box"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&gt;&lt;/div&gt;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&lt;/div&gt;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&lt;script&gt;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727874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Sol.</a:t>
            </a:r>
            <a:endParaRPr lang="ko-KR" altLang="en-US" dirty="0"/>
          </a:p>
        </p:txBody>
      </p:sp>
      <p:sp>
        <p:nvSpPr>
          <p:cNvPr id="4" name="내용 개체 틀 2"/>
          <p:cNvSpPr txBox="1">
            <a:spLocks/>
          </p:cNvSpPr>
          <p:nvPr/>
        </p:nvSpPr>
        <p:spPr bwMode="auto">
          <a:xfrm>
            <a:off x="465931" y="516048"/>
            <a:ext cx="8212138" cy="6192570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27000" indent="0" latinLnBrk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Font typeface="Symbol" pitchFamily="18" charset="2"/>
              <a:buNone/>
              <a:tabLst>
                <a:tab pos="254000" algn="l"/>
                <a:tab pos="254000" algn="l"/>
              </a:tabLst>
              <a:defRPr kumimoji="1" sz="1600">
                <a:solidFill>
                  <a:srgbClr val="000000"/>
                </a:solidFill>
                <a:latin typeface="Century Schoolbook" panose="02040604050505020304" pitchFamily="18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bg2"/>
              </a:buClr>
              <a:buFont typeface="Symbol" pitchFamily="18" charset="2"/>
              <a:buChar char="·"/>
              <a:defRPr kumimoji="1" sz="2000">
                <a:latin typeface="Century Schoolbook" panose="02040604050505020304" pitchFamily="18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>
                <a:latin typeface="Century Schoolbook" panose="02040604050505020304" pitchFamily="18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600">
                <a:latin typeface="Century Schoolbook" panose="02040604050505020304" pitchFamily="18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Century Schoolbook" panose="020406040505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9pPr>
          </a:lstStyle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function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init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() {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let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items =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document.querySelectorAll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</a:t>
            </a:r>
            <a:r>
              <a:rPr lang="en-US" altLang="ko-KR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</a:rPr>
              <a:t>'.item'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items.forEach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function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(item) {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   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item.addEventListener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</a:t>
            </a:r>
            <a:r>
              <a:rPr lang="en-US" altLang="ko-KR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</a:rPr>
              <a:t>'</a:t>
            </a:r>
            <a:r>
              <a:rPr lang="en-US" altLang="ko-KR" sz="1600" b="0" i="0" u="none" strike="noStrike" baseline="0" dirty="0" err="1">
                <a:solidFill>
                  <a:srgbClr val="A31515"/>
                </a:solidFill>
                <a:latin typeface="Century Schoolbook" panose="02040604050505020304" pitchFamily="18" charset="0"/>
              </a:rPr>
              <a:t>dragstart</a:t>
            </a:r>
            <a:r>
              <a:rPr lang="en-US" altLang="ko-KR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</a:rPr>
              <a:t>'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, dragging);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   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item.addEventListener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</a:t>
            </a:r>
            <a:r>
              <a:rPr lang="en-US" altLang="ko-KR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</a:rPr>
              <a:t>'</a:t>
            </a:r>
            <a:r>
              <a:rPr lang="en-US" altLang="ko-KR" sz="1600" b="0" i="0" u="none" strike="noStrike" baseline="0" dirty="0" err="1">
                <a:solidFill>
                  <a:srgbClr val="A31515"/>
                </a:solidFill>
                <a:latin typeface="Century Schoolbook" panose="02040604050505020304" pitchFamily="18" charset="0"/>
              </a:rPr>
              <a:t>dragend</a:t>
            </a:r>
            <a:r>
              <a:rPr lang="en-US" altLang="ko-KR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</a:rPr>
              <a:t>'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,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draggingEnded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);</a:t>
            </a:r>
          </a:p>
          <a:p>
            <a:pPr marR="0" algn="just" rtl="0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});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items =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document.querySelectorAll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</a:t>
            </a:r>
            <a:r>
              <a:rPr lang="en-US" altLang="ko-KR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</a:rPr>
              <a:t>'.box'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items.forEach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function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(item) {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   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item.addEventListener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</a:t>
            </a:r>
            <a:r>
              <a:rPr lang="en-US" altLang="ko-KR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</a:rPr>
              <a:t>'</a:t>
            </a:r>
            <a:r>
              <a:rPr lang="en-US" altLang="ko-KR" sz="1600" b="0" i="0" u="none" strike="noStrike" baseline="0" dirty="0" err="1">
                <a:solidFill>
                  <a:srgbClr val="A31515"/>
                </a:solidFill>
                <a:latin typeface="Century Schoolbook" panose="02040604050505020304" pitchFamily="18" charset="0"/>
              </a:rPr>
              <a:t>dragenter</a:t>
            </a:r>
            <a:r>
              <a:rPr lang="en-US" altLang="ko-KR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</a:rPr>
              <a:t>'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,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preventDefault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   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item.addEventListener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</a:t>
            </a:r>
            <a:r>
              <a:rPr lang="en-US" altLang="ko-KR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</a:rPr>
              <a:t>'</a:t>
            </a:r>
            <a:r>
              <a:rPr lang="en-US" altLang="ko-KR" sz="1600" b="0" i="0" u="none" strike="noStrike" baseline="0" dirty="0" err="1">
                <a:solidFill>
                  <a:srgbClr val="A31515"/>
                </a:solidFill>
                <a:latin typeface="Century Schoolbook" panose="02040604050505020304" pitchFamily="18" charset="0"/>
              </a:rPr>
              <a:t>dragover</a:t>
            </a:r>
            <a:r>
              <a:rPr lang="en-US" altLang="ko-KR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</a:rPr>
              <a:t>'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,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preventDefault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   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item.addEventListener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</a:t>
            </a:r>
            <a:r>
              <a:rPr lang="en-US" altLang="ko-KR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</a:rPr>
              <a:t>'drop'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,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dropItem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);</a:t>
            </a:r>
          </a:p>
          <a:p>
            <a:pPr marR="0" algn="just" rtl="0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});</a:t>
            </a:r>
          </a:p>
          <a:p>
            <a:pPr marR="0" algn="just" rtl="0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function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dragging(e) {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e.target.classList.add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</a:t>
            </a:r>
            <a:r>
              <a:rPr lang="en-US" altLang="ko-KR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</a:rPr>
              <a:t>'move'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e.dataTransfer.setData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</a:t>
            </a:r>
            <a:r>
              <a:rPr lang="en-US" altLang="ko-KR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</a:rPr>
              <a:t>"Text"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, e.target.id);</a:t>
            </a:r>
          </a:p>
          <a:p>
            <a:pPr marR="0" algn="just" rtl="0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function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draggingEnded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(e) {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e.target.classList.remove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</a:t>
            </a:r>
            <a:r>
              <a:rPr lang="en-US" altLang="ko-KR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</a:rPr>
              <a:t>'move'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);</a:t>
            </a:r>
          </a:p>
          <a:p>
            <a:pPr marR="0" algn="just" rtl="0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function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preventDefault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(e) {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e.preventDefault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();</a:t>
            </a:r>
          </a:p>
          <a:p>
            <a:pPr marR="0" algn="just" rtl="0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function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dropItem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(e) {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let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src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=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e.dataTransfer.getData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</a:t>
            </a:r>
            <a:r>
              <a:rPr lang="en-US" altLang="ko-KR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</a:rPr>
              <a:t>"Text"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e.target.appendChild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document.getElementById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src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));</a:t>
            </a:r>
          </a:p>
          <a:p>
            <a:pPr marR="0" algn="just" rtl="0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&lt;/script&gt;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&lt;/body&gt;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&lt;/html&gt;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7971579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b="1" dirty="0" err="1"/>
              <a:t>위치정보</a:t>
            </a:r>
            <a:r>
              <a:rPr lang="en-US" altLang="ko-KR" b="1" dirty="0"/>
              <a:t>(</a:t>
            </a:r>
            <a:r>
              <a:rPr lang="en-US" altLang="ko-KR" b="1" dirty="0" err="1"/>
              <a:t>Geolocation</a:t>
            </a:r>
            <a:r>
              <a:rPr lang="en-US" altLang="ko-KR" b="1" dirty="0"/>
              <a:t>)</a:t>
            </a:r>
            <a:r>
              <a:rPr lang="ko-KR" altLang="en-US" dirty="0"/>
              <a:t>은 자신의 위치를 웹 사이트와 공유</a:t>
            </a:r>
            <a:endParaRPr lang="en-US" altLang="ko-KR" dirty="0"/>
          </a:p>
          <a:p>
            <a:r>
              <a:rPr lang="ko-KR" altLang="en-US" dirty="0"/>
              <a:t>현재 지역의 날씨</a:t>
            </a:r>
            <a:r>
              <a:rPr lang="en-US" altLang="ko-KR" dirty="0"/>
              <a:t>, </a:t>
            </a:r>
            <a:r>
              <a:rPr lang="ko-KR" altLang="en-US" dirty="0"/>
              <a:t>유명한 </a:t>
            </a:r>
            <a:r>
              <a:rPr lang="ko-KR" altLang="en-US" dirty="0" err="1"/>
              <a:t>맛집</a:t>
            </a:r>
            <a:r>
              <a:rPr lang="ko-KR" altLang="en-US" dirty="0"/>
              <a:t> 등의 정보를 제공받을 수 있다</a:t>
            </a:r>
            <a:r>
              <a:rPr lang="en-US" altLang="ko-KR" dirty="0"/>
              <a:t>. </a:t>
            </a:r>
            <a:endParaRPr lang="ko-KR" altLang="en-US" dirty="0"/>
          </a:p>
          <a:p>
            <a:endParaRPr lang="ko-KR" altLang="en-US" dirty="0"/>
          </a:p>
        </p:txBody>
      </p:sp>
      <p:pic>
        <p:nvPicPr>
          <p:cNvPr id="15361" name="_x52718648" descr="EMB00001620449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6219" y="2339974"/>
            <a:ext cx="3611562" cy="3868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제목 4">
            <a:extLst>
              <a:ext uri="{FF2B5EF4-FFF2-40B4-BE49-F238E27FC236}">
                <a16:creationId xmlns:a16="http://schemas.microsoft.com/office/drawing/2014/main" id="{31AE4881-C67C-D158-450C-535BED64F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HTML5 </a:t>
            </a:r>
            <a:r>
              <a:rPr lang="ko-KR" altLang="en-US" dirty="0"/>
              <a:t>위치정보</a:t>
            </a:r>
          </a:p>
        </p:txBody>
      </p:sp>
    </p:spTree>
    <p:extLst>
      <p:ext uri="{BB962C8B-B14F-4D97-AF65-F5344CB8AC3E}">
        <p14:creationId xmlns:p14="http://schemas.microsoft.com/office/powerpoint/2010/main" val="1994472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geolocation</a:t>
            </a:r>
            <a:r>
              <a:rPr lang="en-US" altLang="ko-KR" dirty="0"/>
              <a:t> </a:t>
            </a:r>
            <a:r>
              <a:rPr lang="ko-KR" altLang="en-US" dirty="0"/>
              <a:t>객체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 err="1"/>
              <a:t>var</a:t>
            </a:r>
            <a:r>
              <a:rPr lang="en-US" altLang="ko-KR" dirty="0"/>
              <a:t> </a:t>
            </a:r>
            <a:r>
              <a:rPr lang="en-US" altLang="ko-KR" dirty="0" err="1"/>
              <a:t>geolocation</a:t>
            </a:r>
            <a:r>
              <a:rPr lang="en-US" altLang="ko-KR" dirty="0"/>
              <a:t> = </a:t>
            </a:r>
            <a:r>
              <a:rPr lang="en-US" altLang="ko-KR" dirty="0" err="1"/>
              <a:t>navigator.geolocation</a:t>
            </a:r>
            <a:r>
              <a:rPr lang="en-US" altLang="ko-KR" dirty="0"/>
              <a:t>;</a:t>
            </a:r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18DA01B-49EC-712D-0D6D-9E55181F360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758" y="2379370"/>
            <a:ext cx="7242773" cy="1699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56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D2CFB5-6BA7-730F-6044-EB88AB8AE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getCurrentPosition</a:t>
            </a:r>
            <a:r>
              <a:rPr lang="en-US" altLang="ko-KR" dirty="0"/>
              <a:t>() </a:t>
            </a:r>
            <a:r>
              <a:rPr lang="ko-KR" altLang="en-US" dirty="0"/>
              <a:t>메소드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1B59B5-EC7A-BAFB-C0C7-8C4392526629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 err="1"/>
              <a:t>getCurrentPosition</a:t>
            </a:r>
            <a:r>
              <a:rPr lang="en-US" altLang="ko-KR" dirty="0"/>
              <a:t>() </a:t>
            </a:r>
            <a:r>
              <a:rPr lang="ko-KR" altLang="en-US" dirty="0"/>
              <a:t>메소드는 위치 정보를 가져올 때 사용하는 메소드이다</a:t>
            </a:r>
            <a:r>
              <a:rPr lang="en-US" altLang="ko-KR" dirty="0"/>
              <a:t>. </a:t>
            </a:r>
            <a:r>
              <a:rPr lang="ko-KR" altLang="en-US" dirty="0"/>
              <a:t>위치 정보를 처리하는 함수를 인수로 전달한다</a:t>
            </a:r>
            <a:r>
              <a:rPr lang="en-US" altLang="ko-KR" dirty="0"/>
              <a:t>. </a:t>
            </a:r>
            <a:r>
              <a:rPr lang="ko-KR" altLang="en-US" dirty="0"/>
              <a:t>예를 들어서 다음과 같이 사용할 수 있다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E77513BE-0832-50CE-D47A-34BD32C2ED09}"/>
              </a:ext>
            </a:extLst>
          </p:cNvPr>
          <p:cNvSpPr txBox="1">
            <a:spLocks/>
          </p:cNvSpPr>
          <p:nvPr/>
        </p:nvSpPr>
        <p:spPr bwMode="auto">
          <a:xfrm>
            <a:off x="612648" y="2571184"/>
            <a:ext cx="8212138" cy="1104523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27000" indent="0" latinLnBrk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Font typeface="Symbol" pitchFamily="18" charset="2"/>
              <a:buNone/>
              <a:tabLst>
                <a:tab pos="254000" algn="l"/>
                <a:tab pos="254000" algn="l"/>
              </a:tabLst>
              <a:defRPr kumimoji="1" sz="1600">
                <a:solidFill>
                  <a:srgbClr val="000000"/>
                </a:solidFill>
                <a:latin typeface="Century Schoolbook" panose="02040604050505020304" pitchFamily="18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bg2"/>
              </a:buClr>
              <a:buFont typeface="Symbol" pitchFamily="18" charset="2"/>
              <a:buChar char="·"/>
              <a:defRPr kumimoji="1" sz="2000">
                <a:latin typeface="Century Schoolbook" panose="02040604050505020304" pitchFamily="18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>
                <a:latin typeface="Century Schoolbook" panose="02040604050505020304" pitchFamily="18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600">
                <a:latin typeface="Century Schoolbook" panose="02040604050505020304" pitchFamily="18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Century Schoolbook" panose="020406040505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9pPr>
          </a:lstStyle>
          <a:p>
            <a:pPr marR="0" algn="l" rtl="0"/>
            <a:r>
              <a:rPr lang="en-US" altLang="ko-KR" sz="1600" b="0" i="0" u="none" strike="noStrike" baseline="0" dirty="0">
                <a:solidFill>
                  <a:srgbClr val="0000FF"/>
                </a:solidFill>
                <a:ea typeface="굴림체" panose="020B0609000101010101" pitchFamily="49" charset="-127"/>
              </a:rPr>
              <a:t>function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ea typeface="굴림체" panose="020B0609000101010101" pitchFamily="49" charset="-127"/>
              </a:rPr>
              <a:t>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ea typeface="굴림체" panose="020B0609000101010101" pitchFamily="49" charset="-127"/>
              </a:rPr>
              <a:t>getLocation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ea typeface="굴림체" panose="020B0609000101010101" pitchFamily="49" charset="-127"/>
              </a:rPr>
              <a:t>() {</a:t>
            </a:r>
          </a:p>
          <a:p>
            <a:pPr marR="0" algn="l" rtl="0"/>
            <a:r>
              <a:rPr lang="en-US" altLang="ko-KR" sz="1600" b="0" i="0" u="none" strike="noStrike" baseline="0" dirty="0">
                <a:solidFill>
                  <a:srgbClr val="000000"/>
                </a:solidFill>
                <a:ea typeface="굴림체" panose="020B0609000101010101" pitchFamily="49" charset="-127"/>
              </a:rPr>
              <a:t>  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ea typeface="굴림체" panose="020B0609000101010101" pitchFamily="49" charset="-127"/>
              </a:rPr>
              <a:t>let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ea typeface="굴림체" panose="020B0609000101010101" pitchFamily="49" charset="-127"/>
              </a:rPr>
              <a:t>geolocation =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ea typeface="굴림체" panose="020B0609000101010101" pitchFamily="49" charset="-127"/>
              </a:rPr>
              <a:t>navigator.geolocation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ea typeface="굴림체" panose="020B0609000101010101" pitchFamily="49" charset="-127"/>
              </a:rPr>
              <a:t>;</a:t>
            </a:r>
          </a:p>
          <a:p>
            <a:pPr marR="0" algn="l" rtl="0"/>
            <a:r>
              <a:rPr lang="en-US" altLang="ko-KR" sz="1600" b="0" i="0" u="none" strike="noStrike" baseline="0" dirty="0">
                <a:solidFill>
                  <a:srgbClr val="000000"/>
                </a:solidFill>
                <a:ea typeface="굴림체" panose="020B0609000101010101" pitchFamily="49" charset="-127"/>
              </a:rPr>
              <a:t>  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ea typeface="굴림체" panose="020B0609000101010101" pitchFamily="49" charset="-127"/>
              </a:rPr>
              <a:t>geolocation.getCurrentPosition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ea typeface="굴림체" panose="020B0609000101010101" pitchFamily="49" charset="-127"/>
              </a:rPr>
              <a:t>(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ea typeface="굴림체" panose="020B0609000101010101" pitchFamily="49" charset="-127"/>
              </a:rPr>
              <a:t>showLocation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ea typeface="굴림체" panose="020B0609000101010101" pitchFamily="49" charset="-127"/>
              </a:rPr>
              <a:t>,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ea typeface="굴림체" panose="020B0609000101010101" pitchFamily="49" charset="-127"/>
              </a:rPr>
              <a:t>errorHandler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ea typeface="굴림체" panose="020B0609000101010101" pitchFamily="49" charset="-127"/>
              </a:rPr>
              <a:t>);</a:t>
            </a:r>
          </a:p>
          <a:p>
            <a:pPr marR="0" algn="l" rtl="0"/>
            <a:r>
              <a:rPr lang="en-US" altLang="ko-KR" sz="1600" b="0" i="0" u="none" strike="noStrike" baseline="0" dirty="0">
                <a:solidFill>
                  <a:srgbClr val="000000"/>
                </a:solidFill>
                <a:ea typeface="굴림체" panose="020B0609000101010101" pitchFamily="49" charset="-127"/>
              </a:rPr>
              <a:t>}</a:t>
            </a:r>
            <a:endParaRPr lang="en-US" altLang="ko-KR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61BA1283-52A6-C630-E4A7-252421B23A78}"/>
              </a:ext>
            </a:extLst>
          </p:cNvPr>
          <p:cNvSpPr txBox="1">
            <a:spLocks/>
          </p:cNvSpPr>
          <p:nvPr/>
        </p:nvSpPr>
        <p:spPr bwMode="auto">
          <a:xfrm>
            <a:off x="612648" y="4056707"/>
            <a:ext cx="8212138" cy="1104523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27000" indent="0" latinLnBrk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Font typeface="Symbol" pitchFamily="18" charset="2"/>
              <a:buNone/>
              <a:tabLst>
                <a:tab pos="254000" algn="l"/>
                <a:tab pos="254000" algn="l"/>
              </a:tabLst>
              <a:defRPr kumimoji="1" sz="1600">
                <a:solidFill>
                  <a:srgbClr val="000000"/>
                </a:solidFill>
                <a:latin typeface="Century Schoolbook" panose="02040604050505020304" pitchFamily="18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bg2"/>
              </a:buClr>
              <a:buFont typeface="Symbol" pitchFamily="18" charset="2"/>
              <a:buChar char="·"/>
              <a:defRPr kumimoji="1" sz="2000">
                <a:latin typeface="Century Schoolbook" panose="02040604050505020304" pitchFamily="18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>
                <a:latin typeface="Century Schoolbook" panose="02040604050505020304" pitchFamily="18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600">
                <a:latin typeface="Century Schoolbook" panose="02040604050505020304" pitchFamily="18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Century Schoolbook" panose="020406040505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9pPr>
          </a:lstStyle>
          <a:p>
            <a:pPr marR="0" algn="l" rtl="0"/>
            <a:r>
              <a:rPr lang="en-US" altLang="ko-KR" sz="1600" b="0" i="0" u="none" strike="noStrike" baseline="0" dirty="0">
                <a:solidFill>
                  <a:srgbClr val="0000FF"/>
                </a:solidFill>
                <a:ea typeface="굴림체" panose="020B0609000101010101" pitchFamily="49" charset="-127"/>
              </a:rPr>
              <a:t>function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ea typeface="굴림체" panose="020B0609000101010101" pitchFamily="49" charset="-127"/>
              </a:rPr>
              <a:t>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ea typeface="굴림체" panose="020B0609000101010101" pitchFamily="49" charset="-127"/>
              </a:rPr>
              <a:t>showLocation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ea typeface="굴림체" panose="020B0609000101010101" pitchFamily="49" charset="-127"/>
              </a:rPr>
              <a:t>( position ) {</a:t>
            </a:r>
          </a:p>
          <a:p>
            <a:pPr marR="0" algn="l" rtl="0"/>
            <a:r>
              <a:rPr lang="en-US" altLang="ko-KR" sz="1600" b="0" i="0" u="none" strike="noStrike" baseline="0" dirty="0">
                <a:solidFill>
                  <a:srgbClr val="000000"/>
                </a:solidFill>
                <a:ea typeface="굴림체" panose="020B0609000101010101" pitchFamily="49" charset="-127"/>
              </a:rPr>
              <a:t> 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ea typeface="굴림체" panose="020B0609000101010101" pitchFamily="49" charset="-127"/>
              </a:rPr>
              <a:t>let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ea typeface="굴림체" panose="020B0609000101010101" pitchFamily="49" charset="-127"/>
              </a:rPr>
              <a:t> latitude =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ea typeface="굴림체" panose="020B0609000101010101" pitchFamily="49" charset="-127"/>
              </a:rPr>
              <a:t>position.coords.latitude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ea typeface="굴림체" panose="020B0609000101010101" pitchFamily="49" charset="-127"/>
              </a:rPr>
              <a:t>;</a:t>
            </a:r>
          </a:p>
          <a:p>
            <a:pPr marR="0" algn="l" rtl="0"/>
            <a:r>
              <a:rPr lang="en-US" altLang="ko-KR" sz="1600" b="0" i="0" u="none" strike="noStrike" baseline="0" dirty="0">
                <a:solidFill>
                  <a:srgbClr val="000000"/>
                </a:solidFill>
                <a:ea typeface="굴림체" panose="020B0609000101010101" pitchFamily="49" charset="-127"/>
              </a:rPr>
              <a:t> 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ea typeface="굴림체" panose="020B0609000101010101" pitchFamily="49" charset="-127"/>
              </a:rPr>
              <a:t>let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ea typeface="굴림체" panose="020B0609000101010101" pitchFamily="49" charset="-127"/>
              </a:rPr>
              <a:t>longitude =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ea typeface="굴림체" panose="020B0609000101010101" pitchFamily="49" charset="-127"/>
              </a:rPr>
              <a:t>position.coords.longitude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ea typeface="굴림체" panose="020B0609000101010101" pitchFamily="49" charset="-127"/>
              </a:rPr>
              <a:t>;</a:t>
            </a:r>
          </a:p>
          <a:p>
            <a:pPr marR="0" algn="l" rtl="0"/>
            <a:r>
              <a:rPr lang="ko-KR" altLang="en-US" sz="1600" b="0" i="0" u="none" strike="noStrike" baseline="0" dirty="0">
                <a:solidFill>
                  <a:srgbClr val="000000"/>
                </a:solidFill>
                <a:ea typeface="굴림체" panose="020B0609000101010101" pitchFamily="49" charset="-127"/>
              </a:rPr>
              <a:t> 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ea typeface="굴림체" panose="020B0609000101010101" pitchFamily="49" charset="-127"/>
              </a:rPr>
              <a:t>...</a:t>
            </a:r>
          </a:p>
          <a:p>
            <a:pPr marR="0" algn="l" rtl="0"/>
            <a:r>
              <a:rPr lang="en-US" altLang="ko-KR" sz="1600" b="0" i="0" u="none" strike="noStrike" baseline="0" dirty="0">
                <a:solidFill>
                  <a:srgbClr val="000000"/>
                </a:solidFill>
                <a:ea typeface="굴림체" panose="020B0609000101010101" pitchFamily="49" charset="-127"/>
              </a:rPr>
              <a:t>}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206768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26596D-F63D-A71E-8147-59522D040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postion</a:t>
            </a:r>
            <a:r>
              <a:rPr lang="en-US" altLang="ko-KR" dirty="0"/>
              <a:t> </a:t>
            </a:r>
            <a:r>
              <a:rPr lang="ko-KR" altLang="en-US" dirty="0"/>
              <a:t>인수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0BE59236-6E1F-55A4-810E-FA94850B2F94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648" y="1727350"/>
            <a:ext cx="8153400" cy="2304060"/>
          </a:xfrm>
        </p:spPr>
      </p:pic>
    </p:spTree>
    <p:extLst>
      <p:ext uri="{BB962C8B-B14F-4D97-AF65-F5344CB8AC3E}">
        <p14:creationId xmlns:p14="http://schemas.microsoft.com/office/powerpoint/2010/main" val="38610591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</a:p>
        </p:txBody>
      </p:sp>
      <p:sp>
        <p:nvSpPr>
          <p:cNvPr id="4" name="내용 개체 틀 2"/>
          <p:cNvSpPr txBox="1">
            <a:spLocks/>
          </p:cNvSpPr>
          <p:nvPr/>
        </p:nvSpPr>
        <p:spPr bwMode="auto">
          <a:xfrm>
            <a:off x="612648" y="1642826"/>
            <a:ext cx="8212138" cy="4562476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27000" indent="0" latinLnBrk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Font typeface="Symbol" pitchFamily="18" charset="2"/>
              <a:buNone/>
              <a:tabLst>
                <a:tab pos="254000" algn="l"/>
                <a:tab pos="254000" algn="l"/>
              </a:tabLst>
              <a:defRPr kumimoji="1" sz="1600">
                <a:solidFill>
                  <a:srgbClr val="000000"/>
                </a:solidFill>
                <a:latin typeface="Century Schoolbook" panose="02040604050505020304" pitchFamily="18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bg2"/>
              </a:buClr>
              <a:buFont typeface="Symbol" pitchFamily="18" charset="2"/>
              <a:buChar char="·"/>
              <a:defRPr kumimoji="1" sz="2000">
                <a:latin typeface="Century Schoolbook" panose="02040604050505020304" pitchFamily="18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>
                <a:latin typeface="Century Schoolbook" panose="02040604050505020304" pitchFamily="18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600">
                <a:latin typeface="Century Schoolbook" panose="02040604050505020304" pitchFamily="18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Century Schoolbook" panose="020406040505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9pPr>
          </a:lstStyle>
          <a:p>
            <a:pPr marR="0" algn="just" rtl="0"/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&lt;!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DOCTYPE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html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&lt;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html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&lt;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body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&lt;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button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onclick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="</a:t>
            </a:r>
            <a:r>
              <a:rPr lang="en-US" altLang="ko-KR" sz="1600" b="0" i="0" u="none" strike="noStrike" baseline="0" dirty="0" err="1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getGeolocation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()"&gt;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위치 정보 얻기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&lt;/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button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&lt;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div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id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="target"&gt;&lt;/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div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&lt;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script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   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let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myDiv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=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document.getElementById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(</a:t>
            </a:r>
            <a:r>
              <a:rPr lang="en-US" altLang="ko-KR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"target"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);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   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function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getGeolocation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() {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       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if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(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navigator.geolocation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) {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           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navigator.geolocation.getCurrentPosition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(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showLocation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);</a:t>
            </a:r>
          </a:p>
          <a:p>
            <a:pPr marR="0" algn="just" rtl="0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       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}</a:t>
            </a:r>
          </a:p>
          <a:p>
            <a:pPr marR="0" algn="just" rtl="0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   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}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   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function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showLocation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(location) {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       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myDiv.innerHTML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= </a:t>
            </a:r>
            <a:r>
              <a:rPr lang="en-US" altLang="ko-KR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"(</a:t>
            </a:r>
            <a:r>
              <a:rPr lang="ko-KR" altLang="en-US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위도</a:t>
            </a:r>
            <a:r>
              <a:rPr lang="en-US" altLang="ko-KR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: "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+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location.coords.latitude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+</a:t>
            </a:r>
          </a:p>
          <a:p>
            <a:pPr marR="0" algn="just" rtl="0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        </a:t>
            </a:r>
            <a:r>
              <a:rPr lang="en-US" altLang="ko-KR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", </a:t>
            </a:r>
            <a:r>
              <a:rPr lang="ko-KR" altLang="en-US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경도</a:t>
            </a:r>
            <a:r>
              <a:rPr lang="en-US" altLang="ko-KR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: "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+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location.coords.longitude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+ </a:t>
            </a:r>
            <a:r>
              <a:rPr lang="en-US" altLang="ko-KR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")"</a:t>
            </a:r>
          </a:p>
          <a:p>
            <a:pPr marR="0" algn="just" rtl="0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   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}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&lt;/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script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&lt;/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body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&lt;/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html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&gt;</a:t>
            </a:r>
            <a:endParaRPr lang="en-US" altLang="ko-KR" dirty="0"/>
          </a:p>
        </p:txBody>
      </p:sp>
      <p:pic>
        <p:nvPicPr>
          <p:cNvPr id="1026" name="_x395613320">
            <a:extLst>
              <a:ext uri="{FF2B5EF4-FFF2-40B4-BE49-F238E27FC236}">
                <a16:creationId xmlns:a16="http://schemas.microsoft.com/office/drawing/2014/main" id="{4A5E5027-C617-C2B8-0C8E-4349697E88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9657" y="5350598"/>
            <a:ext cx="2715242" cy="108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_x395643992">
            <a:extLst>
              <a:ext uri="{FF2B5EF4-FFF2-40B4-BE49-F238E27FC236}">
                <a16:creationId xmlns:a16="http://schemas.microsoft.com/office/drawing/2014/main" id="{6F118A7F-1B1D-7DD8-14EB-08E61496CA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0807" y="5350598"/>
            <a:ext cx="2715242" cy="108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2F750A08-3713-9ED5-513B-FC81BF5403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08409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0E0A49-11E1-9A30-D68C-6D8747769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이동하면서 위치 정보를 얻는 방법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80C675-CFFE-0CCB-320D-D33627584E38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사용자가 이동하면서 주기적으로 위치정보를 얻으려면 </a:t>
            </a:r>
            <a:r>
              <a:rPr lang="en-US" altLang="ko-KR" dirty="0"/>
              <a:t>geolocation </a:t>
            </a:r>
            <a:r>
              <a:rPr lang="ko-KR" altLang="en-US" dirty="0"/>
              <a:t>객체의 </a:t>
            </a:r>
            <a:r>
              <a:rPr lang="en-US" altLang="ko-KR" dirty="0" err="1"/>
              <a:t>watchPosition</a:t>
            </a:r>
            <a:r>
              <a:rPr lang="en-US" altLang="ko-KR" dirty="0"/>
              <a:t>()</a:t>
            </a:r>
            <a:r>
              <a:rPr lang="ko-KR" altLang="en-US" dirty="0"/>
              <a:t>을 호출하여 </a:t>
            </a:r>
            <a:r>
              <a:rPr lang="ko-KR" altLang="en-US" dirty="0" err="1"/>
              <a:t>콜백</a:t>
            </a:r>
            <a:r>
              <a:rPr lang="ko-KR" altLang="en-US" dirty="0"/>
              <a:t> 메소드를 등록한다</a:t>
            </a:r>
            <a:r>
              <a:rPr lang="en-US" altLang="ko-KR" dirty="0"/>
              <a:t>. </a:t>
            </a:r>
            <a:r>
              <a:rPr lang="ko-KR" altLang="en-US" dirty="0" err="1"/>
              <a:t>콜백</a:t>
            </a:r>
            <a:r>
              <a:rPr lang="ko-KR" altLang="en-US" dirty="0"/>
              <a:t> 메소드가 주기적으로 호출되면서 업데이트된 위치정보를 얻을 수 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 err="1"/>
              <a:t>watchPosition</a:t>
            </a:r>
            <a:r>
              <a:rPr lang="en-US" altLang="ko-KR" dirty="0"/>
              <a:t>() - </a:t>
            </a:r>
            <a:r>
              <a:rPr lang="ko-KR" altLang="en-US" dirty="0"/>
              <a:t>사용자의 현재 위치를 연속하여 출력한다</a:t>
            </a:r>
            <a:r>
              <a:rPr lang="en-US" altLang="ko-KR" dirty="0"/>
              <a:t>. </a:t>
            </a:r>
            <a:r>
              <a:rPr lang="ko-KR" altLang="en-US" dirty="0"/>
              <a:t>자동차처럼 사용자가 이동하고 있으면 계속 업데이트된 위치를 반환한다</a:t>
            </a:r>
            <a:r>
              <a:rPr lang="en-US" altLang="ko-KR" dirty="0"/>
              <a:t>.</a:t>
            </a:r>
          </a:p>
          <a:p>
            <a:r>
              <a:rPr lang="en-US" altLang="ko-KR" dirty="0" err="1"/>
              <a:t>clearWatch</a:t>
            </a:r>
            <a:r>
              <a:rPr lang="en-US" altLang="ko-KR" dirty="0"/>
              <a:t>() - </a:t>
            </a:r>
            <a:r>
              <a:rPr lang="en-US" altLang="ko-KR" dirty="0" err="1"/>
              <a:t>watchPosition</a:t>
            </a:r>
            <a:r>
              <a:rPr lang="en-US" altLang="ko-KR" dirty="0"/>
              <a:t>() </a:t>
            </a:r>
            <a:r>
              <a:rPr lang="ko-KR" altLang="en-US" dirty="0"/>
              <a:t>메서드를 중지한다</a:t>
            </a:r>
            <a:r>
              <a:rPr lang="en-US" altLang="ko-KR" dirty="0"/>
              <a:t>. 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809248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</a:p>
        </p:txBody>
      </p:sp>
      <p:sp>
        <p:nvSpPr>
          <p:cNvPr id="4" name="내용 개체 틀 2"/>
          <p:cNvSpPr txBox="1">
            <a:spLocks/>
          </p:cNvSpPr>
          <p:nvPr/>
        </p:nvSpPr>
        <p:spPr bwMode="auto">
          <a:xfrm>
            <a:off x="612648" y="1023042"/>
            <a:ext cx="8212138" cy="5606358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27000" indent="0" latinLnBrk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Font typeface="Symbol" pitchFamily="18" charset="2"/>
              <a:buNone/>
              <a:tabLst>
                <a:tab pos="254000" algn="l"/>
                <a:tab pos="254000" algn="l"/>
              </a:tabLst>
              <a:defRPr kumimoji="1" sz="1600">
                <a:solidFill>
                  <a:srgbClr val="000000"/>
                </a:solidFill>
                <a:latin typeface="Century Schoolbook" panose="02040604050505020304" pitchFamily="18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bg2"/>
              </a:buClr>
              <a:buFont typeface="Symbol" pitchFamily="18" charset="2"/>
              <a:buChar char="·"/>
              <a:defRPr kumimoji="1" sz="2000">
                <a:latin typeface="Century Schoolbook" panose="02040604050505020304" pitchFamily="18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>
                <a:latin typeface="Century Schoolbook" panose="02040604050505020304" pitchFamily="18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600">
                <a:latin typeface="Century Schoolbook" panose="02040604050505020304" pitchFamily="18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Century Schoolbook" panose="020406040505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9pPr>
          </a:lstStyle>
          <a:p>
            <a:pPr marR="0" algn="just" rtl="0"/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&lt;!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DOCTYPE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html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&lt;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html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&lt;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body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&lt;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button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onclick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="</a:t>
            </a:r>
            <a:r>
              <a:rPr lang="en-US" altLang="ko-KR" sz="1600" b="0" i="0" u="none" strike="noStrike" baseline="0" dirty="0" err="1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startGeolocation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()"&gt;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위치 정보 시작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&lt;/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button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&lt;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button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onclick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="</a:t>
            </a:r>
            <a:r>
              <a:rPr lang="en-US" altLang="ko-KR" sz="1600" b="0" i="0" u="none" strike="noStrike" baseline="0" dirty="0" err="1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stopGeolocation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()"&gt;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위치 정보 중지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&lt;/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button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&lt;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div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id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="target"&gt;&lt;/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div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&lt;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script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   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let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id;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   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let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myDiv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=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document.getElementById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(</a:t>
            </a:r>
            <a:r>
              <a:rPr lang="en-US" altLang="ko-KR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"target"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);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   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function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startGeolocation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() {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       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if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(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navigator.geolocation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) {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            id =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navigator.geolocation.watchPosition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(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showGeolocation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);</a:t>
            </a:r>
          </a:p>
          <a:p>
            <a:pPr marR="0" algn="just" rtl="0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       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}</a:t>
            </a:r>
          </a:p>
          <a:p>
            <a:pPr marR="0" algn="just" rtl="0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   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}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   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function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showGeolocation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(location) {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       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myDiv.innerHTML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= </a:t>
            </a:r>
            <a:r>
              <a:rPr lang="en-US" altLang="ko-KR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"(</a:t>
            </a:r>
            <a:r>
              <a:rPr lang="ko-KR" altLang="en-US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위도</a:t>
            </a:r>
            <a:r>
              <a:rPr lang="en-US" altLang="ko-KR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: "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+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location.coords.latitude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+</a:t>
            </a:r>
          </a:p>
          <a:p>
            <a:pPr marR="0" algn="just" rtl="0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        </a:t>
            </a:r>
            <a:r>
              <a:rPr lang="en-US" altLang="ko-KR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", </a:t>
            </a:r>
            <a:r>
              <a:rPr lang="ko-KR" altLang="en-US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경도</a:t>
            </a:r>
            <a:r>
              <a:rPr lang="en-US" altLang="ko-KR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: "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+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location.coords.longitude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+ </a:t>
            </a:r>
            <a:r>
              <a:rPr lang="en-US" altLang="ko-KR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")";</a:t>
            </a:r>
          </a:p>
          <a:p>
            <a:pPr marR="0" algn="just" rtl="0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   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}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   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function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stopGeolocation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() {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       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if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(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navigator.geolocation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) {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           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navigator.geolocation.clearWatch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(id);</a:t>
            </a:r>
          </a:p>
          <a:p>
            <a:pPr marR="0" algn="just" rtl="0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       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}</a:t>
            </a:r>
          </a:p>
          <a:p>
            <a:pPr marR="0" algn="just" rtl="0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   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}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&lt;/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script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&lt;/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body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&lt;/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html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&gt;</a:t>
            </a:r>
            <a:endParaRPr lang="en-US" altLang="ko-KR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F750A08-3713-9ED5-513B-FC81BF5403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2049" name="_x391627488">
            <a:extLst>
              <a:ext uri="{FF2B5EF4-FFF2-40B4-BE49-F238E27FC236}">
                <a16:creationId xmlns:a16="http://schemas.microsoft.com/office/drawing/2014/main" id="{E06A75EA-CAEF-C01F-BB97-00744E089A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0432" y="5355124"/>
            <a:ext cx="3168712" cy="1352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81740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29C24C-1F22-91B1-FC60-0DF982015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Open Street Map </a:t>
            </a:r>
            <a:r>
              <a:rPr lang="ko-KR" altLang="en-US" dirty="0"/>
              <a:t>지도 이용하기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B3498F-3196-4DC0-3D20-D317D254B98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지도에 결과를 표시하기 위해서는</a:t>
            </a:r>
            <a:r>
              <a:rPr lang="en-US" altLang="ko-KR" dirty="0"/>
              <a:t>, </a:t>
            </a:r>
            <a:r>
              <a:rPr lang="ko-KR" altLang="en-US" dirty="0"/>
              <a:t>구글 맵</a:t>
            </a:r>
            <a:r>
              <a:rPr lang="en-US" altLang="ko-KR" dirty="0"/>
              <a:t>(Google Map)</a:t>
            </a:r>
            <a:r>
              <a:rPr lang="ko-KR" altLang="en-US" dirty="0"/>
              <a:t>처럼 위도 및 경도를 사용할 수 있는 지도 서비스에 대한 액세스가 필요하다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오픈 지도 서비스인 </a:t>
            </a:r>
            <a:r>
              <a:rPr lang="en-US" altLang="ko-KR" dirty="0"/>
              <a:t>Open Street Map</a:t>
            </a:r>
            <a:r>
              <a:rPr lang="ko-KR" altLang="en-US" dirty="0"/>
              <a:t>을 사용해보자</a:t>
            </a:r>
            <a:r>
              <a:rPr lang="en-US" altLang="ko-KR" dirty="0"/>
              <a:t>. </a:t>
            </a:r>
            <a:r>
              <a:rPr lang="ko-KR" altLang="en-US" dirty="0"/>
              <a:t>지도 타일 ​​이미지는 </a:t>
            </a:r>
            <a:r>
              <a:rPr lang="en-US" altLang="ko-KR" dirty="0"/>
              <a:t>OpenStreetMap </a:t>
            </a:r>
            <a:r>
              <a:rPr lang="ko-KR" altLang="en-US" dirty="0"/>
              <a:t>서버에서 가져온다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644612C-E9D4-24F6-B0CA-D21160F210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3073" name="_x395674160">
            <a:extLst>
              <a:ext uri="{FF2B5EF4-FFF2-40B4-BE49-F238E27FC236}">
                <a16:creationId xmlns:a16="http://schemas.microsoft.com/office/drawing/2014/main" id="{7A35CD5C-9D96-F089-DAEA-5949DF31A4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1394" y="3082706"/>
            <a:ext cx="6713593" cy="3091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01697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335237-C94E-6A02-849C-73C4B29A5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40B513-2AB4-CBBA-1615-8A36E61F9E3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우리는 </a:t>
            </a:r>
            <a:r>
              <a:rPr lang="en-US" altLang="ko-KR" dirty="0"/>
              <a:t>Leaflet </a:t>
            </a:r>
            <a:r>
              <a:rPr lang="ko-KR" altLang="en-US" dirty="0"/>
              <a:t>라이브러리를 통하여 </a:t>
            </a:r>
            <a:r>
              <a:rPr lang="en-US" altLang="ko-KR" dirty="0"/>
              <a:t>Open Street Map</a:t>
            </a:r>
            <a:r>
              <a:rPr lang="ko-KR" altLang="en-US" dirty="0"/>
              <a:t>을 사용해보자</a:t>
            </a:r>
            <a:r>
              <a:rPr lang="en-US" altLang="ko-KR" dirty="0"/>
              <a:t>. </a:t>
            </a:r>
            <a:r>
              <a:rPr lang="ko-KR" altLang="en-US" dirty="0"/>
              <a:t>서울을 중심으로 지도를 표시하고 서울에 마커를 표시한다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264DC4F-3BE9-EE1E-3C09-D011148A60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4097" name="_x391625976">
            <a:extLst>
              <a:ext uri="{FF2B5EF4-FFF2-40B4-BE49-F238E27FC236}">
                <a16:creationId xmlns:a16="http://schemas.microsoft.com/office/drawing/2014/main" id="{72A57C9B-B54E-50FD-6175-26A1F74CD9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4276" y="2458016"/>
            <a:ext cx="6450143" cy="3520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97924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F3CC6F-93A1-5973-26BB-E432A8679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Open Street Map </a:t>
            </a:r>
            <a:r>
              <a:rPr lang="ko-KR" altLang="en-US" dirty="0"/>
              <a:t>지도 이용하기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161CF6-4A6F-3C5C-BE52-5D41751A38A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Leaflet CSS </a:t>
            </a:r>
            <a:r>
              <a:rPr lang="ko-KR" altLang="en-US" dirty="0"/>
              <a:t>소스를 포함하여야 한다</a:t>
            </a:r>
            <a:r>
              <a:rPr lang="en-US" altLang="ko-KR" dirty="0"/>
              <a:t>. </a:t>
            </a:r>
          </a:p>
          <a:p>
            <a:r>
              <a:rPr lang="en-US" altLang="ko-KR" dirty="0"/>
              <a:t>Leaflet </a:t>
            </a:r>
            <a:r>
              <a:rPr lang="ko-KR" altLang="en-US" dirty="0"/>
              <a:t>라이브러리 소스를 포함하여야 한다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지도 컨테이너로 사용할 </a:t>
            </a:r>
            <a:r>
              <a:rPr lang="en-US" altLang="ko-KR" dirty="0"/>
              <a:t>&lt;div&gt;  </a:t>
            </a:r>
            <a:r>
              <a:rPr lang="ko-KR" altLang="en-US" dirty="0"/>
              <a:t>요소가 필요하다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간단한 지도를 만드는 자바스크립트 코드가 필요하다</a:t>
            </a:r>
            <a:r>
              <a:rPr lang="en-US" altLang="ko-KR" dirty="0"/>
              <a:t>.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76384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</a:p>
        </p:txBody>
      </p:sp>
      <p:sp>
        <p:nvSpPr>
          <p:cNvPr id="4" name="내용 개체 틀 2"/>
          <p:cNvSpPr txBox="1">
            <a:spLocks/>
          </p:cNvSpPr>
          <p:nvPr/>
        </p:nvSpPr>
        <p:spPr bwMode="auto">
          <a:xfrm>
            <a:off x="612648" y="1023042"/>
            <a:ext cx="8212138" cy="5606358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27000" indent="0" latinLnBrk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Font typeface="Symbol" pitchFamily="18" charset="2"/>
              <a:buNone/>
              <a:tabLst>
                <a:tab pos="254000" algn="l"/>
                <a:tab pos="254000" algn="l"/>
              </a:tabLst>
              <a:defRPr kumimoji="1" sz="1600">
                <a:solidFill>
                  <a:srgbClr val="000000"/>
                </a:solidFill>
                <a:latin typeface="Century Schoolbook" panose="02040604050505020304" pitchFamily="18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bg2"/>
              </a:buClr>
              <a:buFont typeface="Symbol" pitchFamily="18" charset="2"/>
              <a:buChar char="·"/>
              <a:defRPr kumimoji="1" sz="2000">
                <a:latin typeface="Century Schoolbook" panose="02040604050505020304" pitchFamily="18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>
                <a:latin typeface="Century Schoolbook" panose="02040604050505020304" pitchFamily="18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600">
                <a:latin typeface="Century Schoolbook" panose="02040604050505020304" pitchFamily="18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Century Schoolbook" panose="020406040505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9pPr>
          </a:lstStyle>
          <a:p>
            <a:pPr marR="0" algn="just" rtl="0"/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&lt;html&gt;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&lt;head&gt;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&lt;link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600" b="0" i="0" u="none" strike="noStrike" baseline="0" dirty="0" err="1">
                <a:solidFill>
                  <a:srgbClr val="FF0000"/>
                </a:solidFill>
                <a:latin typeface="Century Schoolbook" panose="02040604050505020304" pitchFamily="18" charset="0"/>
              </a:rPr>
              <a:t>rel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"stylesheet" </a:t>
            </a:r>
            <a:r>
              <a:rPr lang="en-US" altLang="ko-KR" sz="1600" b="0" i="0" u="none" strike="noStrike" baseline="0" dirty="0" err="1">
                <a:solidFill>
                  <a:srgbClr val="FF0000"/>
                </a:solidFill>
                <a:latin typeface="Century Schoolbook" panose="02040604050505020304" pitchFamily="18" charset="0"/>
              </a:rPr>
              <a:t>href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"https://unpkg.com/leaflet@1.8.0/</a:t>
            </a:r>
            <a:r>
              <a:rPr lang="en-US" altLang="ko-KR" sz="1600" b="0" i="0" u="none" strike="noStrike" baseline="0" dirty="0" err="1">
                <a:solidFill>
                  <a:srgbClr val="0000FF"/>
                </a:solidFill>
                <a:latin typeface="Century Schoolbook" panose="02040604050505020304" pitchFamily="18" charset="0"/>
              </a:rPr>
              <a:t>dist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/leaflet.css"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/&gt;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&lt;script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600" b="0" i="0" u="none" strike="noStrike" baseline="0" dirty="0" err="1">
                <a:solidFill>
                  <a:srgbClr val="FF0000"/>
                </a:solidFill>
                <a:latin typeface="Century Schoolbook" panose="02040604050505020304" pitchFamily="18" charset="0"/>
              </a:rPr>
              <a:t>src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"https://unpkg.com/leaflet@1.8.0/</a:t>
            </a:r>
            <a:r>
              <a:rPr lang="en-US" altLang="ko-KR" sz="1600" b="0" i="0" u="none" strike="noStrike" baseline="0" dirty="0" err="1">
                <a:solidFill>
                  <a:srgbClr val="0000FF"/>
                </a:solidFill>
                <a:latin typeface="Century Schoolbook" panose="02040604050505020304" pitchFamily="18" charset="0"/>
              </a:rPr>
              <a:t>dist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/leaflet.js"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&gt;&lt;/script&gt;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&lt;style&gt;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#map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{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width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6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100%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height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: </a:t>
            </a:r>
            <a:r>
              <a:rPr lang="en-US" altLang="ko-KR" sz="16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100vh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;</a:t>
            </a:r>
          </a:p>
          <a:p>
            <a:pPr marR="0" algn="just" rtl="0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&lt;/style&gt;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&lt;/head&gt;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&lt;body&gt;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&lt;div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</a:rPr>
              <a:t> id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=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"map"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&gt;&lt;/div&gt;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&lt;script&gt;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let</a:t>
            </a:r>
            <a:r>
              <a:rPr lang="en-US" altLang="ko-KR" sz="1600" b="0" i="0" u="none" strike="noStrike" baseline="0" dirty="0">
                <a:solidFill>
                  <a:srgbClr val="001080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600" b="0" i="0" u="none" strike="noStrike" baseline="0" dirty="0" err="1">
                <a:solidFill>
                  <a:srgbClr val="001080"/>
                </a:solidFill>
                <a:latin typeface="Century Schoolbook" panose="02040604050505020304" pitchFamily="18" charset="0"/>
              </a:rPr>
              <a:t>mapOptions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= {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600" b="0" i="0" u="none" strike="noStrike" baseline="0" dirty="0">
                <a:solidFill>
                  <a:srgbClr val="001080"/>
                </a:solidFill>
                <a:latin typeface="Century Schoolbook" panose="02040604050505020304" pitchFamily="18" charset="0"/>
              </a:rPr>
              <a:t>center: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[</a:t>
            </a:r>
            <a:r>
              <a:rPr lang="en-US" altLang="ko-KR" sz="16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37.562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, </a:t>
            </a:r>
            <a:r>
              <a:rPr lang="en-US" altLang="ko-KR" sz="16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126.9793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],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    </a:t>
            </a:r>
            <a:r>
              <a:rPr lang="en-US" altLang="ko-KR" sz="1600" b="0" i="0" u="none" strike="noStrike" baseline="0" dirty="0">
                <a:solidFill>
                  <a:srgbClr val="001080"/>
                </a:solidFill>
                <a:latin typeface="Century Schoolbook" panose="02040604050505020304" pitchFamily="18" charset="0"/>
              </a:rPr>
              <a:t>zoom:</a:t>
            </a:r>
            <a:r>
              <a:rPr lang="en-US" altLang="ko-KR" sz="16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10</a:t>
            </a:r>
          </a:p>
          <a:p>
            <a:pPr marR="0" algn="just" rtl="0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}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let</a:t>
            </a:r>
            <a:r>
              <a:rPr lang="en-US" altLang="ko-KR" sz="1600" b="0" i="0" u="none" strike="noStrike" baseline="0" dirty="0">
                <a:solidFill>
                  <a:srgbClr val="001080"/>
                </a:solidFill>
                <a:latin typeface="Century Schoolbook" panose="02040604050505020304" pitchFamily="18" charset="0"/>
              </a:rPr>
              <a:t> map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=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new</a:t>
            </a:r>
            <a:r>
              <a:rPr lang="en-US" altLang="ko-KR" sz="1600" b="0" i="0" u="none" strike="noStrike" baseline="0" dirty="0">
                <a:solidFill>
                  <a:srgbClr val="0070C1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600" b="0" i="0" u="none" strike="noStrike" baseline="0" dirty="0" err="1">
                <a:solidFill>
                  <a:srgbClr val="0070C1"/>
                </a:solidFill>
                <a:latin typeface="Century Schoolbook" panose="02040604050505020304" pitchFamily="18" charset="0"/>
              </a:rPr>
              <a:t>L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.</a:t>
            </a:r>
            <a:r>
              <a:rPr lang="en-US" altLang="ko-KR" sz="1600" b="0" i="0" u="none" strike="noStrike" baseline="0" dirty="0" err="1">
                <a:solidFill>
                  <a:srgbClr val="795E26"/>
                </a:solidFill>
                <a:latin typeface="Century Schoolbook" panose="02040604050505020304" pitchFamily="18" charset="0"/>
              </a:rPr>
              <a:t>map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</a:t>
            </a:r>
            <a:r>
              <a:rPr lang="en-US" altLang="ko-KR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</a:rPr>
              <a:t>'map'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, </a:t>
            </a:r>
            <a:r>
              <a:rPr lang="en-US" altLang="ko-KR" sz="1600" b="0" i="0" u="none" strike="noStrike" baseline="0" dirty="0" err="1">
                <a:solidFill>
                  <a:srgbClr val="001080"/>
                </a:solidFill>
                <a:latin typeface="Century Schoolbook" panose="02040604050505020304" pitchFamily="18" charset="0"/>
              </a:rPr>
              <a:t>mapOptions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let</a:t>
            </a:r>
            <a:r>
              <a:rPr lang="en-US" altLang="ko-KR" sz="1600" b="0" i="0" u="none" strike="noStrike" baseline="0" dirty="0">
                <a:solidFill>
                  <a:srgbClr val="001080"/>
                </a:solidFill>
                <a:latin typeface="Century Schoolbook" panose="02040604050505020304" pitchFamily="18" charset="0"/>
              </a:rPr>
              <a:t> layer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=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new</a:t>
            </a:r>
            <a:r>
              <a:rPr lang="en-US" altLang="ko-KR" sz="1600" b="0" i="0" u="none" strike="noStrike" baseline="0" dirty="0">
                <a:solidFill>
                  <a:srgbClr val="0070C1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600" b="0" i="0" u="none" strike="noStrike" baseline="0" dirty="0" err="1">
                <a:solidFill>
                  <a:srgbClr val="0070C1"/>
                </a:solidFill>
                <a:latin typeface="Century Schoolbook" panose="02040604050505020304" pitchFamily="18" charset="0"/>
              </a:rPr>
              <a:t>L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.</a:t>
            </a:r>
            <a:r>
              <a:rPr lang="en-US" altLang="ko-KR" sz="1600" b="0" i="0" u="none" strike="noStrike" baseline="0" dirty="0" err="1">
                <a:solidFill>
                  <a:srgbClr val="795E26"/>
                </a:solidFill>
                <a:latin typeface="Century Schoolbook" panose="02040604050505020304" pitchFamily="18" charset="0"/>
              </a:rPr>
              <a:t>TileLayer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</a:t>
            </a:r>
            <a:r>
              <a:rPr lang="en-US" altLang="ko-KR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</a:rPr>
              <a:t>'http://{s}.tile.openstreetmap.org/{z}/{x}/{y}.</a:t>
            </a:r>
            <a:r>
              <a:rPr lang="en-US" altLang="ko-KR" sz="1600" b="0" i="0" u="none" strike="noStrike" baseline="0" dirty="0" err="1">
                <a:solidFill>
                  <a:srgbClr val="A31515"/>
                </a:solidFill>
                <a:latin typeface="Century Schoolbook" panose="02040604050505020304" pitchFamily="18" charset="0"/>
              </a:rPr>
              <a:t>png</a:t>
            </a:r>
            <a:r>
              <a:rPr lang="en-US" altLang="ko-KR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</a:rPr>
              <a:t>'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600" b="0" i="0" u="none" strike="noStrike" baseline="0" dirty="0" err="1">
                <a:solidFill>
                  <a:srgbClr val="001080"/>
                </a:solidFill>
                <a:latin typeface="Century Schoolbook" panose="02040604050505020304" pitchFamily="18" charset="0"/>
              </a:rPr>
              <a:t>map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.</a:t>
            </a:r>
            <a:r>
              <a:rPr lang="en-US" altLang="ko-KR" sz="1600" b="0" i="0" u="none" strike="noStrike" baseline="0" dirty="0" err="1">
                <a:solidFill>
                  <a:srgbClr val="795E26"/>
                </a:solidFill>
                <a:latin typeface="Century Schoolbook" panose="02040604050505020304" pitchFamily="18" charset="0"/>
              </a:rPr>
              <a:t>addLayer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</a:t>
            </a:r>
            <a:r>
              <a:rPr lang="en-US" altLang="ko-KR" sz="1600" b="0" i="0" u="none" strike="noStrike" baseline="0" dirty="0">
                <a:solidFill>
                  <a:srgbClr val="001080"/>
                </a:solidFill>
                <a:latin typeface="Century Schoolbook" panose="02040604050505020304" pitchFamily="18" charset="0"/>
              </a:rPr>
              <a:t>layer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let</a:t>
            </a:r>
            <a:r>
              <a:rPr lang="en-US" altLang="ko-KR" sz="1600" b="0" i="0" u="none" strike="noStrike" baseline="0" dirty="0">
                <a:solidFill>
                  <a:srgbClr val="001080"/>
                </a:solidFill>
                <a:latin typeface="Century Schoolbook" panose="02040604050505020304" pitchFamily="18" charset="0"/>
              </a:rPr>
              <a:t> marker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 =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</a:rPr>
              <a:t>new</a:t>
            </a:r>
            <a:r>
              <a:rPr lang="en-US" altLang="ko-KR" sz="1600" b="0" i="0" u="none" strike="noStrike" baseline="0" dirty="0">
                <a:solidFill>
                  <a:srgbClr val="0070C1"/>
                </a:solidFill>
                <a:latin typeface="Century Schoolbook" panose="02040604050505020304" pitchFamily="18" charset="0"/>
              </a:rPr>
              <a:t> </a:t>
            </a:r>
            <a:r>
              <a:rPr lang="en-US" altLang="ko-KR" sz="1600" b="0" i="0" u="none" strike="noStrike" baseline="0" dirty="0" err="1">
                <a:solidFill>
                  <a:srgbClr val="0070C1"/>
                </a:solidFill>
                <a:latin typeface="Century Schoolbook" panose="02040604050505020304" pitchFamily="18" charset="0"/>
              </a:rPr>
              <a:t>L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.</a:t>
            </a:r>
            <a:r>
              <a:rPr lang="en-US" altLang="ko-KR" sz="1600" b="0" i="0" u="none" strike="noStrike" baseline="0" dirty="0" err="1">
                <a:solidFill>
                  <a:srgbClr val="795E26"/>
                </a:solidFill>
                <a:latin typeface="Century Schoolbook" panose="02040604050505020304" pitchFamily="18" charset="0"/>
              </a:rPr>
              <a:t>Marker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([</a:t>
            </a:r>
            <a:r>
              <a:rPr lang="en-US" altLang="ko-KR" sz="16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37.562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, </a:t>
            </a:r>
            <a:r>
              <a:rPr lang="en-US" altLang="ko-KR" sz="1600" b="0" i="0" u="none" strike="noStrike" baseline="0" dirty="0">
                <a:solidFill>
                  <a:srgbClr val="098658"/>
                </a:solidFill>
                <a:latin typeface="Century Schoolbook" panose="02040604050505020304" pitchFamily="18" charset="0"/>
              </a:rPr>
              <a:t>126.9793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]);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    </a:t>
            </a:r>
            <a:r>
              <a:rPr lang="en-US" altLang="ko-KR" sz="1600" b="0" i="0" u="none" strike="noStrike" baseline="0" dirty="0" err="1">
                <a:solidFill>
                  <a:srgbClr val="001080"/>
                </a:solidFill>
                <a:latin typeface="Century Schoolbook" panose="02040604050505020304" pitchFamily="18" charset="0"/>
              </a:rPr>
              <a:t>marker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</a:rPr>
              <a:t>.</a:t>
            </a:r>
            <a:r>
              <a:rPr lang="en-US" altLang="ko-KR" sz="1600" b="0" i="0" u="none" strike="noStrike" baseline="0" dirty="0" err="1">
                <a:solidFill>
                  <a:srgbClr val="795E26"/>
                </a:solidFill>
                <a:latin typeface="Century Schoolbook" panose="02040604050505020304" pitchFamily="18" charset="0"/>
              </a:rPr>
              <a:t>addTo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(</a:t>
            </a:r>
            <a:r>
              <a:rPr lang="en-US" altLang="ko-KR" sz="1600" b="0" i="0" u="none" strike="noStrike" baseline="0" dirty="0">
                <a:solidFill>
                  <a:srgbClr val="001080"/>
                </a:solidFill>
                <a:latin typeface="Century Schoolbook" panose="02040604050505020304" pitchFamily="18" charset="0"/>
              </a:rPr>
              <a:t>map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);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</a:rPr>
              <a:t>    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&lt;/script&gt;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&lt;/body&gt;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</a:rPr>
              <a:t>&lt;/html&gt;</a:t>
            </a:r>
            <a:endParaRPr lang="en-US" altLang="ko-KR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F750A08-3713-9ED5-513B-FC81BF5403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25005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b="1" dirty="0"/>
              <a:t>가끔은 자바스크립트에서 시간이 많이 걸리는 작업들을 할 때가 있다</a:t>
            </a:r>
            <a:r>
              <a:rPr lang="en-US" altLang="ko-KR" b="1" dirty="0"/>
              <a:t>. </a:t>
            </a:r>
            <a:r>
              <a:rPr lang="ko-KR" altLang="en-US" b="1" dirty="0"/>
              <a:t>이런 작업들을 자바스크립트에서 한다면 웹 페이지는 자바 스크립트가 완료 될 때까지 응답 하지 않게 된다</a:t>
            </a:r>
            <a:r>
              <a:rPr lang="en-US" altLang="ko-KR" b="1" dirty="0"/>
              <a:t>. </a:t>
            </a:r>
          </a:p>
          <a:p>
            <a:r>
              <a:rPr lang="ko-KR" altLang="en-US" b="1" dirty="0"/>
              <a:t>웹 워커</a:t>
            </a:r>
            <a:r>
              <a:rPr lang="en-US" altLang="ko-KR" b="1" dirty="0"/>
              <a:t>(web worker): </a:t>
            </a:r>
            <a:r>
              <a:rPr lang="ko-KR" altLang="en-US" dirty="0"/>
              <a:t> </a:t>
            </a:r>
            <a:r>
              <a:rPr lang="ko-KR" altLang="en-US" dirty="0" err="1"/>
              <a:t>자바스크립트에</a:t>
            </a:r>
            <a:r>
              <a:rPr lang="ko-KR" altLang="en-US" dirty="0"/>
              <a:t> 백그라운드에서 실행되는 </a:t>
            </a:r>
            <a:r>
              <a:rPr lang="ko-KR" altLang="en-US" dirty="0" err="1"/>
              <a:t>스레드</a:t>
            </a:r>
            <a:r>
              <a:rPr lang="en-US" altLang="ko-KR" dirty="0"/>
              <a:t>(thread)</a:t>
            </a:r>
            <a:r>
              <a:rPr lang="ko-KR" altLang="en-US" dirty="0"/>
              <a:t>를 도입한 것</a:t>
            </a:r>
          </a:p>
          <a:p>
            <a:endParaRPr lang="ko-KR" altLang="en-US" dirty="0"/>
          </a:p>
        </p:txBody>
      </p:sp>
      <p:pic>
        <p:nvPicPr>
          <p:cNvPr id="24577" name="_x52718088" descr="EMB0000162044a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9743" y="3848100"/>
            <a:ext cx="1715993" cy="212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제목 4">
            <a:extLst>
              <a:ext uri="{FF2B5EF4-FFF2-40B4-BE49-F238E27FC236}">
                <a16:creationId xmlns:a16="http://schemas.microsoft.com/office/drawing/2014/main" id="{7881B508-1BE4-E89B-F28C-31D25FE40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HTML5 </a:t>
            </a:r>
            <a:r>
              <a:rPr lang="ko-KR" altLang="en-US" dirty="0"/>
              <a:t>웹 워커</a:t>
            </a:r>
          </a:p>
        </p:txBody>
      </p:sp>
    </p:spTree>
    <p:extLst>
      <p:ext uri="{BB962C8B-B14F-4D97-AF65-F5344CB8AC3E}">
        <p14:creationId xmlns:p14="http://schemas.microsoft.com/office/powerpoint/2010/main" val="22123432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/>
          <p:cNvSpPr txBox="1">
            <a:spLocks/>
          </p:cNvSpPr>
          <p:nvPr/>
        </p:nvSpPr>
        <p:spPr bwMode="auto">
          <a:xfrm>
            <a:off x="465931" y="1966745"/>
            <a:ext cx="8212138" cy="2371727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27000" indent="0" latinLnBrk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Font typeface="Symbol" pitchFamily="18" charset="2"/>
              <a:buNone/>
              <a:tabLst>
                <a:tab pos="254000" algn="l"/>
                <a:tab pos="254000" algn="l"/>
              </a:tabLst>
              <a:defRPr kumimoji="1" sz="1600">
                <a:solidFill>
                  <a:srgbClr val="000000"/>
                </a:solidFill>
                <a:latin typeface="Century Schoolbook" panose="02040604050505020304" pitchFamily="18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bg2"/>
              </a:buClr>
              <a:buFont typeface="Symbol" pitchFamily="18" charset="2"/>
              <a:buChar char="·"/>
              <a:defRPr kumimoji="1" sz="2000">
                <a:latin typeface="Century Schoolbook" panose="02040604050505020304" pitchFamily="18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>
                <a:latin typeface="Century Schoolbook" panose="02040604050505020304" pitchFamily="18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600">
                <a:latin typeface="Century Schoolbook" panose="02040604050505020304" pitchFamily="18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Century Schoolbook" panose="020406040505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9pPr>
          </a:lstStyle>
          <a:p>
            <a:pPr marR="0" algn="just" rtl="0"/>
            <a:r>
              <a:rPr lang="en-US" altLang="ko-KR" sz="1600" b="0" i="0" u="none" strike="noStrike" baseline="0" dirty="0">
                <a:solidFill>
                  <a:srgbClr val="008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// </a:t>
            </a:r>
            <a:r>
              <a:rPr lang="ko-KR" altLang="en-US" sz="1600" b="0" i="0" u="none" strike="noStrike" baseline="0" dirty="0">
                <a:solidFill>
                  <a:srgbClr val="008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소수를 찾는 자바스크립트 소스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let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n = 1;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search: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while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(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true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) {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n += 1;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for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(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let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i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= 2;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i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&lt;=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Math.sqrt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(n) ;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i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+= 1)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   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if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(n %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i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== 0)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       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continue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search;</a:t>
            </a:r>
          </a:p>
          <a:p>
            <a:pPr marR="0" algn="just" rtl="0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</a:t>
            </a:r>
            <a:r>
              <a:rPr lang="en-US" altLang="ko-KR" sz="1600" b="0" i="0" u="none" strike="noStrike" baseline="0" dirty="0">
                <a:solidFill>
                  <a:srgbClr val="008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// </a:t>
            </a:r>
            <a:r>
              <a:rPr lang="ko-KR" altLang="en-US" sz="1600" b="0" i="0" u="none" strike="noStrike" baseline="0" dirty="0">
                <a:solidFill>
                  <a:srgbClr val="008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소수를 발견할 때마다 바로 웹페이지로 전달한다</a:t>
            </a:r>
            <a:r>
              <a:rPr lang="en-US" altLang="ko-KR" sz="1600" b="0" i="0" u="none" strike="noStrike" baseline="0" dirty="0">
                <a:solidFill>
                  <a:srgbClr val="008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. 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postMessage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(n);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}</a:t>
            </a:r>
            <a:endParaRPr lang="en-US" altLang="ko-KR" dirty="0"/>
          </a:p>
        </p:txBody>
      </p:sp>
      <p:sp>
        <p:nvSpPr>
          <p:cNvPr id="3" name="TextBox 2"/>
          <p:cNvSpPr txBox="1"/>
          <p:nvPr/>
        </p:nvSpPr>
        <p:spPr>
          <a:xfrm>
            <a:off x="465931" y="1513129"/>
            <a:ext cx="10952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i="1" dirty="0" err="1">
                <a:solidFill>
                  <a:srgbClr val="FF0000"/>
                </a:solidFill>
              </a:rPr>
              <a:t>worker.js</a:t>
            </a:r>
            <a:endParaRPr lang="ko-KR" altLang="en-US" i="1" dirty="0">
              <a:solidFill>
                <a:srgbClr val="FF0000"/>
              </a:solidFill>
            </a:endParaRPr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1A8BFDFB-DBC9-6A48-F27B-5F099B0C8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소수 구하기 예제</a:t>
            </a:r>
          </a:p>
        </p:txBody>
      </p:sp>
    </p:spTree>
    <p:extLst>
      <p:ext uri="{BB962C8B-B14F-4D97-AF65-F5344CB8AC3E}">
        <p14:creationId xmlns:p14="http://schemas.microsoft.com/office/powerpoint/2010/main" val="1811952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/>
          <p:cNvSpPr txBox="1">
            <a:spLocks/>
          </p:cNvSpPr>
          <p:nvPr/>
        </p:nvSpPr>
        <p:spPr bwMode="auto">
          <a:xfrm>
            <a:off x="465931" y="1966745"/>
            <a:ext cx="8212138" cy="2371727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27000" indent="0" latinLnBrk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Font typeface="Symbol" pitchFamily="18" charset="2"/>
              <a:buNone/>
              <a:tabLst>
                <a:tab pos="254000" algn="l"/>
                <a:tab pos="254000" algn="l"/>
              </a:tabLst>
              <a:defRPr kumimoji="1" sz="1600">
                <a:solidFill>
                  <a:srgbClr val="000000"/>
                </a:solidFill>
                <a:latin typeface="Century Schoolbook" panose="02040604050505020304" pitchFamily="18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bg2"/>
              </a:buClr>
              <a:buFont typeface="Symbol" pitchFamily="18" charset="2"/>
              <a:buChar char="·"/>
              <a:defRPr kumimoji="1" sz="2000">
                <a:latin typeface="Century Schoolbook" panose="02040604050505020304" pitchFamily="18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>
                <a:latin typeface="Century Schoolbook" panose="02040604050505020304" pitchFamily="18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600">
                <a:latin typeface="Century Schoolbook" panose="02040604050505020304" pitchFamily="18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Century Schoolbook" panose="020406040505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9pPr>
          </a:lstStyle>
          <a:p>
            <a:pPr marR="0" algn="just" rtl="0"/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&lt;!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DOCTYPE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HTML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&lt;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html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&lt;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head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&lt;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title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&gt;</a:t>
            </a:r>
            <a:r>
              <a:rPr lang="ko-KR" altLang="en-US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웹워커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예제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&lt;/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title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&lt;/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head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&lt;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body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&lt;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button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onclick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="</a:t>
            </a:r>
            <a:r>
              <a:rPr lang="en-US" altLang="ko-KR" sz="1600" b="0" i="0" u="none" strike="noStrike" baseline="0" dirty="0" err="1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startWorker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()"&gt;</a:t>
            </a:r>
            <a:r>
              <a:rPr lang="ko-KR" altLang="en-US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웹워커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시작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&lt;/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button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&lt;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button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onclick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="</a:t>
            </a:r>
            <a:r>
              <a:rPr lang="en-US" altLang="ko-KR" sz="1600" b="0" i="0" u="none" strike="noStrike" baseline="0" dirty="0" err="1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stopWorker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()"&gt;</a:t>
            </a:r>
            <a:r>
              <a:rPr lang="ko-KR" altLang="en-US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웹워커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종료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&lt;/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button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&gt;</a:t>
            </a:r>
          </a:p>
          <a:p>
            <a:pPr marR="0" algn="just" rtl="0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&lt;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p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&gt;</a:t>
            </a:r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현재까지 발견된 가장 큰 소수는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   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&lt;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output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</a:t>
            </a:r>
            <a:r>
              <a:rPr lang="en-US" altLang="ko-KR" sz="1600" b="0" i="0" u="none" strike="noStrike" baseline="0" dirty="0">
                <a:solidFill>
                  <a:srgbClr val="FF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id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="result"&gt;&lt;/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output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&lt;/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p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&gt;</a:t>
            </a:r>
            <a:endParaRPr lang="en-US" altLang="ko-KR" dirty="0"/>
          </a:p>
        </p:txBody>
      </p:sp>
      <p:sp>
        <p:nvSpPr>
          <p:cNvPr id="3" name="TextBox 2"/>
          <p:cNvSpPr txBox="1"/>
          <p:nvPr/>
        </p:nvSpPr>
        <p:spPr>
          <a:xfrm>
            <a:off x="465931" y="1513129"/>
            <a:ext cx="1791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i="1" dirty="0">
                <a:solidFill>
                  <a:srgbClr val="FF0000"/>
                </a:solidFill>
              </a:rPr>
              <a:t>webworker.html</a:t>
            </a:r>
            <a:endParaRPr lang="ko-KR" altLang="en-US" i="1" dirty="0">
              <a:solidFill>
                <a:srgbClr val="FF0000"/>
              </a:solidFill>
            </a:endParaRPr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1A8BFDFB-DBC9-6A48-F27B-5F099B0C8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소수 구하기 예제</a:t>
            </a:r>
          </a:p>
        </p:txBody>
      </p:sp>
    </p:spTree>
    <p:extLst>
      <p:ext uri="{BB962C8B-B14F-4D97-AF65-F5344CB8AC3E}">
        <p14:creationId xmlns:p14="http://schemas.microsoft.com/office/powerpoint/2010/main" val="312063367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/>
          <p:cNvSpPr txBox="1">
            <a:spLocks/>
          </p:cNvSpPr>
          <p:nvPr/>
        </p:nvSpPr>
        <p:spPr bwMode="auto">
          <a:xfrm>
            <a:off x="465931" y="1756373"/>
            <a:ext cx="8212138" cy="4873028"/>
          </a:xfrm>
          <a:prstGeom prst="rect">
            <a:avLst/>
          </a:prstGeom>
          <a:solidFill>
            <a:srgbClr val="FFFFCC"/>
          </a:solidFill>
          <a:ln>
            <a:solidFill>
              <a:schemeClr val="tx1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127000" indent="0" latinLnBrk="0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>
                <a:schemeClr val="folHlink"/>
              </a:buClr>
              <a:buFont typeface="Symbol" pitchFamily="18" charset="2"/>
              <a:buNone/>
              <a:tabLst>
                <a:tab pos="254000" algn="l"/>
                <a:tab pos="254000" algn="l"/>
              </a:tabLst>
              <a:defRPr kumimoji="1" sz="1600">
                <a:solidFill>
                  <a:srgbClr val="000000"/>
                </a:solidFill>
                <a:latin typeface="Century Schoolbook" panose="02040604050505020304" pitchFamily="18" charset="0"/>
              </a:defRPr>
            </a:lvl1pPr>
            <a:lvl2pPr marL="742950" indent="-285750" latinLnBrk="1">
              <a:spcBef>
                <a:spcPct val="20000"/>
              </a:spcBef>
              <a:buClr>
                <a:schemeClr val="bg2"/>
              </a:buClr>
              <a:buFont typeface="Symbol" pitchFamily="18" charset="2"/>
              <a:buChar char="·"/>
              <a:defRPr kumimoji="1" sz="2000">
                <a:latin typeface="Century Schoolbook" panose="02040604050505020304" pitchFamily="18" charset="0"/>
              </a:defRPr>
            </a:lvl2pPr>
            <a:lvl3pPr marL="11430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>
                <a:latin typeface="Century Schoolbook" panose="02040604050505020304" pitchFamily="18" charset="0"/>
              </a:defRPr>
            </a:lvl3pPr>
            <a:lvl4pPr marL="16002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600">
                <a:latin typeface="Century Schoolbook" panose="02040604050505020304" pitchFamily="18" charset="0"/>
              </a:defRPr>
            </a:lvl4pPr>
            <a:lvl5pPr marL="2057400" indent="-228600" latinLnBrk="1">
              <a:spcBef>
                <a:spcPct val="20000"/>
              </a:spcBef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Century Schoolbook" panose="02040604050505020304" pitchFamily="18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Font typeface="Symbol" pitchFamily="18" charset="2"/>
              <a:buChar char="·"/>
              <a:defRPr kumimoji="1" sz="1400">
                <a:latin typeface="+mn-lt"/>
              </a:defRPr>
            </a:lvl9pPr>
          </a:lstStyle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&lt;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script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   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let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w;</a:t>
            </a:r>
          </a:p>
          <a:p>
            <a:pPr marR="0" algn="just" rtl="0"/>
            <a:endParaRPr lang="ko-KR" altLang="en-US" sz="1600" b="0" i="0" u="none" strike="noStrike" baseline="0" dirty="0">
              <a:solidFill>
                <a:srgbClr val="000000"/>
              </a:solidFill>
              <a:latin typeface="Century Schoolbook" panose="02040604050505020304" pitchFamily="18" charset="0"/>
              <a:ea typeface="굴림체" panose="020B0609000101010101" pitchFamily="49" charset="-127"/>
            </a:endParaRP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   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function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startWorker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() {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       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if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(</a:t>
            </a:r>
            <a:r>
              <a:rPr lang="en-US" altLang="ko-KR" sz="1600" b="0" i="0" u="none" strike="noStrike" baseline="0" dirty="0" err="1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typeof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(Worker) !== </a:t>
            </a:r>
            <a:r>
              <a:rPr lang="en-US" altLang="ko-KR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"undefined"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) {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           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if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(</a:t>
            </a:r>
            <a:r>
              <a:rPr lang="en-US" altLang="ko-KR" sz="1600" b="0" i="0" u="none" strike="noStrike" baseline="0" dirty="0" err="1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typeof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(w) == </a:t>
            </a:r>
            <a:r>
              <a:rPr lang="en-US" altLang="ko-KR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"undefined"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) {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                w =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new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Worker(</a:t>
            </a:r>
            <a:r>
              <a:rPr lang="en-US" altLang="ko-KR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"worker.js"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);</a:t>
            </a:r>
          </a:p>
          <a:p>
            <a:pPr marR="0" algn="just" rtl="0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           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}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           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w.onmessage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=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function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(event) {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               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document.getElementById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(</a:t>
            </a:r>
            <a:r>
              <a:rPr lang="en-US" altLang="ko-KR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"result"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).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innerHTML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=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event.data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;</a:t>
            </a:r>
          </a:p>
          <a:p>
            <a:pPr marR="0" algn="just" rtl="0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           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};</a:t>
            </a:r>
          </a:p>
          <a:p>
            <a:pPr marR="0" algn="just" rtl="0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       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}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       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else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{</a:t>
            </a:r>
          </a:p>
          <a:p>
            <a:pPr marR="0" algn="just" rtl="0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           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document.getElementById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(</a:t>
            </a:r>
            <a:r>
              <a:rPr lang="en-US" altLang="ko-KR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"result"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).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innerHTML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= </a:t>
            </a:r>
            <a:r>
              <a:rPr lang="en-US" altLang="ko-KR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"</a:t>
            </a:r>
            <a:r>
              <a:rPr lang="ko-KR" altLang="en-US" sz="1600" b="0" i="0" u="none" strike="noStrike" baseline="0" dirty="0" err="1">
                <a:solidFill>
                  <a:srgbClr val="A31515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웹브라우저가</a:t>
            </a:r>
            <a:r>
              <a:rPr lang="ko-KR" altLang="en-US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</a:t>
            </a:r>
            <a:r>
              <a:rPr lang="ko-KR" altLang="en-US" sz="1600" b="0" i="0" u="none" strike="noStrike" baseline="0" dirty="0" err="1">
                <a:solidFill>
                  <a:srgbClr val="A31515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웹워커를</a:t>
            </a:r>
            <a:r>
              <a:rPr lang="ko-KR" altLang="en-US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지원하지 않음</a:t>
            </a:r>
            <a:r>
              <a:rPr lang="en-US" altLang="ko-KR" sz="1600" b="0" i="0" u="none" strike="noStrike" baseline="0" dirty="0">
                <a:solidFill>
                  <a:srgbClr val="A31515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";</a:t>
            </a:r>
          </a:p>
          <a:p>
            <a:pPr marR="0" algn="just" rtl="0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       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}</a:t>
            </a:r>
          </a:p>
          <a:p>
            <a:pPr marR="0" algn="just" rtl="0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   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}</a:t>
            </a:r>
          </a:p>
          <a:p>
            <a:pPr marR="0" algn="just" rtl="0"/>
            <a:endParaRPr lang="ko-KR" altLang="en-US" sz="1600" b="0" i="0" u="none" strike="noStrike" baseline="0" dirty="0">
              <a:solidFill>
                <a:srgbClr val="000000"/>
              </a:solidFill>
              <a:latin typeface="Century Schoolbook" panose="02040604050505020304" pitchFamily="18" charset="0"/>
              <a:ea typeface="굴림체" panose="020B0609000101010101" pitchFamily="49" charset="-127"/>
            </a:endParaRP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   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function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stopWorker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() {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        </a:t>
            </a:r>
            <a:r>
              <a:rPr lang="en-US" altLang="ko-KR" sz="1600" b="0" i="0" u="none" strike="noStrike" baseline="0" dirty="0" err="1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w.terminate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();</a:t>
            </a:r>
          </a:p>
          <a:p>
            <a:pPr marR="0" algn="just" rtl="0"/>
            <a:r>
              <a:rPr lang="ko-KR" altLang="en-US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    </a:t>
            </a:r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}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    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&lt;/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script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&lt;/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body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&gt;</a:t>
            </a:r>
          </a:p>
          <a:p>
            <a:pPr marR="0" algn="just" rtl="0"/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&lt;/</a:t>
            </a:r>
            <a:r>
              <a:rPr lang="en-US" altLang="ko-KR" sz="1600" b="0" i="0" u="none" strike="noStrike" baseline="0" dirty="0">
                <a:solidFill>
                  <a:srgbClr val="800000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html</a:t>
            </a:r>
            <a:r>
              <a:rPr lang="en-US" altLang="ko-KR" sz="1600" b="0" i="0" u="none" strike="noStrike" baseline="0" dirty="0">
                <a:solidFill>
                  <a:srgbClr val="0000FF"/>
                </a:solidFill>
                <a:latin typeface="Century Schoolbook" panose="02040604050505020304" pitchFamily="18" charset="0"/>
                <a:ea typeface="굴림체" panose="020B0609000101010101" pitchFamily="49" charset="-127"/>
              </a:rPr>
              <a:t>&gt;</a:t>
            </a:r>
            <a:endParaRPr lang="en-US" altLang="ko-KR" dirty="0"/>
          </a:p>
        </p:txBody>
      </p:sp>
      <p:sp>
        <p:nvSpPr>
          <p:cNvPr id="3" name="TextBox 2"/>
          <p:cNvSpPr txBox="1"/>
          <p:nvPr/>
        </p:nvSpPr>
        <p:spPr>
          <a:xfrm>
            <a:off x="465931" y="1513129"/>
            <a:ext cx="17919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i="1" dirty="0">
                <a:solidFill>
                  <a:srgbClr val="FF0000"/>
                </a:solidFill>
              </a:rPr>
              <a:t>webworker.html</a:t>
            </a:r>
            <a:endParaRPr lang="ko-KR" altLang="en-US" i="1" dirty="0">
              <a:solidFill>
                <a:srgbClr val="FF0000"/>
              </a:solidFill>
            </a:endParaRPr>
          </a:p>
        </p:txBody>
      </p:sp>
      <p:sp>
        <p:nvSpPr>
          <p:cNvPr id="6" name="제목 5">
            <a:extLst>
              <a:ext uri="{FF2B5EF4-FFF2-40B4-BE49-F238E27FC236}">
                <a16:creationId xmlns:a16="http://schemas.microsoft.com/office/drawing/2014/main" id="{1A8BFDFB-DBC9-6A48-F27B-5F099B0C8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소수 구하기 예제</a:t>
            </a:r>
          </a:p>
        </p:txBody>
      </p:sp>
    </p:spTree>
    <p:extLst>
      <p:ext uri="{BB962C8B-B14F-4D97-AF65-F5344CB8AC3E}">
        <p14:creationId xmlns:p14="http://schemas.microsoft.com/office/powerpoint/2010/main" val="5529711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1B6590-C108-6D48-B3AF-0E417EDAE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소수 구하기 예제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F4DB4E7-8D21-19A4-47E8-83AEE8A1B7C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이번</a:t>
            </a:r>
            <a:r>
              <a:rPr lang="en-US" altLang="ko-KR" dirty="0"/>
              <a:t> </a:t>
            </a:r>
            <a:r>
              <a:rPr lang="ko-KR" altLang="en-US" dirty="0"/>
              <a:t>예제는 반드시 웹서버를 통하여 실행하여야 한다</a:t>
            </a:r>
            <a:r>
              <a:rPr lang="en-US" altLang="ko-KR" dirty="0"/>
              <a:t>. </a:t>
            </a:r>
            <a:r>
              <a:rPr lang="ko-KR" altLang="en-US" dirty="0"/>
              <a:t>즉 라이브 서버를 통하여 실행하여야 한다</a:t>
            </a:r>
            <a:r>
              <a:rPr lang="en-US" altLang="ko-KR" dirty="0"/>
              <a:t>. </a:t>
            </a:r>
            <a:r>
              <a:rPr lang="ko-KR" altLang="en-US" dirty="0"/>
              <a:t>단순히 더블 클릭만 하면 </a:t>
            </a:r>
            <a:r>
              <a:rPr lang="ko-KR" altLang="en-US" dirty="0" err="1"/>
              <a:t>웹워커가</a:t>
            </a:r>
            <a:r>
              <a:rPr lang="ko-KR" altLang="en-US" dirty="0"/>
              <a:t> 실행되지 않는다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95190F4-C4AD-8ABD-A743-6739FFB4FC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5121" name="_x391570248">
            <a:extLst>
              <a:ext uri="{FF2B5EF4-FFF2-40B4-BE49-F238E27FC236}">
                <a16:creationId xmlns:a16="http://schemas.microsoft.com/office/drawing/2014/main" id="{1E3DDFF3-A4E4-1C9D-9312-16C74469A3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5058" y="2811101"/>
            <a:ext cx="4626966" cy="2159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679902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F5488C-4B82-0DEB-924D-6388C53E8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웹워커의</a:t>
            </a:r>
            <a:r>
              <a:rPr lang="ko-KR" altLang="en-US" dirty="0"/>
              <a:t> 용도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F786D7-9516-623F-D94D-E540FBC74094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영상 처리</a:t>
            </a:r>
            <a:r>
              <a:rPr lang="en-US" altLang="ko-KR" dirty="0"/>
              <a:t>(image processing) - </a:t>
            </a:r>
            <a:r>
              <a:rPr lang="ko-KR" altLang="en-US" dirty="0"/>
              <a:t>캔버스나 비디오 요소에서 추출된 데이터를 사용하여서 어떤 영상 처리를 수행할 수 있다</a:t>
            </a:r>
            <a:r>
              <a:rPr lang="en-US" altLang="ko-KR" dirty="0"/>
              <a:t>. </a:t>
            </a:r>
            <a:r>
              <a:rPr lang="ko-KR" altLang="en-US" dirty="0"/>
              <a:t>이때는 이미지를 여러 개의 작은 조각으로 나누어서 각 조각들을 </a:t>
            </a:r>
            <a:r>
              <a:rPr lang="ko-KR" altLang="en-US" dirty="0" err="1"/>
              <a:t>웹워커에게</a:t>
            </a:r>
            <a:r>
              <a:rPr lang="ko-KR" altLang="en-US" dirty="0"/>
              <a:t> 줄 수도 있다</a:t>
            </a:r>
            <a:r>
              <a:rPr lang="en-US" altLang="ko-KR" dirty="0"/>
              <a:t>. </a:t>
            </a:r>
            <a:r>
              <a:rPr lang="ko-KR" altLang="en-US" dirty="0"/>
              <a:t>멀티</a:t>
            </a:r>
            <a:r>
              <a:rPr lang="en-US" altLang="ko-KR" dirty="0"/>
              <a:t>-</a:t>
            </a:r>
            <a:r>
              <a:rPr lang="ko-KR" altLang="en-US" dirty="0"/>
              <a:t>코어 </a:t>
            </a:r>
            <a:r>
              <a:rPr lang="en-US" altLang="ko-KR" dirty="0"/>
              <a:t>CPU</a:t>
            </a:r>
            <a:r>
              <a:rPr lang="ko-KR" altLang="en-US" dirty="0"/>
              <a:t>라면 물리적으로도 </a:t>
            </a:r>
            <a:r>
              <a:rPr lang="ko-KR" altLang="en-US" dirty="0" err="1"/>
              <a:t>웹워커들이</a:t>
            </a:r>
            <a:r>
              <a:rPr lang="ko-KR" altLang="en-US" dirty="0"/>
              <a:t> 동시에 수행될 수 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대용량 데이터 처리 </a:t>
            </a:r>
            <a:r>
              <a:rPr lang="en-US" altLang="ko-KR" dirty="0"/>
              <a:t>– </a:t>
            </a:r>
            <a:r>
              <a:rPr lang="en-US" altLang="ko-KR" dirty="0" err="1"/>
              <a:t>XMLHTTPRequest</a:t>
            </a:r>
            <a:r>
              <a:rPr lang="en-US" altLang="ko-KR" dirty="0"/>
              <a:t> </a:t>
            </a:r>
            <a:r>
              <a:rPr lang="ko-KR" altLang="en-US" dirty="0"/>
              <a:t>호출 후에 </a:t>
            </a:r>
            <a:r>
              <a:rPr lang="ko-KR" altLang="en-US" dirty="0" err="1"/>
              <a:t>파싱해야할</a:t>
            </a:r>
            <a:r>
              <a:rPr lang="ko-KR" altLang="en-US" dirty="0"/>
              <a:t> 대용량 데이터가 존재하는 경우에 사용할 수 있다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텍스트 분석 </a:t>
            </a:r>
            <a:r>
              <a:rPr lang="en-US" altLang="ko-KR" dirty="0"/>
              <a:t>– </a:t>
            </a:r>
            <a:r>
              <a:rPr lang="ko-KR" altLang="en-US" dirty="0"/>
              <a:t>사용자가 입력하는 즉시 텍스트를 사전에서 검색한다</a:t>
            </a:r>
            <a:r>
              <a:rPr lang="en-US" altLang="ko-KR" dirty="0"/>
              <a:t>. </a:t>
            </a:r>
            <a:r>
              <a:rPr lang="ko-KR" altLang="en-US" dirty="0"/>
              <a:t>자동적인 오류 수정 등이 가능하다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데이터베이스 요청 동시 수행 </a:t>
            </a:r>
            <a:r>
              <a:rPr lang="en-US" altLang="ko-KR" dirty="0"/>
              <a:t>– </a:t>
            </a:r>
            <a:r>
              <a:rPr lang="ko-KR" altLang="en-US" dirty="0"/>
              <a:t>로컬 데이터베이스에 대한 요청들을 동시에 수행한다</a:t>
            </a:r>
            <a:r>
              <a:rPr lang="en-US" altLang="ko-KR" dirty="0"/>
              <a:t>.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3523242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7D4FD2-6AE5-E9E0-9247-753451863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Mini</a:t>
            </a:r>
            <a:r>
              <a:rPr lang="ko-KR" altLang="en-US" dirty="0"/>
              <a:t> </a:t>
            </a:r>
            <a:r>
              <a:rPr lang="en-US" altLang="ko-KR" dirty="0"/>
              <a:t>Project:</a:t>
            </a:r>
            <a:r>
              <a:rPr lang="ko-KR" altLang="en-US" dirty="0"/>
              <a:t> 맞추기 게임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6D113C-9564-0BCB-90FD-06307F759FF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드래그와 드롭을 이용하여서 상단의 텍스트 박스와 하단의 이미지를 일치시키는 게임을 작성해보자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362F29F-7110-7AF4-D7E4-7630DC064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7169" name="_x391625544">
            <a:extLst>
              <a:ext uri="{FF2B5EF4-FFF2-40B4-BE49-F238E27FC236}">
                <a16:creationId xmlns:a16="http://schemas.microsoft.com/office/drawing/2014/main" id="{C4595202-825F-2095-7A8F-0849A17991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81886" y="2566657"/>
            <a:ext cx="4418090" cy="3325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284733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7D4FD2-6AE5-E9E0-9247-753451863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Mini</a:t>
            </a:r>
            <a:r>
              <a:rPr lang="ko-KR" altLang="en-US" dirty="0"/>
              <a:t> </a:t>
            </a:r>
            <a:r>
              <a:rPr lang="en-US" altLang="ko-KR" dirty="0"/>
              <a:t>Project:</a:t>
            </a:r>
            <a:r>
              <a:rPr lang="ko-KR" altLang="en-US" dirty="0"/>
              <a:t> 맞추기 게임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6D113C-9564-0BCB-90FD-06307F759FF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드래그와 드롭을 이용하여서 상단의 텍스트 박스와 하단의 이미지를 일치시키는 게임을 작성해보자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7362F29F-7110-7AF4-D7E4-7630DC064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40E6504-34AD-07C2-4D08-E23243D49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pic>
        <p:nvPicPr>
          <p:cNvPr id="8193" name="_x391626768">
            <a:extLst>
              <a:ext uri="{FF2B5EF4-FFF2-40B4-BE49-F238E27FC236}">
                <a16:creationId xmlns:a16="http://schemas.microsoft.com/office/drawing/2014/main" id="{FB45845F-16D3-0CF4-7FF8-1BAE3EF250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1349" y="2457136"/>
            <a:ext cx="4834551" cy="3638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900452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이번 장에서 배운 것</a:t>
            </a:r>
            <a:endParaRPr lang="ko-KR" altLang="en-US" dirty="0"/>
          </a:p>
        </p:txBody>
      </p:sp>
      <p:sp>
        <p:nvSpPr>
          <p:cNvPr id="5" name="직사각형 4"/>
          <p:cNvSpPr/>
          <p:nvPr/>
        </p:nvSpPr>
        <p:spPr>
          <a:xfrm>
            <a:off x="328218" y="1973654"/>
            <a:ext cx="8437830" cy="4655745"/>
          </a:xfrm>
          <a:prstGeom prst="rect">
            <a:avLst/>
          </a:prstGeom>
          <a:solidFill>
            <a:srgbClr val="008000"/>
          </a:solidFill>
          <a:ln w="762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9397" y="5361912"/>
            <a:ext cx="1542003" cy="1397440"/>
          </a:xfrm>
          <a:prstGeom prst="rect">
            <a:avLst/>
          </a:prstGeom>
        </p:spPr>
      </p:pic>
      <p:sp>
        <p:nvSpPr>
          <p:cNvPr id="2" name="내용 개체 틀 1"/>
          <p:cNvSpPr>
            <a:spLocks noGrp="1"/>
          </p:cNvSpPr>
          <p:nvPr>
            <p:ph sz="quarter" idx="1"/>
          </p:nvPr>
        </p:nvSpPr>
        <p:spPr>
          <a:xfrm>
            <a:off x="704597" y="2110755"/>
            <a:ext cx="7011427" cy="2636489"/>
          </a:xfrm>
        </p:spPr>
        <p:txBody>
          <a:bodyPr>
            <a:noAutofit/>
          </a:bodyPr>
          <a:lstStyle/>
          <a:p>
            <a:pPr lvl="0" fontAlgn="base"/>
            <a:r>
              <a:rPr lang="en-US" altLang="ko-KR" sz="1400" dirty="0">
                <a:solidFill>
                  <a:srgbClr val="FFFF00"/>
                </a:solidFill>
              </a:rPr>
              <a:t>SVG</a:t>
            </a:r>
            <a:r>
              <a:rPr lang="ko-KR" altLang="en-US" sz="1400" dirty="0">
                <a:solidFill>
                  <a:srgbClr val="FFFF00"/>
                </a:solidFill>
              </a:rPr>
              <a:t>을 이용하여서 벡터 그래픽을 화면에 그릴 수 있나요</a:t>
            </a:r>
            <a:r>
              <a:rPr lang="en-US" altLang="ko-KR" sz="1400" dirty="0">
                <a:solidFill>
                  <a:srgbClr val="FFFF00"/>
                </a:solidFill>
              </a:rPr>
              <a:t>?</a:t>
            </a:r>
          </a:p>
          <a:p>
            <a:pPr lvl="1" fontAlgn="base"/>
            <a:r>
              <a:rPr lang="en-US" altLang="ko-KR" sz="1400" dirty="0">
                <a:solidFill>
                  <a:schemeClr val="bg1"/>
                </a:solidFill>
              </a:rPr>
              <a:t>&lt;</a:t>
            </a:r>
            <a:r>
              <a:rPr lang="en-US" altLang="ko-KR" sz="1400" dirty="0" err="1">
                <a:solidFill>
                  <a:schemeClr val="bg1"/>
                </a:solidFill>
              </a:rPr>
              <a:t>svg</a:t>
            </a:r>
            <a:r>
              <a:rPr lang="en-US" altLang="ko-KR" sz="1400" dirty="0">
                <a:solidFill>
                  <a:schemeClr val="bg1"/>
                </a:solidFill>
              </a:rPr>
              <a:t>&gt; </a:t>
            </a:r>
            <a:r>
              <a:rPr lang="ko-KR" altLang="en-US" sz="1400" dirty="0">
                <a:solidFill>
                  <a:schemeClr val="bg1"/>
                </a:solidFill>
              </a:rPr>
              <a:t>요소를 생성하고 그 안에 </a:t>
            </a:r>
            <a:r>
              <a:rPr lang="en-US" altLang="ko-KR" sz="1400" dirty="0">
                <a:solidFill>
                  <a:schemeClr val="bg1"/>
                </a:solidFill>
              </a:rPr>
              <a:t>&lt;line&gt;</a:t>
            </a:r>
            <a:r>
              <a:rPr lang="ko-KR" altLang="en-US" sz="1400" dirty="0">
                <a:solidFill>
                  <a:schemeClr val="bg1"/>
                </a:solidFill>
              </a:rPr>
              <a:t>이나 </a:t>
            </a:r>
            <a:r>
              <a:rPr lang="en-US" altLang="ko-KR" sz="1400" dirty="0">
                <a:solidFill>
                  <a:schemeClr val="bg1"/>
                </a:solidFill>
              </a:rPr>
              <a:t>&lt;</a:t>
            </a:r>
            <a:r>
              <a:rPr lang="en-US" altLang="ko-KR" sz="1400" dirty="0" err="1">
                <a:solidFill>
                  <a:schemeClr val="bg1"/>
                </a:solidFill>
              </a:rPr>
              <a:t>rect</a:t>
            </a:r>
            <a:r>
              <a:rPr lang="en-US" altLang="ko-KR" sz="1400" dirty="0">
                <a:solidFill>
                  <a:schemeClr val="bg1"/>
                </a:solidFill>
              </a:rPr>
              <a:t>&gt;</a:t>
            </a:r>
            <a:r>
              <a:rPr lang="ko-KR" altLang="en-US" sz="1400" dirty="0">
                <a:solidFill>
                  <a:schemeClr val="bg1"/>
                </a:solidFill>
              </a:rPr>
              <a:t>와 같은 그래픽 요소들을 정의하면 된다</a:t>
            </a:r>
            <a:r>
              <a:rPr lang="en-US" altLang="ko-KR" sz="1400" dirty="0">
                <a:solidFill>
                  <a:schemeClr val="bg1"/>
                </a:solidFill>
              </a:rPr>
              <a:t>. </a:t>
            </a:r>
          </a:p>
          <a:p>
            <a:pPr lvl="0" fontAlgn="base"/>
            <a:r>
              <a:rPr lang="ko-KR" altLang="en-US" sz="1400" dirty="0">
                <a:solidFill>
                  <a:srgbClr val="FFFF00"/>
                </a:solidFill>
              </a:rPr>
              <a:t>드래그와 드롭을 사용하여 하나의 요소를 다른 요소 안으로 이동할 수 있나요</a:t>
            </a:r>
            <a:r>
              <a:rPr lang="en-US" altLang="ko-KR" sz="1400" dirty="0">
                <a:solidFill>
                  <a:srgbClr val="FFFF00"/>
                </a:solidFill>
              </a:rPr>
              <a:t>?</a:t>
            </a:r>
          </a:p>
          <a:p>
            <a:pPr lvl="1" fontAlgn="base"/>
            <a:r>
              <a:rPr lang="en-US" altLang="ko-KR" sz="1400" dirty="0">
                <a:solidFill>
                  <a:schemeClr val="bg1"/>
                </a:solidFill>
              </a:rPr>
              <a:t>&lt;</a:t>
            </a:r>
            <a:r>
              <a:rPr lang="en-US" altLang="ko-KR" sz="1400" dirty="0" err="1">
                <a:solidFill>
                  <a:schemeClr val="bg1"/>
                </a:solidFill>
              </a:rPr>
              <a:t>svg</a:t>
            </a:r>
            <a:r>
              <a:rPr lang="en-US" altLang="ko-KR" sz="1400" dirty="0">
                <a:solidFill>
                  <a:schemeClr val="bg1"/>
                </a:solidFill>
              </a:rPr>
              <a:t>&gt; </a:t>
            </a:r>
            <a:r>
              <a:rPr lang="ko-KR" altLang="en-US" sz="1400" dirty="0">
                <a:solidFill>
                  <a:schemeClr val="bg1"/>
                </a:solidFill>
              </a:rPr>
              <a:t>요소를 생성하고 그 안에 </a:t>
            </a:r>
            <a:r>
              <a:rPr lang="en-US" altLang="ko-KR" sz="1400" dirty="0">
                <a:solidFill>
                  <a:schemeClr val="bg1"/>
                </a:solidFill>
              </a:rPr>
              <a:t>&lt;line&gt;</a:t>
            </a:r>
            <a:r>
              <a:rPr lang="ko-KR" altLang="en-US" sz="1400" dirty="0">
                <a:solidFill>
                  <a:schemeClr val="bg1"/>
                </a:solidFill>
              </a:rPr>
              <a:t>이나 </a:t>
            </a:r>
            <a:r>
              <a:rPr lang="en-US" altLang="ko-KR" sz="1400" dirty="0">
                <a:solidFill>
                  <a:schemeClr val="bg1"/>
                </a:solidFill>
              </a:rPr>
              <a:t>&lt;</a:t>
            </a:r>
            <a:r>
              <a:rPr lang="en-US" altLang="ko-KR" sz="1400" dirty="0" err="1">
                <a:solidFill>
                  <a:schemeClr val="bg1"/>
                </a:solidFill>
              </a:rPr>
              <a:t>rect</a:t>
            </a:r>
            <a:r>
              <a:rPr lang="en-US" altLang="ko-KR" sz="1400" dirty="0">
                <a:solidFill>
                  <a:schemeClr val="bg1"/>
                </a:solidFill>
              </a:rPr>
              <a:t>&gt;</a:t>
            </a:r>
            <a:r>
              <a:rPr lang="ko-KR" altLang="en-US" sz="1400" dirty="0">
                <a:solidFill>
                  <a:schemeClr val="bg1"/>
                </a:solidFill>
              </a:rPr>
              <a:t>와 같은 그래픽 요소들을 정의하면 된다</a:t>
            </a:r>
            <a:r>
              <a:rPr lang="en-US" altLang="ko-KR" sz="1400" dirty="0">
                <a:solidFill>
                  <a:schemeClr val="bg1"/>
                </a:solidFill>
              </a:rPr>
              <a:t>. </a:t>
            </a:r>
          </a:p>
          <a:p>
            <a:pPr lvl="0" fontAlgn="base"/>
            <a:r>
              <a:rPr lang="ko-KR" altLang="en-US" sz="1400" dirty="0">
                <a:solidFill>
                  <a:srgbClr val="FFFF00"/>
                </a:solidFill>
              </a:rPr>
              <a:t>사용자의 위치정보를 받아서 위도와 경도를 표시할 수 있나요</a:t>
            </a:r>
            <a:r>
              <a:rPr lang="en-US" altLang="ko-KR" sz="1400" dirty="0">
                <a:solidFill>
                  <a:srgbClr val="FFFF00"/>
                </a:solidFill>
              </a:rPr>
              <a:t>?</a:t>
            </a:r>
          </a:p>
          <a:p>
            <a:pPr lvl="1" fontAlgn="base"/>
            <a:r>
              <a:rPr lang="en-US" altLang="ko-KR" sz="1400" dirty="0">
                <a:solidFill>
                  <a:schemeClr val="bg1"/>
                </a:solidFill>
              </a:rPr>
              <a:t>HTML Geolocation API</a:t>
            </a:r>
            <a:r>
              <a:rPr lang="ko-KR" altLang="en-US" sz="1400" dirty="0">
                <a:solidFill>
                  <a:schemeClr val="bg1"/>
                </a:solidFill>
              </a:rPr>
              <a:t>는 사용자의 지리적 위치를 얻는 데 사용된다</a:t>
            </a:r>
            <a:r>
              <a:rPr lang="en-US" altLang="ko-KR" sz="1400" dirty="0">
                <a:solidFill>
                  <a:schemeClr val="bg1"/>
                </a:solidFill>
              </a:rPr>
              <a:t>. </a:t>
            </a:r>
            <a:r>
              <a:rPr lang="en-US" altLang="ko-KR" sz="1400" dirty="0" err="1">
                <a:solidFill>
                  <a:schemeClr val="bg1"/>
                </a:solidFill>
              </a:rPr>
              <a:t>getCurrentPosition</a:t>
            </a:r>
            <a:r>
              <a:rPr lang="en-US" altLang="ko-KR" sz="1400" dirty="0">
                <a:solidFill>
                  <a:schemeClr val="bg1"/>
                </a:solidFill>
              </a:rPr>
              <a:t>() </a:t>
            </a:r>
            <a:r>
              <a:rPr lang="ko-KR" altLang="en-US" sz="1400" dirty="0">
                <a:solidFill>
                  <a:schemeClr val="bg1"/>
                </a:solidFill>
              </a:rPr>
              <a:t>메소드는 사용자의 위치를 ​​얻는데 사용된다</a:t>
            </a:r>
            <a:r>
              <a:rPr lang="en-US" altLang="ko-KR" sz="1400" dirty="0">
                <a:solidFill>
                  <a:schemeClr val="bg1"/>
                </a:solidFill>
              </a:rPr>
              <a:t>. </a:t>
            </a:r>
          </a:p>
          <a:p>
            <a:pPr lvl="0" fontAlgn="base"/>
            <a:r>
              <a:rPr lang="ko-KR" altLang="en-US" sz="1400" dirty="0" err="1">
                <a:solidFill>
                  <a:srgbClr val="FFFF00"/>
                </a:solidFill>
              </a:rPr>
              <a:t>웹워커를</a:t>
            </a:r>
            <a:r>
              <a:rPr lang="ko-KR" altLang="en-US" sz="1400" dirty="0">
                <a:solidFill>
                  <a:srgbClr val="FFFF00"/>
                </a:solidFill>
              </a:rPr>
              <a:t> 사용하여 시간이 많이 걸리는 작업을 처리할 수 있나요</a:t>
            </a:r>
            <a:r>
              <a:rPr lang="en-US" altLang="ko-KR" sz="1400" dirty="0">
                <a:solidFill>
                  <a:srgbClr val="FFFF00"/>
                </a:solidFill>
              </a:rPr>
              <a:t>?</a:t>
            </a:r>
          </a:p>
          <a:p>
            <a:pPr lvl="1" fontAlgn="base"/>
            <a:r>
              <a:rPr lang="ko-KR" altLang="en-US" sz="1400" dirty="0" err="1">
                <a:solidFill>
                  <a:schemeClr val="bg1"/>
                </a:solidFill>
              </a:rPr>
              <a:t>웹워커는</a:t>
            </a:r>
            <a:r>
              <a:rPr lang="ko-KR" altLang="en-US" sz="1400" dirty="0">
                <a:solidFill>
                  <a:schemeClr val="bg1"/>
                </a:solidFill>
              </a:rPr>
              <a:t> 페이지 성능에 영향을 주지 않고 백그라운드에서 실행되는 자바스크립트를 의미한다</a:t>
            </a:r>
            <a:r>
              <a:rPr lang="en-US" altLang="ko-KR" sz="1400" dirty="0">
                <a:solidFill>
                  <a:schemeClr val="bg1"/>
                </a:solidFill>
              </a:rPr>
              <a:t>. Worker </a:t>
            </a:r>
            <a:r>
              <a:rPr lang="ko-KR" altLang="en-US" sz="1400" dirty="0">
                <a:solidFill>
                  <a:schemeClr val="bg1"/>
                </a:solidFill>
              </a:rPr>
              <a:t>객체를 생성한 후에 별도의 작업이 저장된 자바스크립트 소스 파일 이름을 </a:t>
            </a:r>
            <a:r>
              <a:rPr lang="ko-KR" altLang="en-US" sz="1400" dirty="0" err="1">
                <a:solidFill>
                  <a:schemeClr val="bg1"/>
                </a:solidFill>
              </a:rPr>
              <a:t>건네주면</a:t>
            </a:r>
            <a:r>
              <a:rPr lang="ko-KR" altLang="en-US" sz="1400" dirty="0">
                <a:solidFill>
                  <a:schemeClr val="bg1"/>
                </a:solidFill>
              </a:rPr>
              <a:t> 된다</a:t>
            </a:r>
            <a:r>
              <a:rPr lang="en-US" altLang="ko-KR" sz="1400" dirty="0">
                <a:solidFill>
                  <a:schemeClr val="bg1"/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43659983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730" name="Rectangle 2"/>
          <p:cNvSpPr>
            <a:spLocks noGrp="1" noChangeArrowheads="1"/>
          </p:cNvSpPr>
          <p:nvPr>
            <p:ph type="title"/>
          </p:nvPr>
        </p:nvSpPr>
        <p:spPr>
          <a:xfrm>
            <a:off x="1260475" y="371475"/>
            <a:ext cx="7623175" cy="571500"/>
          </a:xfrm>
        </p:spPr>
        <p:txBody>
          <a:bodyPr>
            <a:normAutofit fontScale="90000"/>
          </a:bodyPr>
          <a:lstStyle/>
          <a:p>
            <a:r>
              <a:rPr lang="en-US" altLang="ko-KR" sz="3600"/>
              <a:t>Q &amp; A</a:t>
            </a:r>
          </a:p>
        </p:txBody>
      </p:sp>
      <p:pic>
        <p:nvPicPr>
          <p:cNvPr id="457731" name="Picture 3" descr="MCj02406990000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4688" y="1978025"/>
            <a:ext cx="2797175" cy="2024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7732" name="Picture 4" descr="MCj04165020000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9913" y="2103438"/>
            <a:ext cx="1706562" cy="1631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가을">
  <a:themeElements>
    <a:clrScheme name="가을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가을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가을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3305</TotalTime>
  <Words>3416</Words>
  <Application>Microsoft Office PowerPoint</Application>
  <PresentationFormat>화면 슬라이드 쇼(4:3)</PresentationFormat>
  <Paragraphs>457</Paragraphs>
  <Slides>50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50</vt:i4>
      </vt:variant>
    </vt:vector>
  </HeadingPairs>
  <TitlesOfParts>
    <vt:vector size="57" baseType="lpstr">
      <vt:lpstr>굴림</vt:lpstr>
      <vt:lpstr>굴림체</vt:lpstr>
      <vt:lpstr>Arial</vt:lpstr>
      <vt:lpstr>Century Schoolbook</vt:lpstr>
      <vt:lpstr>Tw Cen MT</vt:lpstr>
      <vt:lpstr>Wingdings</vt:lpstr>
      <vt:lpstr>가을</vt:lpstr>
      <vt:lpstr>제14장 HTML5 위치정보와  드래그와 드롭</vt:lpstr>
      <vt:lpstr>SVG</vt:lpstr>
      <vt:lpstr>SVG의 장점</vt:lpstr>
      <vt:lpstr>원 예제</vt:lpstr>
      <vt:lpstr>사각형 예제</vt:lpstr>
      <vt:lpstr>타원 예제</vt:lpstr>
      <vt:lpstr>직선 예제</vt:lpstr>
      <vt:lpstr>다각형 예제</vt:lpstr>
      <vt:lpstr>텍스트 예제</vt:lpstr>
      <vt:lpstr>SVG 애니메이션</vt:lpstr>
      <vt:lpstr>애니메이션 #1</vt:lpstr>
      <vt:lpstr>애니메이션 #2</vt:lpstr>
      <vt:lpstr>viewBox 속성</vt:lpstr>
      <vt:lpstr>실행 결과</vt:lpstr>
      <vt:lpstr>SVG와 캔버스 그래픽의 차이점</vt:lpstr>
      <vt:lpstr>Lab: 아날로그 시계 만들기</vt:lpstr>
      <vt:lpstr>Sol.</vt:lpstr>
      <vt:lpstr>Sol.</vt:lpstr>
      <vt:lpstr>드래그와 드롭</vt:lpstr>
      <vt:lpstr>발생하는 이벤트</vt:lpstr>
      <vt:lpstr>이벤트 </vt:lpstr>
      <vt:lpstr>예제: </vt:lpstr>
      <vt:lpstr>예제</vt:lpstr>
      <vt:lpstr>예제</vt:lpstr>
      <vt:lpstr>Lab: 드래그 게임 만들기</vt:lpstr>
      <vt:lpstr>Sol.</vt:lpstr>
      <vt:lpstr>Sol.</vt:lpstr>
      <vt:lpstr>Sol.</vt:lpstr>
      <vt:lpstr>Sol.</vt:lpstr>
      <vt:lpstr>HTML5 위치정보</vt:lpstr>
      <vt:lpstr>geolocation 객체</vt:lpstr>
      <vt:lpstr>getCurrentPosition() 메소드</vt:lpstr>
      <vt:lpstr>postion 인수</vt:lpstr>
      <vt:lpstr>예제</vt:lpstr>
      <vt:lpstr>이동하면서 위치 정보를 얻는 방법</vt:lpstr>
      <vt:lpstr>예제</vt:lpstr>
      <vt:lpstr>Open Street Map 지도 이용하기</vt:lpstr>
      <vt:lpstr>예제</vt:lpstr>
      <vt:lpstr>Open Street Map 지도 이용하기</vt:lpstr>
      <vt:lpstr>예제</vt:lpstr>
      <vt:lpstr>HTML5 웹 워커</vt:lpstr>
      <vt:lpstr>소수 구하기 예제</vt:lpstr>
      <vt:lpstr>소수 구하기 예제</vt:lpstr>
      <vt:lpstr>소수 구하기 예제</vt:lpstr>
      <vt:lpstr>소수 구하기 예제</vt:lpstr>
      <vt:lpstr>웹워커의 용도</vt:lpstr>
      <vt:lpstr>Mini Project: 맞추기 게임</vt:lpstr>
      <vt:lpstr>Mini Project: 맞추기 게임</vt:lpstr>
      <vt:lpstr>이번 장에서 배운 것</vt:lpstr>
      <vt:lpstr>Q &amp; 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쉽게 풀어쓴 C 프로그래밍</dc:title>
  <dc:creator>천인국</dc:creator>
  <cp:lastModifiedBy>현정 김</cp:lastModifiedBy>
  <cp:revision>635</cp:revision>
  <dcterms:created xsi:type="dcterms:W3CDTF">2007-06-29T06:43:39Z</dcterms:created>
  <dcterms:modified xsi:type="dcterms:W3CDTF">2026-07-21T12:43:07Z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TC010187211033</vt:lpwstr>
  </property>
</Properties>
</file>